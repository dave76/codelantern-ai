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4.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6"/>
  </p:notesMasterIdLst>
  <p:sldIdLst>
    <p:sldId id="256" r:id="rId2"/>
    <p:sldId id="286" r:id="rId3"/>
    <p:sldId id="287" r:id="rId4"/>
    <p:sldId id="280" r:id="rId5"/>
    <p:sldId id="261" r:id="rId6"/>
    <p:sldId id="263" r:id="rId7"/>
    <p:sldId id="278" r:id="rId8"/>
    <p:sldId id="282" r:id="rId9"/>
    <p:sldId id="272" r:id="rId10"/>
    <p:sldId id="279" r:id="rId11"/>
    <p:sldId id="281" r:id="rId12"/>
    <p:sldId id="270" r:id="rId13"/>
    <p:sldId id="267" r:id="rId14"/>
    <p:sldId id="269" r:id="rId15"/>
    <p:sldId id="268" r:id="rId16"/>
    <p:sldId id="284" r:id="rId17"/>
    <p:sldId id="277" r:id="rId18"/>
    <p:sldId id="275" r:id="rId19"/>
    <p:sldId id="271" r:id="rId20"/>
    <p:sldId id="285" r:id="rId21"/>
    <p:sldId id="262" r:id="rId22"/>
    <p:sldId id="260" r:id="rId23"/>
    <p:sldId id="265" r:id="rId24"/>
    <p:sldId id="266" r:id="rId25"/>
  </p:sldIdLst>
  <p:sldSz cx="12192000" cy="6858000"/>
  <p:notesSz cx="7004050" cy="929005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0146" autoAdjust="0"/>
    <p:restoredTop sz="97101" autoAdjust="0"/>
  </p:normalViewPr>
  <p:slideViewPr>
    <p:cSldViewPr snapToGrid="0">
      <p:cViewPr varScale="1">
        <p:scale>
          <a:sx n="151" d="100"/>
          <a:sy n="151" d="100"/>
        </p:scale>
        <p:origin x="124" y="31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41F360EE-CBAE-4CA6-BD2D-E310DF152066}" type="doc">
      <dgm:prSet loTypeId="urn:microsoft.com/office/officeart/2005/8/layout/vList2" loCatId="list" qsTypeId="urn:microsoft.com/office/officeart/2005/8/quickstyle/simple1" qsCatId="simple" csTypeId="urn:microsoft.com/office/officeart/2005/8/colors/colorful2" csCatId="colorful"/>
      <dgm:spPr/>
      <dgm:t>
        <a:bodyPr/>
        <a:lstStyle/>
        <a:p>
          <a:endParaRPr lang="en-US"/>
        </a:p>
      </dgm:t>
    </dgm:pt>
    <dgm:pt modelId="{8BE84391-5A6A-4461-B3F7-673618121BF7}">
      <dgm:prSet/>
      <dgm:spPr/>
      <dgm:t>
        <a:bodyPr/>
        <a:lstStyle/>
        <a:p>
          <a:r>
            <a:rPr lang="en-CA"/>
            <a:t>This is the real work horse of the system and “pumps” out the code and tests.</a:t>
          </a:r>
          <a:endParaRPr lang="en-US"/>
        </a:p>
      </dgm:t>
    </dgm:pt>
    <dgm:pt modelId="{141A377C-04A5-421C-A718-E0FA9E10FC87}" type="parTrans" cxnId="{A106B822-C923-44F1-A2AB-374CBF7E514E}">
      <dgm:prSet/>
      <dgm:spPr/>
      <dgm:t>
        <a:bodyPr/>
        <a:lstStyle/>
        <a:p>
          <a:endParaRPr lang="en-US"/>
        </a:p>
      </dgm:t>
    </dgm:pt>
    <dgm:pt modelId="{D86F5EC5-94FA-424B-9539-44C2DE833F97}" type="sibTrans" cxnId="{A106B822-C923-44F1-A2AB-374CBF7E514E}">
      <dgm:prSet/>
      <dgm:spPr/>
      <dgm:t>
        <a:bodyPr/>
        <a:lstStyle/>
        <a:p>
          <a:endParaRPr lang="en-US"/>
        </a:p>
      </dgm:t>
    </dgm:pt>
    <dgm:pt modelId="{616C4196-ED0A-46E2-B503-31DE7CB054E7}">
      <dgm:prSet/>
      <dgm:spPr/>
      <dgm:t>
        <a:bodyPr/>
        <a:lstStyle/>
        <a:p>
          <a:r>
            <a:rPr lang="en-CA"/>
            <a:t>The [coder] agent is given instructions to:</a:t>
          </a:r>
          <a:endParaRPr lang="en-US"/>
        </a:p>
      </dgm:t>
    </dgm:pt>
    <dgm:pt modelId="{CE89B87A-4D3F-4380-A6B7-BA25C344E2D9}" type="parTrans" cxnId="{B2B71749-DF3E-406C-BB21-157186772ECA}">
      <dgm:prSet/>
      <dgm:spPr/>
      <dgm:t>
        <a:bodyPr/>
        <a:lstStyle/>
        <a:p>
          <a:endParaRPr lang="en-US"/>
        </a:p>
      </dgm:t>
    </dgm:pt>
    <dgm:pt modelId="{FE6AF077-D5F1-4706-BE4A-693E30699BE9}" type="sibTrans" cxnId="{B2B71749-DF3E-406C-BB21-157186772ECA}">
      <dgm:prSet/>
      <dgm:spPr/>
      <dgm:t>
        <a:bodyPr/>
        <a:lstStyle/>
        <a:p>
          <a:endParaRPr lang="en-US"/>
        </a:p>
      </dgm:t>
    </dgm:pt>
    <dgm:pt modelId="{9430C936-546D-488F-B6F4-E3E8C231E612}">
      <dgm:prSet/>
      <dgm:spPr/>
      <dgm:t>
        <a:bodyPr/>
        <a:lstStyle/>
        <a:p>
          <a:r>
            <a:rPr lang="en-CA"/>
            <a:t>Be concise and efficient with coding changes and to minimize refactoring (unless explicitly instructed to do so).</a:t>
          </a:r>
          <a:endParaRPr lang="en-US"/>
        </a:p>
      </dgm:t>
    </dgm:pt>
    <dgm:pt modelId="{24213860-9391-4D2F-8230-B84DC83EEC45}" type="parTrans" cxnId="{9E98F843-3D88-4A85-A1BE-DB78F8AA148F}">
      <dgm:prSet/>
      <dgm:spPr/>
      <dgm:t>
        <a:bodyPr/>
        <a:lstStyle/>
        <a:p>
          <a:endParaRPr lang="en-US"/>
        </a:p>
      </dgm:t>
    </dgm:pt>
    <dgm:pt modelId="{C2B3E1BE-815C-42D4-B31A-5D781FED9985}" type="sibTrans" cxnId="{9E98F843-3D88-4A85-A1BE-DB78F8AA148F}">
      <dgm:prSet/>
      <dgm:spPr/>
      <dgm:t>
        <a:bodyPr/>
        <a:lstStyle/>
        <a:p>
          <a:endParaRPr lang="en-US"/>
        </a:p>
      </dgm:t>
    </dgm:pt>
    <dgm:pt modelId="{650D12D7-8F29-4A2A-8915-A6253FE09C29}">
      <dgm:prSet/>
      <dgm:spPr/>
      <dgm:t>
        <a:bodyPr/>
        <a:lstStyle/>
        <a:p>
          <a:r>
            <a:rPr lang="en-CA"/>
            <a:t>Read and understand existing design patterns and architecture decisions. </a:t>
          </a:r>
          <a:endParaRPr lang="en-US"/>
        </a:p>
      </dgm:t>
    </dgm:pt>
    <dgm:pt modelId="{A496D8E7-0173-44DD-BF06-F9AC4422E184}" type="parTrans" cxnId="{9AA34111-8CF0-4C3C-A7B9-46C6360C609B}">
      <dgm:prSet/>
      <dgm:spPr/>
      <dgm:t>
        <a:bodyPr/>
        <a:lstStyle/>
        <a:p>
          <a:endParaRPr lang="en-US"/>
        </a:p>
      </dgm:t>
    </dgm:pt>
    <dgm:pt modelId="{3571FB1E-BAA7-45C5-8E83-EB226E9434D5}" type="sibTrans" cxnId="{9AA34111-8CF0-4C3C-A7B9-46C6360C609B}">
      <dgm:prSet/>
      <dgm:spPr/>
      <dgm:t>
        <a:bodyPr/>
        <a:lstStyle/>
        <a:p>
          <a:endParaRPr lang="en-US"/>
        </a:p>
      </dgm:t>
    </dgm:pt>
    <dgm:pt modelId="{5A845887-FE6C-4F9A-A1D6-9F9CD621E16A}">
      <dgm:prSet/>
      <dgm:spPr/>
      <dgm:t>
        <a:bodyPr/>
        <a:lstStyle/>
        <a:p>
          <a:r>
            <a:rPr lang="en-CA"/>
            <a:t>Write appropriate unit tests.</a:t>
          </a:r>
          <a:endParaRPr lang="en-US"/>
        </a:p>
      </dgm:t>
    </dgm:pt>
    <dgm:pt modelId="{DBB77A33-15AE-4073-8C8D-71F1E9D3FF88}" type="parTrans" cxnId="{5E8FF0E9-DBAA-4D20-9588-D30331309BAB}">
      <dgm:prSet/>
      <dgm:spPr/>
      <dgm:t>
        <a:bodyPr/>
        <a:lstStyle/>
        <a:p>
          <a:endParaRPr lang="en-US"/>
        </a:p>
      </dgm:t>
    </dgm:pt>
    <dgm:pt modelId="{07894B09-C46B-4965-BB12-100F246FE9A0}" type="sibTrans" cxnId="{5E8FF0E9-DBAA-4D20-9588-D30331309BAB}">
      <dgm:prSet/>
      <dgm:spPr/>
      <dgm:t>
        <a:bodyPr/>
        <a:lstStyle/>
        <a:p>
          <a:endParaRPr lang="en-US"/>
        </a:p>
      </dgm:t>
    </dgm:pt>
    <dgm:pt modelId="{881CDE3B-B35A-4844-840E-77D8AB4A04D4}">
      <dgm:prSet/>
      <dgm:spPr/>
      <dgm:t>
        <a:bodyPr/>
        <a:lstStyle/>
        <a:p>
          <a:r>
            <a:rPr lang="en-CA"/>
            <a:t>Write well documented pull requests with screenshots where it makes sense.</a:t>
          </a:r>
          <a:endParaRPr lang="en-US"/>
        </a:p>
      </dgm:t>
    </dgm:pt>
    <dgm:pt modelId="{F278C370-C502-4E9D-B2C5-1E677E4DD675}" type="parTrans" cxnId="{6F3BF792-C62F-4AFB-9923-E13F31654D30}">
      <dgm:prSet/>
      <dgm:spPr/>
      <dgm:t>
        <a:bodyPr/>
        <a:lstStyle/>
        <a:p>
          <a:endParaRPr lang="en-US"/>
        </a:p>
      </dgm:t>
    </dgm:pt>
    <dgm:pt modelId="{34AB98C2-7CB9-4C93-B99E-B505C6CA9065}" type="sibTrans" cxnId="{6F3BF792-C62F-4AFB-9923-E13F31654D30}">
      <dgm:prSet/>
      <dgm:spPr/>
      <dgm:t>
        <a:bodyPr/>
        <a:lstStyle/>
        <a:p>
          <a:endParaRPr lang="en-US"/>
        </a:p>
      </dgm:t>
    </dgm:pt>
    <dgm:pt modelId="{C4BCC771-15D6-4FD7-9DF1-1C4A2A439AF3}" type="pres">
      <dgm:prSet presAssocID="{41F360EE-CBAE-4CA6-BD2D-E310DF152066}" presName="linear" presStyleCnt="0">
        <dgm:presLayoutVars>
          <dgm:animLvl val="lvl"/>
          <dgm:resizeHandles val="exact"/>
        </dgm:presLayoutVars>
      </dgm:prSet>
      <dgm:spPr/>
    </dgm:pt>
    <dgm:pt modelId="{6662613F-A14B-4C48-8399-C26E9D0FAD8E}" type="pres">
      <dgm:prSet presAssocID="{8BE84391-5A6A-4461-B3F7-673618121BF7}" presName="parentText" presStyleLbl="node1" presStyleIdx="0" presStyleCnt="2">
        <dgm:presLayoutVars>
          <dgm:chMax val="0"/>
          <dgm:bulletEnabled val="1"/>
        </dgm:presLayoutVars>
      </dgm:prSet>
      <dgm:spPr/>
    </dgm:pt>
    <dgm:pt modelId="{6DD2E207-D499-400B-9F5C-6C27D2DD001C}" type="pres">
      <dgm:prSet presAssocID="{D86F5EC5-94FA-424B-9539-44C2DE833F97}" presName="spacer" presStyleCnt="0"/>
      <dgm:spPr/>
    </dgm:pt>
    <dgm:pt modelId="{B969FE15-8D0A-4758-9820-171A2E4755F7}" type="pres">
      <dgm:prSet presAssocID="{616C4196-ED0A-46E2-B503-31DE7CB054E7}" presName="parentText" presStyleLbl="node1" presStyleIdx="1" presStyleCnt="2">
        <dgm:presLayoutVars>
          <dgm:chMax val="0"/>
          <dgm:bulletEnabled val="1"/>
        </dgm:presLayoutVars>
      </dgm:prSet>
      <dgm:spPr/>
    </dgm:pt>
    <dgm:pt modelId="{8C077975-D15D-48B1-8FBB-686C449DF6CD}" type="pres">
      <dgm:prSet presAssocID="{616C4196-ED0A-46E2-B503-31DE7CB054E7}" presName="childText" presStyleLbl="revTx" presStyleIdx="0" presStyleCnt="1">
        <dgm:presLayoutVars>
          <dgm:bulletEnabled val="1"/>
        </dgm:presLayoutVars>
      </dgm:prSet>
      <dgm:spPr/>
    </dgm:pt>
  </dgm:ptLst>
  <dgm:cxnLst>
    <dgm:cxn modelId="{BA27FB0D-986A-4E08-B939-9DB91BAEC836}" type="presOf" srcId="{8BE84391-5A6A-4461-B3F7-673618121BF7}" destId="{6662613F-A14B-4C48-8399-C26E9D0FAD8E}" srcOrd="0" destOrd="0" presId="urn:microsoft.com/office/officeart/2005/8/layout/vList2"/>
    <dgm:cxn modelId="{9AA34111-8CF0-4C3C-A7B9-46C6360C609B}" srcId="{616C4196-ED0A-46E2-B503-31DE7CB054E7}" destId="{650D12D7-8F29-4A2A-8915-A6253FE09C29}" srcOrd="1" destOrd="0" parTransId="{A496D8E7-0173-44DD-BF06-F9AC4422E184}" sibTransId="{3571FB1E-BAA7-45C5-8E83-EB226E9434D5}"/>
    <dgm:cxn modelId="{A106B822-C923-44F1-A2AB-374CBF7E514E}" srcId="{41F360EE-CBAE-4CA6-BD2D-E310DF152066}" destId="{8BE84391-5A6A-4461-B3F7-673618121BF7}" srcOrd="0" destOrd="0" parTransId="{141A377C-04A5-421C-A718-E0FA9E10FC87}" sibTransId="{D86F5EC5-94FA-424B-9539-44C2DE833F97}"/>
    <dgm:cxn modelId="{E4744723-A94B-461F-AA72-DE7A997FCAD7}" type="presOf" srcId="{41F360EE-CBAE-4CA6-BD2D-E310DF152066}" destId="{C4BCC771-15D6-4FD7-9DF1-1C4A2A439AF3}" srcOrd="0" destOrd="0" presId="urn:microsoft.com/office/officeart/2005/8/layout/vList2"/>
    <dgm:cxn modelId="{A7C5D03E-FCB4-4432-B068-5A3B8024166E}" type="presOf" srcId="{881CDE3B-B35A-4844-840E-77D8AB4A04D4}" destId="{8C077975-D15D-48B1-8FBB-686C449DF6CD}" srcOrd="0" destOrd="3" presId="urn:microsoft.com/office/officeart/2005/8/layout/vList2"/>
    <dgm:cxn modelId="{9E98F843-3D88-4A85-A1BE-DB78F8AA148F}" srcId="{616C4196-ED0A-46E2-B503-31DE7CB054E7}" destId="{9430C936-546D-488F-B6F4-E3E8C231E612}" srcOrd="0" destOrd="0" parTransId="{24213860-9391-4D2F-8230-B84DC83EEC45}" sibTransId="{C2B3E1BE-815C-42D4-B31A-5D781FED9985}"/>
    <dgm:cxn modelId="{B2B71749-DF3E-406C-BB21-157186772ECA}" srcId="{41F360EE-CBAE-4CA6-BD2D-E310DF152066}" destId="{616C4196-ED0A-46E2-B503-31DE7CB054E7}" srcOrd="1" destOrd="0" parTransId="{CE89B87A-4D3F-4380-A6B7-BA25C344E2D9}" sibTransId="{FE6AF077-D5F1-4706-BE4A-693E30699BE9}"/>
    <dgm:cxn modelId="{8F4A7982-A853-46C1-AA2B-FE7DEBC285CF}" type="presOf" srcId="{5A845887-FE6C-4F9A-A1D6-9F9CD621E16A}" destId="{8C077975-D15D-48B1-8FBB-686C449DF6CD}" srcOrd="0" destOrd="2" presId="urn:microsoft.com/office/officeart/2005/8/layout/vList2"/>
    <dgm:cxn modelId="{A96A8C85-7C4F-486C-A3A9-C0ADB354C9FB}" type="presOf" srcId="{616C4196-ED0A-46E2-B503-31DE7CB054E7}" destId="{B969FE15-8D0A-4758-9820-171A2E4755F7}" srcOrd="0" destOrd="0" presId="urn:microsoft.com/office/officeart/2005/8/layout/vList2"/>
    <dgm:cxn modelId="{6F3BF792-C62F-4AFB-9923-E13F31654D30}" srcId="{616C4196-ED0A-46E2-B503-31DE7CB054E7}" destId="{881CDE3B-B35A-4844-840E-77D8AB4A04D4}" srcOrd="3" destOrd="0" parTransId="{F278C370-C502-4E9D-B2C5-1E677E4DD675}" sibTransId="{34AB98C2-7CB9-4C93-B99E-B505C6CA9065}"/>
    <dgm:cxn modelId="{D547AAC8-7BCD-4CF3-9B39-55B08DCB75A0}" type="presOf" srcId="{9430C936-546D-488F-B6F4-E3E8C231E612}" destId="{8C077975-D15D-48B1-8FBB-686C449DF6CD}" srcOrd="0" destOrd="0" presId="urn:microsoft.com/office/officeart/2005/8/layout/vList2"/>
    <dgm:cxn modelId="{5401ABCF-E346-4C1C-A916-134D5BB42B47}" type="presOf" srcId="{650D12D7-8F29-4A2A-8915-A6253FE09C29}" destId="{8C077975-D15D-48B1-8FBB-686C449DF6CD}" srcOrd="0" destOrd="1" presId="urn:microsoft.com/office/officeart/2005/8/layout/vList2"/>
    <dgm:cxn modelId="{5E8FF0E9-DBAA-4D20-9588-D30331309BAB}" srcId="{616C4196-ED0A-46E2-B503-31DE7CB054E7}" destId="{5A845887-FE6C-4F9A-A1D6-9F9CD621E16A}" srcOrd="2" destOrd="0" parTransId="{DBB77A33-15AE-4073-8C8D-71F1E9D3FF88}" sibTransId="{07894B09-C46B-4965-BB12-100F246FE9A0}"/>
    <dgm:cxn modelId="{5773DDE6-D4A1-4F85-8191-115D00E22D04}" type="presParOf" srcId="{C4BCC771-15D6-4FD7-9DF1-1C4A2A439AF3}" destId="{6662613F-A14B-4C48-8399-C26E9D0FAD8E}" srcOrd="0" destOrd="0" presId="urn:microsoft.com/office/officeart/2005/8/layout/vList2"/>
    <dgm:cxn modelId="{40FC0B19-0D01-4222-BEA9-D48D63458A7F}" type="presParOf" srcId="{C4BCC771-15D6-4FD7-9DF1-1C4A2A439AF3}" destId="{6DD2E207-D499-400B-9F5C-6C27D2DD001C}" srcOrd="1" destOrd="0" presId="urn:microsoft.com/office/officeart/2005/8/layout/vList2"/>
    <dgm:cxn modelId="{27FE0B2A-46EB-4F2D-AF9F-DCB1F044A782}" type="presParOf" srcId="{C4BCC771-15D6-4FD7-9DF1-1C4A2A439AF3}" destId="{B969FE15-8D0A-4758-9820-171A2E4755F7}" srcOrd="2" destOrd="0" presId="urn:microsoft.com/office/officeart/2005/8/layout/vList2"/>
    <dgm:cxn modelId="{28103978-3323-44F0-88B4-A9D373D233FA}" type="presParOf" srcId="{C4BCC771-15D6-4FD7-9DF1-1C4A2A439AF3}" destId="{8C077975-D15D-48B1-8FBB-686C449DF6CD}" srcOrd="3"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C5F8154A-B50E-4CDF-BA4E-EDC43A7AC9B1}" type="doc">
      <dgm:prSet loTypeId="urn:microsoft.com/office/officeart/2016/7/layout/BasicLinearProcessNumbered" loCatId="process" qsTypeId="urn:microsoft.com/office/officeart/2005/8/quickstyle/simple1" qsCatId="simple" csTypeId="urn:microsoft.com/office/officeart/2005/8/colors/colorful2" csCatId="colorful" phldr="1"/>
      <dgm:spPr/>
      <dgm:t>
        <a:bodyPr/>
        <a:lstStyle/>
        <a:p>
          <a:endParaRPr lang="en-US"/>
        </a:p>
      </dgm:t>
    </dgm:pt>
    <dgm:pt modelId="{6CF05388-5ACB-49D4-A915-F38FA7D6E907}">
      <dgm:prSet/>
      <dgm:spPr/>
      <dgm:t>
        <a:bodyPr/>
        <a:lstStyle/>
        <a:p>
          <a:r>
            <a:rPr lang="en-US" dirty="0"/>
            <a:t>Secure key resources including Jeff, PVZ, Nick Van Exan and potentially Kristen Boyd.</a:t>
          </a:r>
        </a:p>
      </dgm:t>
    </dgm:pt>
    <dgm:pt modelId="{7822E5BC-4CEE-43F5-9B7C-EB5B1FDD8B27}" type="parTrans" cxnId="{9965F266-D95F-45BC-A3B2-385E0FE3B867}">
      <dgm:prSet/>
      <dgm:spPr/>
      <dgm:t>
        <a:bodyPr/>
        <a:lstStyle/>
        <a:p>
          <a:endParaRPr lang="en-US"/>
        </a:p>
      </dgm:t>
    </dgm:pt>
    <dgm:pt modelId="{B3E8E7FC-2C7D-4E25-985C-77164E89E770}" type="sibTrans" cxnId="{9965F266-D95F-45BC-A3B2-385E0FE3B867}">
      <dgm:prSet phldrT="1"/>
      <dgm:spPr/>
      <dgm:t>
        <a:bodyPr/>
        <a:lstStyle/>
        <a:p>
          <a:r>
            <a:rPr lang="en-US"/>
            <a:t>1</a:t>
          </a:r>
        </a:p>
      </dgm:t>
    </dgm:pt>
    <dgm:pt modelId="{E227E991-B576-4A8D-932C-35A32B59C571}">
      <dgm:prSet/>
      <dgm:spPr/>
      <dgm:t>
        <a:bodyPr/>
        <a:lstStyle/>
        <a:p>
          <a:r>
            <a:rPr lang="en-US" dirty="0"/>
            <a:t>Take a modest salary to focus 100% of my attention in A2D</a:t>
          </a:r>
        </a:p>
      </dgm:t>
    </dgm:pt>
    <dgm:pt modelId="{41665E04-D3B7-48C4-A5B2-D56020FEBEF1}" type="parTrans" cxnId="{93E037FF-290B-4AD0-94D6-7CFC7937413E}">
      <dgm:prSet/>
      <dgm:spPr/>
      <dgm:t>
        <a:bodyPr/>
        <a:lstStyle/>
        <a:p>
          <a:endParaRPr lang="en-US"/>
        </a:p>
      </dgm:t>
    </dgm:pt>
    <dgm:pt modelId="{EEF65005-49F3-4DFA-9ED7-42DE0165F6BB}" type="sibTrans" cxnId="{93E037FF-290B-4AD0-94D6-7CFC7937413E}">
      <dgm:prSet phldrT="2"/>
      <dgm:spPr/>
      <dgm:t>
        <a:bodyPr/>
        <a:lstStyle/>
        <a:p>
          <a:r>
            <a:rPr lang="en-US"/>
            <a:t>2</a:t>
          </a:r>
        </a:p>
      </dgm:t>
    </dgm:pt>
    <dgm:pt modelId="{07072F27-2C3A-42B3-A078-3C450D5BBA2F}">
      <dgm:prSet/>
      <dgm:spPr/>
      <dgm:t>
        <a:bodyPr/>
        <a:lstStyle/>
        <a:p>
          <a:r>
            <a:rPr lang="en-US"/>
            <a:t>Build out the key artifacts, workflows with custom MCP integrations</a:t>
          </a:r>
        </a:p>
      </dgm:t>
    </dgm:pt>
    <dgm:pt modelId="{CC1DD9C3-12B8-4165-89A5-15020FD49030}" type="parTrans" cxnId="{3D29F96E-8854-45A2-B48B-8605C65037E4}">
      <dgm:prSet/>
      <dgm:spPr/>
      <dgm:t>
        <a:bodyPr/>
        <a:lstStyle/>
        <a:p>
          <a:endParaRPr lang="en-US"/>
        </a:p>
      </dgm:t>
    </dgm:pt>
    <dgm:pt modelId="{F8E1915E-670D-4584-9BAD-7AECAB674317}" type="sibTrans" cxnId="{3D29F96E-8854-45A2-B48B-8605C65037E4}">
      <dgm:prSet phldrT="3"/>
      <dgm:spPr/>
      <dgm:t>
        <a:bodyPr/>
        <a:lstStyle/>
        <a:p>
          <a:r>
            <a:rPr lang="en-US"/>
            <a:t>3</a:t>
          </a:r>
        </a:p>
      </dgm:t>
    </dgm:pt>
    <dgm:pt modelId="{EBF87A5D-E1DD-43E7-A3FD-312D74F853FE}">
      <dgm:prSet/>
      <dgm:spPr/>
      <dgm:t>
        <a:bodyPr/>
        <a:lstStyle/>
        <a:p>
          <a:r>
            <a:rPr lang="en-US" dirty="0"/>
            <a:t>Build prototype of </a:t>
          </a:r>
          <a:r>
            <a:rPr lang="en-US" dirty="0" err="1"/>
            <a:t>CodeLantern</a:t>
          </a:r>
          <a:r>
            <a:rPr lang="en-US" dirty="0"/>
            <a:t> MCP server to assess viability – Pay for AI and software licenses</a:t>
          </a:r>
        </a:p>
      </dgm:t>
    </dgm:pt>
    <dgm:pt modelId="{F5A2E505-7760-407F-A4EF-D7F6F94061E9}" type="parTrans" cxnId="{80CF74EF-90C0-4BBC-B1DD-30D40F54A154}">
      <dgm:prSet/>
      <dgm:spPr/>
      <dgm:t>
        <a:bodyPr/>
        <a:lstStyle/>
        <a:p>
          <a:endParaRPr lang="en-US"/>
        </a:p>
      </dgm:t>
    </dgm:pt>
    <dgm:pt modelId="{0E1E4917-49F7-4EF7-A5E6-4CE844EB9210}" type="sibTrans" cxnId="{80CF74EF-90C0-4BBC-B1DD-30D40F54A154}">
      <dgm:prSet phldrT="4"/>
      <dgm:spPr/>
      <dgm:t>
        <a:bodyPr/>
        <a:lstStyle/>
        <a:p>
          <a:r>
            <a:rPr lang="en-US"/>
            <a:t>4</a:t>
          </a:r>
        </a:p>
      </dgm:t>
    </dgm:pt>
    <dgm:pt modelId="{607A3798-BFF9-4A7C-A275-5C432AC4A06E}">
      <dgm:prSet/>
      <dgm:spPr/>
      <dgm:t>
        <a:bodyPr/>
        <a:lstStyle/>
        <a:p>
          <a:r>
            <a:rPr lang="en-US" dirty="0"/>
            <a:t>Get reference customers</a:t>
          </a:r>
        </a:p>
        <a:p>
          <a:r>
            <a:rPr lang="en-US" dirty="0"/>
            <a:t>- Build out sales collateral and brand</a:t>
          </a:r>
        </a:p>
      </dgm:t>
    </dgm:pt>
    <dgm:pt modelId="{3D71ED68-E9CB-40AB-8913-A5EEA36A4CD8}" type="parTrans" cxnId="{79C40E0C-AEEB-4B85-A0AD-934E07C8D756}">
      <dgm:prSet/>
      <dgm:spPr/>
      <dgm:t>
        <a:bodyPr/>
        <a:lstStyle/>
        <a:p>
          <a:endParaRPr lang="en-US"/>
        </a:p>
      </dgm:t>
    </dgm:pt>
    <dgm:pt modelId="{C6656755-496E-494C-BB15-0DBD0C9099D7}" type="sibTrans" cxnId="{79C40E0C-AEEB-4B85-A0AD-934E07C8D756}">
      <dgm:prSet phldrT="5"/>
      <dgm:spPr/>
      <dgm:t>
        <a:bodyPr/>
        <a:lstStyle/>
        <a:p>
          <a:r>
            <a:rPr lang="en-US"/>
            <a:t>5</a:t>
          </a:r>
        </a:p>
      </dgm:t>
    </dgm:pt>
    <dgm:pt modelId="{5E6A0588-1C4B-4639-B717-9C37D79A1D4A}" type="pres">
      <dgm:prSet presAssocID="{C5F8154A-B50E-4CDF-BA4E-EDC43A7AC9B1}" presName="Name0" presStyleCnt="0">
        <dgm:presLayoutVars>
          <dgm:animLvl val="lvl"/>
          <dgm:resizeHandles val="exact"/>
        </dgm:presLayoutVars>
      </dgm:prSet>
      <dgm:spPr/>
    </dgm:pt>
    <dgm:pt modelId="{F6C2B2A9-6FF3-4E75-9834-C0DB7BF52037}" type="pres">
      <dgm:prSet presAssocID="{6CF05388-5ACB-49D4-A915-F38FA7D6E907}" presName="compositeNode" presStyleCnt="0">
        <dgm:presLayoutVars>
          <dgm:bulletEnabled val="1"/>
        </dgm:presLayoutVars>
      </dgm:prSet>
      <dgm:spPr/>
    </dgm:pt>
    <dgm:pt modelId="{6D327069-2476-4D34-85A3-5E1E8DFAFD92}" type="pres">
      <dgm:prSet presAssocID="{6CF05388-5ACB-49D4-A915-F38FA7D6E907}" presName="bgRect" presStyleLbl="bgAccFollowNode1" presStyleIdx="0" presStyleCnt="5"/>
      <dgm:spPr/>
    </dgm:pt>
    <dgm:pt modelId="{497549E4-8FB1-4897-B53D-B6A344941FE5}" type="pres">
      <dgm:prSet presAssocID="{B3E8E7FC-2C7D-4E25-985C-77164E89E770}" presName="sibTransNodeCircle" presStyleLbl="alignNode1" presStyleIdx="0" presStyleCnt="10">
        <dgm:presLayoutVars>
          <dgm:chMax val="0"/>
          <dgm:bulletEnabled/>
        </dgm:presLayoutVars>
      </dgm:prSet>
      <dgm:spPr/>
    </dgm:pt>
    <dgm:pt modelId="{FD225A42-9857-4EF5-A3A2-7CFA5407B396}" type="pres">
      <dgm:prSet presAssocID="{6CF05388-5ACB-49D4-A915-F38FA7D6E907}" presName="bottomLine" presStyleLbl="alignNode1" presStyleIdx="1" presStyleCnt="10">
        <dgm:presLayoutVars/>
      </dgm:prSet>
      <dgm:spPr/>
    </dgm:pt>
    <dgm:pt modelId="{7F156ACD-869E-44B5-A874-EB996CCB0F68}" type="pres">
      <dgm:prSet presAssocID="{6CF05388-5ACB-49D4-A915-F38FA7D6E907}" presName="nodeText" presStyleLbl="bgAccFollowNode1" presStyleIdx="0" presStyleCnt="5">
        <dgm:presLayoutVars>
          <dgm:bulletEnabled val="1"/>
        </dgm:presLayoutVars>
      </dgm:prSet>
      <dgm:spPr/>
    </dgm:pt>
    <dgm:pt modelId="{127EE216-A895-4D98-BF93-FFF0AC40400F}" type="pres">
      <dgm:prSet presAssocID="{B3E8E7FC-2C7D-4E25-985C-77164E89E770}" presName="sibTrans" presStyleCnt="0"/>
      <dgm:spPr/>
    </dgm:pt>
    <dgm:pt modelId="{BF31E1AC-5FA5-450B-966F-2CAEBD6F4329}" type="pres">
      <dgm:prSet presAssocID="{E227E991-B576-4A8D-932C-35A32B59C571}" presName="compositeNode" presStyleCnt="0">
        <dgm:presLayoutVars>
          <dgm:bulletEnabled val="1"/>
        </dgm:presLayoutVars>
      </dgm:prSet>
      <dgm:spPr/>
    </dgm:pt>
    <dgm:pt modelId="{D80097B7-449A-41C2-9214-D65F4FF6AC04}" type="pres">
      <dgm:prSet presAssocID="{E227E991-B576-4A8D-932C-35A32B59C571}" presName="bgRect" presStyleLbl="bgAccFollowNode1" presStyleIdx="1" presStyleCnt="5"/>
      <dgm:spPr/>
    </dgm:pt>
    <dgm:pt modelId="{E8BC76C8-A8FD-42C5-AE6F-EC690AC4E66B}" type="pres">
      <dgm:prSet presAssocID="{EEF65005-49F3-4DFA-9ED7-42DE0165F6BB}" presName="sibTransNodeCircle" presStyleLbl="alignNode1" presStyleIdx="2" presStyleCnt="10">
        <dgm:presLayoutVars>
          <dgm:chMax val="0"/>
          <dgm:bulletEnabled/>
        </dgm:presLayoutVars>
      </dgm:prSet>
      <dgm:spPr/>
    </dgm:pt>
    <dgm:pt modelId="{47C38FDE-0EBB-4E8B-8272-9133DECDB430}" type="pres">
      <dgm:prSet presAssocID="{E227E991-B576-4A8D-932C-35A32B59C571}" presName="bottomLine" presStyleLbl="alignNode1" presStyleIdx="3" presStyleCnt="10">
        <dgm:presLayoutVars/>
      </dgm:prSet>
      <dgm:spPr/>
    </dgm:pt>
    <dgm:pt modelId="{BF031504-DB95-4721-B616-117A4049E7E3}" type="pres">
      <dgm:prSet presAssocID="{E227E991-B576-4A8D-932C-35A32B59C571}" presName="nodeText" presStyleLbl="bgAccFollowNode1" presStyleIdx="1" presStyleCnt="5">
        <dgm:presLayoutVars>
          <dgm:bulletEnabled val="1"/>
        </dgm:presLayoutVars>
      </dgm:prSet>
      <dgm:spPr/>
    </dgm:pt>
    <dgm:pt modelId="{00A0F532-8414-40E0-B2F6-BA291CA48CDD}" type="pres">
      <dgm:prSet presAssocID="{EEF65005-49F3-4DFA-9ED7-42DE0165F6BB}" presName="sibTrans" presStyleCnt="0"/>
      <dgm:spPr/>
    </dgm:pt>
    <dgm:pt modelId="{133DF15E-35E5-4CAA-B8EF-835C67BD1895}" type="pres">
      <dgm:prSet presAssocID="{07072F27-2C3A-42B3-A078-3C450D5BBA2F}" presName="compositeNode" presStyleCnt="0">
        <dgm:presLayoutVars>
          <dgm:bulletEnabled val="1"/>
        </dgm:presLayoutVars>
      </dgm:prSet>
      <dgm:spPr/>
    </dgm:pt>
    <dgm:pt modelId="{D24B6A28-A87D-433D-8EF0-6E6A769A04AC}" type="pres">
      <dgm:prSet presAssocID="{07072F27-2C3A-42B3-A078-3C450D5BBA2F}" presName="bgRect" presStyleLbl="bgAccFollowNode1" presStyleIdx="2" presStyleCnt="5"/>
      <dgm:spPr/>
    </dgm:pt>
    <dgm:pt modelId="{30578B2C-7FC4-4D4B-B105-184FD391500E}" type="pres">
      <dgm:prSet presAssocID="{F8E1915E-670D-4584-9BAD-7AECAB674317}" presName="sibTransNodeCircle" presStyleLbl="alignNode1" presStyleIdx="4" presStyleCnt="10">
        <dgm:presLayoutVars>
          <dgm:chMax val="0"/>
          <dgm:bulletEnabled/>
        </dgm:presLayoutVars>
      </dgm:prSet>
      <dgm:spPr/>
    </dgm:pt>
    <dgm:pt modelId="{6BA8EED3-570F-4859-901D-E5215A9BA74C}" type="pres">
      <dgm:prSet presAssocID="{07072F27-2C3A-42B3-A078-3C450D5BBA2F}" presName="bottomLine" presStyleLbl="alignNode1" presStyleIdx="5" presStyleCnt="10">
        <dgm:presLayoutVars/>
      </dgm:prSet>
      <dgm:spPr/>
    </dgm:pt>
    <dgm:pt modelId="{B0060FB5-B566-4234-B2D9-6EC375C478A2}" type="pres">
      <dgm:prSet presAssocID="{07072F27-2C3A-42B3-A078-3C450D5BBA2F}" presName="nodeText" presStyleLbl="bgAccFollowNode1" presStyleIdx="2" presStyleCnt="5">
        <dgm:presLayoutVars>
          <dgm:bulletEnabled val="1"/>
        </dgm:presLayoutVars>
      </dgm:prSet>
      <dgm:spPr/>
    </dgm:pt>
    <dgm:pt modelId="{2FC89DC8-9929-449C-B84D-AD93FDEC1A3C}" type="pres">
      <dgm:prSet presAssocID="{F8E1915E-670D-4584-9BAD-7AECAB674317}" presName="sibTrans" presStyleCnt="0"/>
      <dgm:spPr/>
    </dgm:pt>
    <dgm:pt modelId="{4802816E-BFEE-4B56-A83F-3FA7B3306AA7}" type="pres">
      <dgm:prSet presAssocID="{EBF87A5D-E1DD-43E7-A3FD-312D74F853FE}" presName="compositeNode" presStyleCnt="0">
        <dgm:presLayoutVars>
          <dgm:bulletEnabled val="1"/>
        </dgm:presLayoutVars>
      </dgm:prSet>
      <dgm:spPr/>
    </dgm:pt>
    <dgm:pt modelId="{761FA167-FB37-4D19-A94F-BA8D78A366D8}" type="pres">
      <dgm:prSet presAssocID="{EBF87A5D-E1DD-43E7-A3FD-312D74F853FE}" presName="bgRect" presStyleLbl="bgAccFollowNode1" presStyleIdx="3" presStyleCnt="5"/>
      <dgm:spPr/>
    </dgm:pt>
    <dgm:pt modelId="{BD777F8B-94F9-4DAF-BB31-7774F641A3A3}" type="pres">
      <dgm:prSet presAssocID="{0E1E4917-49F7-4EF7-A5E6-4CE844EB9210}" presName="sibTransNodeCircle" presStyleLbl="alignNode1" presStyleIdx="6" presStyleCnt="10">
        <dgm:presLayoutVars>
          <dgm:chMax val="0"/>
          <dgm:bulletEnabled/>
        </dgm:presLayoutVars>
      </dgm:prSet>
      <dgm:spPr/>
    </dgm:pt>
    <dgm:pt modelId="{FE0DE0BD-3A25-4AB0-926E-F81C82B547F0}" type="pres">
      <dgm:prSet presAssocID="{EBF87A5D-E1DD-43E7-A3FD-312D74F853FE}" presName="bottomLine" presStyleLbl="alignNode1" presStyleIdx="7" presStyleCnt="10">
        <dgm:presLayoutVars/>
      </dgm:prSet>
      <dgm:spPr/>
    </dgm:pt>
    <dgm:pt modelId="{505C81D9-065F-472E-AD93-1966E68904EB}" type="pres">
      <dgm:prSet presAssocID="{EBF87A5D-E1DD-43E7-A3FD-312D74F853FE}" presName="nodeText" presStyleLbl="bgAccFollowNode1" presStyleIdx="3" presStyleCnt="5">
        <dgm:presLayoutVars>
          <dgm:bulletEnabled val="1"/>
        </dgm:presLayoutVars>
      </dgm:prSet>
      <dgm:spPr/>
    </dgm:pt>
    <dgm:pt modelId="{8E58DEBB-8DBA-4E9D-91ED-BD7A93A7695B}" type="pres">
      <dgm:prSet presAssocID="{0E1E4917-49F7-4EF7-A5E6-4CE844EB9210}" presName="sibTrans" presStyleCnt="0"/>
      <dgm:spPr/>
    </dgm:pt>
    <dgm:pt modelId="{343B942D-E79B-4C39-BC6E-DC3F826323AD}" type="pres">
      <dgm:prSet presAssocID="{607A3798-BFF9-4A7C-A275-5C432AC4A06E}" presName="compositeNode" presStyleCnt="0">
        <dgm:presLayoutVars>
          <dgm:bulletEnabled val="1"/>
        </dgm:presLayoutVars>
      </dgm:prSet>
      <dgm:spPr/>
    </dgm:pt>
    <dgm:pt modelId="{892A3BA8-7B80-4289-AF52-284996A5CBF1}" type="pres">
      <dgm:prSet presAssocID="{607A3798-BFF9-4A7C-A275-5C432AC4A06E}" presName="bgRect" presStyleLbl="bgAccFollowNode1" presStyleIdx="4" presStyleCnt="5"/>
      <dgm:spPr/>
    </dgm:pt>
    <dgm:pt modelId="{A149C1A8-DC9D-4875-99AB-30A556C23ECF}" type="pres">
      <dgm:prSet presAssocID="{C6656755-496E-494C-BB15-0DBD0C9099D7}" presName="sibTransNodeCircle" presStyleLbl="alignNode1" presStyleIdx="8" presStyleCnt="10">
        <dgm:presLayoutVars>
          <dgm:chMax val="0"/>
          <dgm:bulletEnabled/>
        </dgm:presLayoutVars>
      </dgm:prSet>
      <dgm:spPr/>
    </dgm:pt>
    <dgm:pt modelId="{C1B3B87A-3356-4FA4-B97C-E75CD3395617}" type="pres">
      <dgm:prSet presAssocID="{607A3798-BFF9-4A7C-A275-5C432AC4A06E}" presName="bottomLine" presStyleLbl="alignNode1" presStyleIdx="9" presStyleCnt="10">
        <dgm:presLayoutVars/>
      </dgm:prSet>
      <dgm:spPr/>
    </dgm:pt>
    <dgm:pt modelId="{79D3657F-F8FE-4D31-B2CE-723CC2C0F134}" type="pres">
      <dgm:prSet presAssocID="{607A3798-BFF9-4A7C-A275-5C432AC4A06E}" presName="nodeText" presStyleLbl="bgAccFollowNode1" presStyleIdx="4" presStyleCnt="5">
        <dgm:presLayoutVars>
          <dgm:bulletEnabled val="1"/>
        </dgm:presLayoutVars>
      </dgm:prSet>
      <dgm:spPr/>
    </dgm:pt>
  </dgm:ptLst>
  <dgm:cxnLst>
    <dgm:cxn modelId="{79C40E0C-AEEB-4B85-A0AD-934E07C8D756}" srcId="{C5F8154A-B50E-4CDF-BA4E-EDC43A7AC9B1}" destId="{607A3798-BFF9-4A7C-A275-5C432AC4A06E}" srcOrd="4" destOrd="0" parTransId="{3D71ED68-E9CB-40AB-8913-A5EEA36A4CD8}" sibTransId="{C6656755-496E-494C-BB15-0DBD0C9099D7}"/>
    <dgm:cxn modelId="{4B92B90D-24CD-4955-9F55-64E90AFE7062}" type="presOf" srcId="{C5F8154A-B50E-4CDF-BA4E-EDC43A7AC9B1}" destId="{5E6A0588-1C4B-4639-B717-9C37D79A1D4A}" srcOrd="0" destOrd="0" presId="urn:microsoft.com/office/officeart/2016/7/layout/BasicLinearProcessNumbered"/>
    <dgm:cxn modelId="{77DABA0D-CB42-4310-A1C4-E7BFEEA2189A}" type="presOf" srcId="{607A3798-BFF9-4A7C-A275-5C432AC4A06E}" destId="{79D3657F-F8FE-4D31-B2CE-723CC2C0F134}" srcOrd="1" destOrd="0" presId="urn:microsoft.com/office/officeart/2016/7/layout/BasicLinearProcessNumbered"/>
    <dgm:cxn modelId="{F08A972F-DFDF-4165-BE88-F61D6BBC345F}" type="presOf" srcId="{0E1E4917-49F7-4EF7-A5E6-4CE844EB9210}" destId="{BD777F8B-94F9-4DAF-BB31-7774F641A3A3}" srcOrd="0" destOrd="0" presId="urn:microsoft.com/office/officeart/2016/7/layout/BasicLinearProcessNumbered"/>
    <dgm:cxn modelId="{7C2D3D36-950A-497A-B190-C6C8C0EC42ED}" type="presOf" srcId="{E227E991-B576-4A8D-932C-35A32B59C571}" destId="{D80097B7-449A-41C2-9214-D65F4FF6AC04}" srcOrd="0" destOrd="0" presId="urn:microsoft.com/office/officeart/2016/7/layout/BasicLinearProcessNumbered"/>
    <dgm:cxn modelId="{98BB2437-0515-4554-8A1A-DA34F0F2E88F}" type="presOf" srcId="{07072F27-2C3A-42B3-A078-3C450D5BBA2F}" destId="{D24B6A28-A87D-433D-8EF0-6E6A769A04AC}" srcOrd="0" destOrd="0" presId="urn:microsoft.com/office/officeart/2016/7/layout/BasicLinearProcessNumbered"/>
    <dgm:cxn modelId="{52CEC237-5BAB-4E48-A582-6A5D63B87175}" type="presOf" srcId="{F8E1915E-670D-4584-9BAD-7AECAB674317}" destId="{30578B2C-7FC4-4D4B-B105-184FD391500E}" srcOrd="0" destOrd="0" presId="urn:microsoft.com/office/officeart/2016/7/layout/BasicLinearProcessNumbered"/>
    <dgm:cxn modelId="{09BDEC3B-275D-461A-8353-5C9ABB76FB77}" type="presOf" srcId="{607A3798-BFF9-4A7C-A275-5C432AC4A06E}" destId="{892A3BA8-7B80-4289-AF52-284996A5CBF1}" srcOrd="0" destOrd="0" presId="urn:microsoft.com/office/officeart/2016/7/layout/BasicLinearProcessNumbered"/>
    <dgm:cxn modelId="{6DA01C45-C96F-4853-86BF-00C145428F46}" type="presOf" srcId="{EEF65005-49F3-4DFA-9ED7-42DE0165F6BB}" destId="{E8BC76C8-A8FD-42C5-AE6F-EC690AC4E66B}" srcOrd="0" destOrd="0" presId="urn:microsoft.com/office/officeart/2016/7/layout/BasicLinearProcessNumbered"/>
    <dgm:cxn modelId="{9965F266-D95F-45BC-A3B2-385E0FE3B867}" srcId="{C5F8154A-B50E-4CDF-BA4E-EDC43A7AC9B1}" destId="{6CF05388-5ACB-49D4-A915-F38FA7D6E907}" srcOrd="0" destOrd="0" parTransId="{7822E5BC-4CEE-43F5-9B7C-EB5B1FDD8B27}" sibTransId="{B3E8E7FC-2C7D-4E25-985C-77164E89E770}"/>
    <dgm:cxn modelId="{3D29F96E-8854-45A2-B48B-8605C65037E4}" srcId="{C5F8154A-B50E-4CDF-BA4E-EDC43A7AC9B1}" destId="{07072F27-2C3A-42B3-A078-3C450D5BBA2F}" srcOrd="2" destOrd="0" parTransId="{CC1DD9C3-12B8-4165-89A5-15020FD49030}" sibTransId="{F8E1915E-670D-4584-9BAD-7AECAB674317}"/>
    <dgm:cxn modelId="{D18FF46F-1AAB-4E5D-A09D-4C12A3476E6D}" type="presOf" srcId="{EBF87A5D-E1DD-43E7-A3FD-312D74F853FE}" destId="{761FA167-FB37-4D19-A94F-BA8D78A366D8}" srcOrd="0" destOrd="0" presId="urn:microsoft.com/office/officeart/2016/7/layout/BasicLinearProcessNumbered"/>
    <dgm:cxn modelId="{F4E18553-D9C2-4207-8EE0-491CD8DADD15}" type="presOf" srcId="{6CF05388-5ACB-49D4-A915-F38FA7D6E907}" destId="{7F156ACD-869E-44B5-A874-EB996CCB0F68}" srcOrd="1" destOrd="0" presId="urn:microsoft.com/office/officeart/2016/7/layout/BasicLinearProcessNumbered"/>
    <dgm:cxn modelId="{1CB27983-A70B-48A9-AD52-FDA087E865BB}" type="presOf" srcId="{07072F27-2C3A-42B3-A078-3C450D5BBA2F}" destId="{B0060FB5-B566-4234-B2D9-6EC375C478A2}" srcOrd="1" destOrd="0" presId="urn:microsoft.com/office/officeart/2016/7/layout/BasicLinearProcessNumbered"/>
    <dgm:cxn modelId="{22036590-77A1-43B0-8824-39FC111902AF}" type="presOf" srcId="{E227E991-B576-4A8D-932C-35A32B59C571}" destId="{BF031504-DB95-4721-B616-117A4049E7E3}" srcOrd="1" destOrd="0" presId="urn:microsoft.com/office/officeart/2016/7/layout/BasicLinearProcessNumbered"/>
    <dgm:cxn modelId="{6218EC95-AAE0-47D1-9286-980978842EBC}" type="presOf" srcId="{C6656755-496E-494C-BB15-0DBD0C9099D7}" destId="{A149C1A8-DC9D-4875-99AB-30A556C23ECF}" srcOrd="0" destOrd="0" presId="urn:microsoft.com/office/officeart/2016/7/layout/BasicLinearProcessNumbered"/>
    <dgm:cxn modelId="{532E1B99-66CA-4AD7-A9ED-078EA4BBB7C3}" type="presOf" srcId="{6CF05388-5ACB-49D4-A915-F38FA7D6E907}" destId="{6D327069-2476-4D34-85A3-5E1E8DFAFD92}" srcOrd="0" destOrd="0" presId="urn:microsoft.com/office/officeart/2016/7/layout/BasicLinearProcessNumbered"/>
    <dgm:cxn modelId="{4E06FBAE-6370-405A-9D07-BF15A653811C}" type="presOf" srcId="{EBF87A5D-E1DD-43E7-A3FD-312D74F853FE}" destId="{505C81D9-065F-472E-AD93-1966E68904EB}" srcOrd="1" destOrd="0" presId="urn:microsoft.com/office/officeart/2016/7/layout/BasicLinearProcessNumbered"/>
    <dgm:cxn modelId="{BA91D9B8-8B32-4C4D-AC53-E9F1DB47462F}" type="presOf" srcId="{B3E8E7FC-2C7D-4E25-985C-77164E89E770}" destId="{497549E4-8FB1-4897-B53D-B6A344941FE5}" srcOrd="0" destOrd="0" presId="urn:microsoft.com/office/officeart/2016/7/layout/BasicLinearProcessNumbered"/>
    <dgm:cxn modelId="{80CF74EF-90C0-4BBC-B1DD-30D40F54A154}" srcId="{C5F8154A-B50E-4CDF-BA4E-EDC43A7AC9B1}" destId="{EBF87A5D-E1DD-43E7-A3FD-312D74F853FE}" srcOrd="3" destOrd="0" parTransId="{F5A2E505-7760-407F-A4EF-D7F6F94061E9}" sibTransId="{0E1E4917-49F7-4EF7-A5E6-4CE844EB9210}"/>
    <dgm:cxn modelId="{93E037FF-290B-4AD0-94D6-7CFC7937413E}" srcId="{C5F8154A-B50E-4CDF-BA4E-EDC43A7AC9B1}" destId="{E227E991-B576-4A8D-932C-35A32B59C571}" srcOrd="1" destOrd="0" parTransId="{41665E04-D3B7-48C4-A5B2-D56020FEBEF1}" sibTransId="{EEF65005-49F3-4DFA-9ED7-42DE0165F6BB}"/>
    <dgm:cxn modelId="{0CC6E8EA-C1DF-4F7C-8F9F-A5EA20807513}" type="presParOf" srcId="{5E6A0588-1C4B-4639-B717-9C37D79A1D4A}" destId="{F6C2B2A9-6FF3-4E75-9834-C0DB7BF52037}" srcOrd="0" destOrd="0" presId="urn:microsoft.com/office/officeart/2016/7/layout/BasicLinearProcessNumbered"/>
    <dgm:cxn modelId="{B33F018C-9602-46E0-9CF0-580B710CA977}" type="presParOf" srcId="{F6C2B2A9-6FF3-4E75-9834-C0DB7BF52037}" destId="{6D327069-2476-4D34-85A3-5E1E8DFAFD92}" srcOrd="0" destOrd="0" presId="urn:microsoft.com/office/officeart/2016/7/layout/BasicLinearProcessNumbered"/>
    <dgm:cxn modelId="{99FFE07C-F30F-4827-B111-754003CA4B8C}" type="presParOf" srcId="{F6C2B2A9-6FF3-4E75-9834-C0DB7BF52037}" destId="{497549E4-8FB1-4897-B53D-B6A344941FE5}" srcOrd="1" destOrd="0" presId="urn:microsoft.com/office/officeart/2016/7/layout/BasicLinearProcessNumbered"/>
    <dgm:cxn modelId="{0D8FC0AE-CE70-429B-94A0-A603BDFD6B69}" type="presParOf" srcId="{F6C2B2A9-6FF3-4E75-9834-C0DB7BF52037}" destId="{FD225A42-9857-4EF5-A3A2-7CFA5407B396}" srcOrd="2" destOrd="0" presId="urn:microsoft.com/office/officeart/2016/7/layout/BasicLinearProcessNumbered"/>
    <dgm:cxn modelId="{A870D0C2-6781-4792-920A-824FD78305B6}" type="presParOf" srcId="{F6C2B2A9-6FF3-4E75-9834-C0DB7BF52037}" destId="{7F156ACD-869E-44B5-A874-EB996CCB0F68}" srcOrd="3" destOrd="0" presId="urn:microsoft.com/office/officeart/2016/7/layout/BasicLinearProcessNumbered"/>
    <dgm:cxn modelId="{907819DD-3395-47B0-A8F7-FF0048E0FA5F}" type="presParOf" srcId="{5E6A0588-1C4B-4639-B717-9C37D79A1D4A}" destId="{127EE216-A895-4D98-BF93-FFF0AC40400F}" srcOrd="1" destOrd="0" presId="urn:microsoft.com/office/officeart/2016/7/layout/BasicLinearProcessNumbered"/>
    <dgm:cxn modelId="{60F620C2-5EA7-47FA-B493-7E9B796F42DD}" type="presParOf" srcId="{5E6A0588-1C4B-4639-B717-9C37D79A1D4A}" destId="{BF31E1AC-5FA5-450B-966F-2CAEBD6F4329}" srcOrd="2" destOrd="0" presId="urn:microsoft.com/office/officeart/2016/7/layout/BasicLinearProcessNumbered"/>
    <dgm:cxn modelId="{C68FCAAB-FF96-478F-BA8C-B555F73929B1}" type="presParOf" srcId="{BF31E1AC-5FA5-450B-966F-2CAEBD6F4329}" destId="{D80097B7-449A-41C2-9214-D65F4FF6AC04}" srcOrd="0" destOrd="0" presId="urn:microsoft.com/office/officeart/2016/7/layout/BasicLinearProcessNumbered"/>
    <dgm:cxn modelId="{19C7185D-6CBD-4B2B-87E2-97C9753C75B7}" type="presParOf" srcId="{BF31E1AC-5FA5-450B-966F-2CAEBD6F4329}" destId="{E8BC76C8-A8FD-42C5-AE6F-EC690AC4E66B}" srcOrd="1" destOrd="0" presId="urn:microsoft.com/office/officeart/2016/7/layout/BasicLinearProcessNumbered"/>
    <dgm:cxn modelId="{8D6BE948-F647-4EDE-AE9A-B889239154FE}" type="presParOf" srcId="{BF31E1AC-5FA5-450B-966F-2CAEBD6F4329}" destId="{47C38FDE-0EBB-4E8B-8272-9133DECDB430}" srcOrd="2" destOrd="0" presId="urn:microsoft.com/office/officeart/2016/7/layout/BasicLinearProcessNumbered"/>
    <dgm:cxn modelId="{D7D049DC-3135-4F46-94C7-3B2344A380DA}" type="presParOf" srcId="{BF31E1AC-5FA5-450B-966F-2CAEBD6F4329}" destId="{BF031504-DB95-4721-B616-117A4049E7E3}" srcOrd="3" destOrd="0" presId="urn:microsoft.com/office/officeart/2016/7/layout/BasicLinearProcessNumbered"/>
    <dgm:cxn modelId="{F3464525-7DC5-4C0D-9D76-16BE859BCA34}" type="presParOf" srcId="{5E6A0588-1C4B-4639-B717-9C37D79A1D4A}" destId="{00A0F532-8414-40E0-B2F6-BA291CA48CDD}" srcOrd="3" destOrd="0" presId="urn:microsoft.com/office/officeart/2016/7/layout/BasicLinearProcessNumbered"/>
    <dgm:cxn modelId="{5E272E78-6F1A-43F2-AF9B-1F894A49DC8B}" type="presParOf" srcId="{5E6A0588-1C4B-4639-B717-9C37D79A1D4A}" destId="{133DF15E-35E5-4CAA-B8EF-835C67BD1895}" srcOrd="4" destOrd="0" presId="urn:microsoft.com/office/officeart/2016/7/layout/BasicLinearProcessNumbered"/>
    <dgm:cxn modelId="{ABA31EDC-34D5-41AC-930A-A77C02B99DA6}" type="presParOf" srcId="{133DF15E-35E5-4CAA-B8EF-835C67BD1895}" destId="{D24B6A28-A87D-433D-8EF0-6E6A769A04AC}" srcOrd="0" destOrd="0" presId="urn:microsoft.com/office/officeart/2016/7/layout/BasicLinearProcessNumbered"/>
    <dgm:cxn modelId="{29659500-FE70-4688-BE76-AB6153D58AF2}" type="presParOf" srcId="{133DF15E-35E5-4CAA-B8EF-835C67BD1895}" destId="{30578B2C-7FC4-4D4B-B105-184FD391500E}" srcOrd="1" destOrd="0" presId="urn:microsoft.com/office/officeart/2016/7/layout/BasicLinearProcessNumbered"/>
    <dgm:cxn modelId="{BFDFD81F-817B-4DF5-867F-B6DBAC534975}" type="presParOf" srcId="{133DF15E-35E5-4CAA-B8EF-835C67BD1895}" destId="{6BA8EED3-570F-4859-901D-E5215A9BA74C}" srcOrd="2" destOrd="0" presId="urn:microsoft.com/office/officeart/2016/7/layout/BasicLinearProcessNumbered"/>
    <dgm:cxn modelId="{1A623E80-90C1-4424-B62A-9572C0C6DBC5}" type="presParOf" srcId="{133DF15E-35E5-4CAA-B8EF-835C67BD1895}" destId="{B0060FB5-B566-4234-B2D9-6EC375C478A2}" srcOrd="3" destOrd="0" presId="urn:microsoft.com/office/officeart/2016/7/layout/BasicLinearProcessNumbered"/>
    <dgm:cxn modelId="{07AA8DCF-924A-42CA-9E55-8D4A39C651FE}" type="presParOf" srcId="{5E6A0588-1C4B-4639-B717-9C37D79A1D4A}" destId="{2FC89DC8-9929-449C-B84D-AD93FDEC1A3C}" srcOrd="5" destOrd="0" presId="urn:microsoft.com/office/officeart/2016/7/layout/BasicLinearProcessNumbered"/>
    <dgm:cxn modelId="{DCC44F1A-BA66-485F-9156-BBCE4FB5A537}" type="presParOf" srcId="{5E6A0588-1C4B-4639-B717-9C37D79A1D4A}" destId="{4802816E-BFEE-4B56-A83F-3FA7B3306AA7}" srcOrd="6" destOrd="0" presId="urn:microsoft.com/office/officeart/2016/7/layout/BasicLinearProcessNumbered"/>
    <dgm:cxn modelId="{18A03B04-7989-45D9-AB45-BD7125AAC403}" type="presParOf" srcId="{4802816E-BFEE-4B56-A83F-3FA7B3306AA7}" destId="{761FA167-FB37-4D19-A94F-BA8D78A366D8}" srcOrd="0" destOrd="0" presId="urn:microsoft.com/office/officeart/2016/7/layout/BasicLinearProcessNumbered"/>
    <dgm:cxn modelId="{AC2D9BC5-26B2-49D1-BB83-1D547B94B8AC}" type="presParOf" srcId="{4802816E-BFEE-4B56-A83F-3FA7B3306AA7}" destId="{BD777F8B-94F9-4DAF-BB31-7774F641A3A3}" srcOrd="1" destOrd="0" presId="urn:microsoft.com/office/officeart/2016/7/layout/BasicLinearProcessNumbered"/>
    <dgm:cxn modelId="{6AAC3988-F15E-4C38-BF0E-E4390495087F}" type="presParOf" srcId="{4802816E-BFEE-4B56-A83F-3FA7B3306AA7}" destId="{FE0DE0BD-3A25-4AB0-926E-F81C82B547F0}" srcOrd="2" destOrd="0" presId="urn:microsoft.com/office/officeart/2016/7/layout/BasicLinearProcessNumbered"/>
    <dgm:cxn modelId="{8B1BEFCD-017F-470E-87D0-B0FACEDE77EF}" type="presParOf" srcId="{4802816E-BFEE-4B56-A83F-3FA7B3306AA7}" destId="{505C81D9-065F-472E-AD93-1966E68904EB}" srcOrd="3" destOrd="0" presId="urn:microsoft.com/office/officeart/2016/7/layout/BasicLinearProcessNumbered"/>
    <dgm:cxn modelId="{BDE7F412-5678-4BC2-A60B-DDB0809C9E2B}" type="presParOf" srcId="{5E6A0588-1C4B-4639-B717-9C37D79A1D4A}" destId="{8E58DEBB-8DBA-4E9D-91ED-BD7A93A7695B}" srcOrd="7" destOrd="0" presId="urn:microsoft.com/office/officeart/2016/7/layout/BasicLinearProcessNumbered"/>
    <dgm:cxn modelId="{57C02B5C-4400-4022-9B73-5794ED9604E3}" type="presParOf" srcId="{5E6A0588-1C4B-4639-B717-9C37D79A1D4A}" destId="{343B942D-E79B-4C39-BC6E-DC3F826323AD}" srcOrd="8" destOrd="0" presId="urn:microsoft.com/office/officeart/2016/7/layout/BasicLinearProcessNumbered"/>
    <dgm:cxn modelId="{27654925-B90F-4311-BAA3-FC8D87759313}" type="presParOf" srcId="{343B942D-E79B-4C39-BC6E-DC3F826323AD}" destId="{892A3BA8-7B80-4289-AF52-284996A5CBF1}" srcOrd="0" destOrd="0" presId="urn:microsoft.com/office/officeart/2016/7/layout/BasicLinearProcessNumbered"/>
    <dgm:cxn modelId="{2B43889C-E067-412E-8764-82502E9FCB3F}" type="presParOf" srcId="{343B942D-E79B-4C39-BC6E-DC3F826323AD}" destId="{A149C1A8-DC9D-4875-99AB-30A556C23ECF}" srcOrd="1" destOrd="0" presId="urn:microsoft.com/office/officeart/2016/7/layout/BasicLinearProcessNumbered"/>
    <dgm:cxn modelId="{EE6C02F9-39FB-4616-A0BD-1341047B1394}" type="presParOf" srcId="{343B942D-E79B-4C39-BC6E-DC3F826323AD}" destId="{C1B3B87A-3356-4FA4-B97C-E75CD3395617}" srcOrd="2" destOrd="0" presId="urn:microsoft.com/office/officeart/2016/7/layout/BasicLinearProcessNumbered"/>
    <dgm:cxn modelId="{8294A23F-FDEB-41D5-AC45-D031158CE667}" type="presParOf" srcId="{343B942D-E79B-4C39-BC6E-DC3F826323AD}" destId="{79D3657F-F8FE-4D31-B2CE-723CC2C0F134}" srcOrd="3" destOrd="0" presId="urn:microsoft.com/office/officeart/2016/7/layout/BasicLinearProcessNumbered"/>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662613F-A14B-4C48-8399-C26E9D0FAD8E}">
      <dsp:nvSpPr>
        <dsp:cNvPr id="0" name=""/>
        <dsp:cNvSpPr/>
      </dsp:nvSpPr>
      <dsp:spPr>
        <a:xfrm>
          <a:off x="0" y="108773"/>
          <a:ext cx="5721484" cy="914940"/>
        </a:xfrm>
        <a:prstGeom prst="roundRect">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en-CA" sz="2300" kern="1200"/>
            <a:t>This is the real work horse of the system and “pumps” out the code and tests.</a:t>
          </a:r>
          <a:endParaRPr lang="en-US" sz="2300" kern="1200"/>
        </a:p>
      </dsp:txBody>
      <dsp:txXfrm>
        <a:off x="44664" y="153437"/>
        <a:ext cx="5632156" cy="825612"/>
      </dsp:txXfrm>
    </dsp:sp>
    <dsp:sp modelId="{B969FE15-8D0A-4758-9820-171A2E4755F7}">
      <dsp:nvSpPr>
        <dsp:cNvPr id="0" name=""/>
        <dsp:cNvSpPr/>
      </dsp:nvSpPr>
      <dsp:spPr>
        <a:xfrm>
          <a:off x="0" y="1089954"/>
          <a:ext cx="5721484" cy="914940"/>
        </a:xfrm>
        <a:prstGeom prst="roundRect">
          <a:avLst/>
        </a:prstGeom>
        <a:solidFill>
          <a:schemeClr val="accent2">
            <a:hueOff val="6443614"/>
            <a:satOff val="-18493"/>
            <a:lumOff val="-29609"/>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en-CA" sz="2300" kern="1200"/>
            <a:t>The [coder] agent is given instructions to:</a:t>
          </a:r>
          <a:endParaRPr lang="en-US" sz="2300" kern="1200"/>
        </a:p>
      </dsp:txBody>
      <dsp:txXfrm>
        <a:off x="44664" y="1134618"/>
        <a:ext cx="5632156" cy="825612"/>
      </dsp:txXfrm>
    </dsp:sp>
    <dsp:sp modelId="{8C077975-D15D-48B1-8FBB-686C449DF6CD}">
      <dsp:nvSpPr>
        <dsp:cNvPr id="0" name=""/>
        <dsp:cNvSpPr/>
      </dsp:nvSpPr>
      <dsp:spPr>
        <a:xfrm>
          <a:off x="0" y="2004894"/>
          <a:ext cx="5721484" cy="223767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81657" tIns="29210" rIns="163576" bIns="29210" numCol="1" spcCol="1270" anchor="t" anchorCtr="0">
          <a:noAutofit/>
        </a:bodyPr>
        <a:lstStyle/>
        <a:p>
          <a:pPr marL="171450" lvl="1" indent="-171450" algn="l" defTabSz="800100">
            <a:lnSpc>
              <a:spcPct val="90000"/>
            </a:lnSpc>
            <a:spcBef>
              <a:spcPct val="0"/>
            </a:spcBef>
            <a:spcAft>
              <a:spcPct val="20000"/>
            </a:spcAft>
            <a:buChar char="•"/>
          </a:pPr>
          <a:r>
            <a:rPr lang="en-CA" sz="1800" kern="1200"/>
            <a:t>Be concise and efficient with coding changes and to minimize refactoring (unless explicitly instructed to do so).</a:t>
          </a:r>
          <a:endParaRPr lang="en-US" sz="1800" kern="1200"/>
        </a:p>
        <a:p>
          <a:pPr marL="171450" lvl="1" indent="-171450" algn="l" defTabSz="800100">
            <a:lnSpc>
              <a:spcPct val="90000"/>
            </a:lnSpc>
            <a:spcBef>
              <a:spcPct val="0"/>
            </a:spcBef>
            <a:spcAft>
              <a:spcPct val="20000"/>
            </a:spcAft>
            <a:buChar char="•"/>
          </a:pPr>
          <a:r>
            <a:rPr lang="en-CA" sz="1800" kern="1200"/>
            <a:t>Read and understand existing design patterns and architecture decisions. </a:t>
          </a:r>
          <a:endParaRPr lang="en-US" sz="1800" kern="1200"/>
        </a:p>
        <a:p>
          <a:pPr marL="171450" lvl="1" indent="-171450" algn="l" defTabSz="800100">
            <a:lnSpc>
              <a:spcPct val="90000"/>
            </a:lnSpc>
            <a:spcBef>
              <a:spcPct val="0"/>
            </a:spcBef>
            <a:spcAft>
              <a:spcPct val="20000"/>
            </a:spcAft>
            <a:buChar char="•"/>
          </a:pPr>
          <a:r>
            <a:rPr lang="en-CA" sz="1800" kern="1200"/>
            <a:t>Write appropriate unit tests.</a:t>
          </a:r>
          <a:endParaRPr lang="en-US" sz="1800" kern="1200"/>
        </a:p>
        <a:p>
          <a:pPr marL="171450" lvl="1" indent="-171450" algn="l" defTabSz="800100">
            <a:lnSpc>
              <a:spcPct val="90000"/>
            </a:lnSpc>
            <a:spcBef>
              <a:spcPct val="0"/>
            </a:spcBef>
            <a:spcAft>
              <a:spcPct val="20000"/>
            </a:spcAft>
            <a:buChar char="•"/>
          </a:pPr>
          <a:r>
            <a:rPr lang="en-CA" sz="1800" kern="1200"/>
            <a:t>Write well documented pull requests with screenshots where it makes sense.</a:t>
          </a:r>
          <a:endParaRPr lang="en-US" sz="1800" kern="1200"/>
        </a:p>
      </dsp:txBody>
      <dsp:txXfrm>
        <a:off x="0" y="2004894"/>
        <a:ext cx="5721484" cy="223767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D327069-2476-4D34-85A3-5E1E8DFAFD92}">
      <dsp:nvSpPr>
        <dsp:cNvPr id="0" name=""/>
        <dsp:cNvSpPr/>
      </dsp:nvSpPr>
      <dsp:spPr>
        <a:xfrm>
          <a:off x="3594" y="813467"/>
          <a:ext cx="1946002" cy="2724403"/>
        </a:xfrm>
        <a:prstGeom prst="rect">
          <a:avLst/>
        </a:prstGeom>
        <a:solidFill>
          <a:schemeClr val="accent2">
            <a:tint val="40000"/>
            <a:alpha val="90000"/>
            <a:hueOff val="0"/>
            <a:satOff val="0"/>
            <a:lumOff val="0"/>
            <a:alphaOff val="0"/>
          </a:schemeClr>
        </a:solidFill>
        <a:ln w="19050" cap="flat" cmpd="sng" algn="ctr">
          <a:solidFill>
            <a:schemeClr val="accent2">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51718" tIns="330200" rIns="151718" bIns="330200" numCol="1" spcCol="1270" anchor="t" anchorCtr="0">
          <a:noAutofit/>
        </a:bodyPr>
        <a:lstStyle/>
        <a:p>
          <a:pPr marL="0" lvl="0" indent="0" algn="l" defTabSz="577850">
            <a:lnSpc>
              <a:spcPct val="90000"/>
            </a:lnSpc>
            <a:spcBef>
              <a:spcPct val="0"/>
            </a:spcBef>
            <a:spcAft>
              <a:spcPct val="35000"/>
            </a:spcAft>
            <a:buNone/>
          </a:pPr>
          <a:r>
            <a:rPr lang="en-US" sz="1300" kern="1200" dirty="0"/>
            <a:t>Secure key resources including Jeff, PVZ, Nick Van Exan and potentially Kristen Boyd.</a:t>
          </a:r>
        </a:p>
      </dsp:txBody>
      <dsp:txXfrm>
        <a:off x="3594" y="1848740"/>
        <a:ext cx="1946002" cy="1634641"/>
      </dsp:txXfrm>
    </dsp:sp>
    <dsp:sp modelId="{497549E4-8FB1-4897-B53D-B6A344941FE5}">
      <dsp:nvSpPr>
        <dsp:cNvPr id="0" name=""/>
        <dsp:cNvSpPr/>
      </dsp:nvSpPr>
      <dsp:spPr>
        <a:xfrm>
          <a:off x="567934" y="1085907"/>
          <a:ext cx="817320" cy="817320"/>
        </a:xfrm>
        <a:prstGeom prst="ellipse">
          <a:avLst/>
        </a:prstGeom>
        <a:solidFill>
          <a:schemeClr val="accent2">
            <a:hueOff val="0"/>
            <a:satOff val="0"/>
            <a:lumOff val="0"/>
            <a:alphaOff val="0"/>
          </a:schemeClr>
        </a:solidFill>
        <a:ln w="1905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3722" tIns="12700" rIns="63722" bIns="12700" numCol="1" spcCol="1270" anchor="ctr" anchorCtr="0">
          <a:noAutofit/>
        </a:bodyPr>
        <a:lstStyle/>
        <a:p>
          <a:pPr marL="0" lvl="0" indent="0" algn="ctr" defTabSz="1733550">
            <a:lnSpc>
              <a:spcPct val="90000"/>
            </a:lnSpc>
            <a:spcBef>
              <a:spcPct val="0"/>
            </a:spcBef>
            <a:spcAft>
              <a:spcPct val="35000"/>
            </a:spcAft>
            <a:buNone/>
          </a:pPr>
          <a:r>
            <a:rPr lang="en-US" sz="3900" kern="1200"/>
            <a:t>1</a:t>
          </a:r>
        </a:p>
      </dsp:txBody>
      <dsp:txXfrm>
        <a:off x="687628" y="1205601"/>
        <a:ext cx="577932" cy="577932"/>
      </dsp:txXfrm>
    </dsp:sp>
    <dsp:sp modelId="{FD225A42-9857-4EF5-A3A2-7CFA5407B396}">
      <dsp:nvSpPr>
        <dsp:cNvPr id="0" name=""/>
        <dsp:cNvSpPr/>
      </dsp:nvSpPr>
      <dsp:spPr>
        <a:xfrm>
          <a:off x="3594" y="3537798"/>
          <a:ext cx="1946002" cy="72"/>
        </a:xfrm>
        <a:prstGeom prst="rect">
          <a:avLst/>
        </a:prstGeom>
        <a:solidFill>
          <a:schemeClr val="accent2">
            <a:hueOff val="715957"/>
            <a:satOff val="-2055"/>
            <a:lumOff val="-3290"/>
            <a:alphaOff val="0"/>
          </a:schemeClr>
        </a:solidFill>
        <a:ln w="19050" cap="flat" cmpd="sng" algn="ctr">
          <a:solidFill>
            <a:schemeClr val="accent2">
              <a:hueOff val="715957"/>
              <a:satOff val="-2055"/>
              <a:lumOff val="-329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80097B7-449A-41C2-9214-D65F4FF6AC04}">
      <dsp:nvSpPr>
        <dsp:cNvPr id="0" name=""/>
        <dsp:cNvSpPr/>
      </dsp:nvSpPr>
      <dsp:spPr>
        <a:xfrm>
          <a:off x="2144196" y="813467"/>
          <a:ext cx="1946002" cy="2724403"/>
        </a:xfrm>
        <a:prstGeom prst="rect">
          <a:avLst/>
        </a:prstGeom>
        <a:solidFill>
          <a:schemeClr val="accent2">
            <a:tint val="40000"/>
            <a:alpha val="90000"/>
            <a:hueOff val="1683680"/>
            <a:satOff val="-15558"/>
            <a:lumOff val="-1754"/>
            <a:alphaOff val="0"/>
          </a:schemeClr>
        </a:solidFill>
        <a:ln w="19050" cap="flat" cmpd="sng" algn="ctr">
          <a:solidFill>
            <a:schemeClr val="accent2">
              <a:tint val="40000"/>
              <a:alpha val="90000"/>
              <a:hueOff val="1683680"/>
              <a:satOff val="-15558"/>
              <a:lumOff val="-1754"/>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51718" tIns="330200" rIns="151718" bIns="330200" numCol="1" spcCol="1270" anchor="t" anchorCtr="0">
          <a:noAutofit/>
        </a:bodyPr>
        <a:lstStyle/>
        <a:p>
          <a:pPr marL="0" lvl="0" indent="0" algn="l" defTabSz="577850">
            <a:lnSpc>
              <a:spcPct val="90000"/>
            </a:lnSpc>
            <a:spcBef>
              <a:spcPct val="0"/>
            </a:spcBef>
            <a:spcAft>
              <a:spcPct val="35000"/>
            </a:spcAft>
            <a:buNone/>
          </a:pPr>
          <a:r>
            <a:rPr lang="en-US" sz="1300" kern="1200" dirty="0"/>
            <a:t>Take a modest salary to focus 100% of my attention in A2D</a:t>
          </a:r>
        </a:p>
      </dsp:txBody>
      <dsp:txXfrm>
        <a:off x="2144196" y="1848740"/>
        <a:ext cx="1946002" cy="1634641"/>
      </dsp:txXfrm>
    </dsp:sp>
    <dsp:sp modelId="{E8BC76C8-A8FD-42C5-AE6F-EC690AC4E66B}">
      <dsp:nvSpPr>
        <dsp:cNvPr id="0" name=""/>
        <dsp:cNvSpPr/>
      </dsp:nvSpPr>
      <dsp:spPr>
        <a:xfrm>
          <a:off x="2708537" y="1085907"/>
          <a:ext cx="817320" cy="817320"/>
        </a:xfrm>
        <a:prstGeom prst="ellipse">
          <a:avLst/>
        </a:prstGeom>
        <a:solidFill>
          <a:schemeClr val="accent2">
            <a:hueOff val="1431914"/>
            <a:satOff val="-4110"/>
            <a:lumOff val="-6580"/>
            <a:alphaOff val="0"/>
          </a:schemeClr>
        </a:solidFill>
        <a:ln w="19050" cap="flat" cmpd="sng" algn="ctr">
          <a:solidFill>
            <a:schemeClr val="accent2">
              <a:hueOff val="1431914"/>
              <a:satOff val="-4110"/>
              <a:lumOff val="-658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3722" tIns="12700" rIns="63722" bIns="12700" numCol="1" spcCol="1270" anchor="ctr" anchorCtr="0">
          <a:noAutofit/>
        </a:bodyPr>
        <a:lstStyle/>
        <a:p>
          <a:pPr marL="0" lvl="0" indent="0" algn="ctr" defTabSz="1733550">
            <a:lnSpc>
              <a:spcPct val="90000"/>
            </a:lnSpc>
            <a:spcBef>
              <a:spcPct val="0"/>
            </a:spcBef>
            <a:spcAft>
              <a:spcPct val="35000"/>
            </a:spcAft>
            <a:buNone/>
          </a:pPr>
          <a:r>
            <a:rPr lang="en-US" sz="3900" kern="1200"/>
            <a:t>2</a:t>
          </a:r>
        </a:p>
      </dsp:txBody>
      <dsp:txXfrm>
        <a:off x="2828231" y="1205601"/>
        <a:ext cx="577932" cy="577932"/>
      </dsp:txXfrm>
    </dsp:sp>
    <dsp:sp modelId="{47C38FDE-0EBB-4E8B-8272-9133DECDB430}">
      <dsp:nvSpPr>
        <dsp:cNvPr id="0" name=""/>
        <dsp:cNvSpPr/>
      </dsp:nvSpPr>
      <dsp:spPr>
        <a:xfrm>
          <a:off x="2144196" y="3537798"/>
          <a:ext cx="1946002" cy="72"/>
        </a:xfrm>
        <a:prstGeom prst="rect">
          <a:avLst/>
        </a:prstGeom>
        <a:solidFill>
          <a:schemeClr val="accent2">
            <a:hueOff val="2147871"/>
            <a:satOff val="-6164"/>
            <a:lumOff val="-9870"/>
            <a:alphaOff val="0"/>
          </a:schemeClr>
        </a:solidFill>
        <a:ln w="19050" cap="flat" cmpd="sng" algn="ctr">
          <a:solidFill>
            <a:schemeClr val="accent2">
              <a:hueOff val="2147871"/>
              <a:satOff val="-6164"/>
              <a:lumOff val="-987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24B6A28-A87D-433D-8EF0-6E6A769A04AC}">
      <dsp:nvSpPr>
        <dsp:cNvPr id="0" name=""/>
        <dsp:cNvSpPr/>
      </dsp:nvSpPr>
      <dsp:spPr>
        <a:xfrm>
          <a:off x="4284798" y="813467"/>
          <a:ext cx="1946002" cy="2724403"/>
        </a:xfrm>
        <a:prstGeom prst="rect">
          <a:avLst/>
        </a:prstGeom>
        <a:solidFill>
          <a:schemeClr val="accent2">
            <a:tint val="40000"/>
            <a:alpha val="90000"/>
            <a:hueOff val="3367359"/>
            <a:satOff val="-31116"/>
            <a:lumOff val="-3508"/>
            <a:alphaOff val="0"/>
          </a:schemeClr>
        </a:solidFill>
        <a:ln w="19050" cap="flat" cmpd="sng" algn="ctr">
          <a:solidFill>
            <a:schemeClr val="accent2">
              <a:tint val="40000"/>
              <a:alpha val="90000"/>
              <a:hueOff val="3367359"/>
              <a:satOff val="-31116"/>
              <a:lumOff val="-3508"/>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51718" tIns="330200" rIns="151718" bIns="330200" numCol="1" spcCol="1270" anchor="t" anchorCtr="0">
          <a:noAutofit/>
        </a:bodyPr>
        <a:lstStyle/>
        <a:p>
          <a:pPr marL="0" lvl="0" indent="0" algn="l" defTabSz="577850">
            <a:lnSpc>
              <a:spcPct val="90000"/>
            </a:lnSpc>
            <a:spcBef>
              <a:spcPct val="0"/>
            </a:spcBef>
            <a:spcAft>
              <a:spcPct val="35000"/>
            </a:spcAft>
            <a:buNone/>
          </a:pPr>
          <a:r>
            <a:rPr lang="en-US" sz="1300" kern="1200"/>
            <a:t>Build out the key artifacts, workflows with custom MCP integrations</a:t>
          </a:r>
        </a:p>
      </dsp:txBody>
      <dsp:txXfrm>
        <a:off x="4284798" y="1848740"/>
        <a:ext cx="1946002" cy="1634641"/>
      </dsp:txXfrm>
    </dsp:sp>
    <dsp:sp modelId="{30578B2C-7FC4-4D4B-B105-184FD391500E}">
      <dsp:nvSpPr>
        <dsp:cNvPr id="0" name=""/>
        <dsp:cNvSpPr/>
      </dsp:nvSpPr>
      <dsp:spPr>
        <a:xfrm>
          <a:off x="4849139" y="1085907"/>
          <a:ext cx="817320" cy="817320"/>
        </a:xfrm>
        <a:prstGeom prst="ellipse">
          <a:avLst/>
        </a:prstGeom>
        <a:solidFill>
          <a:schemeClr val="accent2">
            <a:hueOff val="2863828"/>
            <a:satOff val="-8219"/>
            <a:lumOff val="-13160"/>
            <a:alphaOff val="0"/>
          </a:schemeClr>
        </a:solidFill>
        <a:ln w="19050" cap="flat" cmpd="sng" algn="ctr">
          <a:solidFill>
            <a:schemeClr val="accent2">
              <a:hueOff val="2863828"/>
              <a:satOff val="-8219"/>
              <a:lumOff val="-1316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3722" tIns="12700" rIns="63722" bIns="12700" numCol="1" spcCol="1270" anchor="ctr" anchorCtr="0">
          <a:noAutofit/>
        </a:bodyPr>
        <a:lstStyle/>
        <a:p>
          <a:pPr marL="0" lvl="0" indent="0" algn="ctr" defTabSz="1733550">
            <a:lnSpc>
              <a:spcPct val="90000"/>
            </a:lnSpc>
            <a:spcBef>
              <a:spcPct val="0"/>
            </a:spcBef>
            <a:spcAft>
              <a:spcPct val="35000"/>
            </a:spcAft>
            <a:buNone/>
          </a:pPr>
          <a:r>
            <a:rPr lang="en-US" sz="3900" kern="1200"/>
            <a:t>3</a:t>
          </a:r>
        </a:p>
      </dsp:txBody>
      <dsp:txXfrm>
        <a:off x="4968833" y="1205601"/>
        <a:ext cx="577932" cy="577932"/>
      </dsp:txXfrm>
    </dsp:sp>
    <dsp:sp modelId="{6BA8EED3-570F-4859-901D-E5215A9BA74C}">
      <dsp:nvSpPr>
        <dsp:cNvPr id="0" name=""/>
        <dsp:cNvSpPr/>
      </dsp:nvSpPr>
      <dsp:spPr>
        <a:xfrm>
          <a:off x="4284798" y="3537798"/>
          <a:ext cx="1946002" cy="72"/>
        </a:xfrm>
        <a:prstGeom prst="rect">
          <a:avLst/>
        </a:prstGeom>
        <a:solidFill>
          <a:schemeClr val="accent2">
            <a:hueOff val="3579786"/>
            <a:satOff val="-10274"/>
            <a:lumOff val="-16449"/>
            <a:alphaOff val="0"/>
          </a:schemeClr>
        </a:solidFill>
        <a:ln w="19050" cap="flat" cmpd="sng" algn="ctr">
          <a:solidFill>
            <a:schemeClr val="accent2">
              <a:hueOff val="3579786"/>
              <a:satOff val="-10274"/>
              <a:lumOff val="-16449"/>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61FA167-FB37-4D19-A94F-BA8D78A366D8}">
      <dsp:nvSpPr>
        <dsp:cNvPr id="0" name=""/>
        <dsp:cNvSpPr/>
      </dsp:nvSpPr>
      <dsp:spPr>
        <a:xfrm>
          <a:off x="6425401" y="813467"/>
          <a:ext cx="1946002" cy="2724403"/>
        </a:xfrm>
        <a:prstGeom prst="rect">
          <a:avLst/>
        </a:prstGeom>
        <a:solidFill>
          <a:schemeClr val="accent2">
            <a:tint val="40000"/>
            <a:alpha val="90000"/>
            <a:hueOff val="5051039"/>
            <a:satOff val="-46674"/>
            <a:lumOff val="-5261"/>
            <a:alphaOff val="0"/>
          </a:schemeClr>
        </a:solidFill>
        <a:ln w="19050" cap="flat" cmpd="sng" algn="ctr">
          <a:solidFill>
            <a:schemeClr val="accent2">
              <a:tint val="40000"/>
              <a:alpha val="90000"/>
              <a:hueOff val="5051039"/>
              <a:satOff val="-46674"/>
              <a:lumOff val="-5261"/>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51718" tIns="330200" rIns="151718" bIns="330200" numCol="1" spcCol="1270" anchor="t" anchorCtr="0">
          <a:noAutofit/>
        </a:bodyPr>
        <a:lstStyle/>
        <a:p>
          <a:pPr marL="0" lvl="0" indent="0" algn="l" defTabSz="577850">
            <a:lnSpc>
              <a:spcPct val="90000"/>
            </a:lnSpc>
            <a:spcBef>
              <a:spcPct val="0"/>
            </a:spcBef>
            <a:spcAft>
              <a:spcPct val="35000"/>
            </a:spcAft>
            <a:buNone/>
          </a:pPr>
          <a:r>
            <a:rPr lang="en-US" sz="1300" kern="1200" dirty="0"/>
            <a:t>Build prototype of </a:t>
          </a:r>
          <a:r>
            <a:rPr lang="en-US" sz="1300" kern="1200" dirty="0" err="1"/>
            <a:t>CodeLantern</a:t>
          </a:r>
          <a:r>
            <a:rPr lang="en-US" sz="1300" kern="1200" dirty="0"/>
            <a:t> MCP server to assess viability – Pay for AI and software licenses</a:t>
          </a:r>
        </a:p>
      </dsp:txBody>
      <dsp:txXfrm>
        <a:off x="6425401" y="1848740"/>
        <a:ext cx="1946002" cy="1634641"/>
      </dsp:txXfrm>
    </dsp:sp>
    <dsp:sp modelId="{BD777F8B-94F9-4DAF-BB31-7774F641A3A3}">
      <dsp:nvSpPr>
        <dsp:cNvPr id="0" name=""/>
        <dsp:cNvSpPr/>
      </dsp:nvSpPr>
      <dsp:spPr>
        <a:xfrm>
          <a:off x="6989741" y="1085907"/>
          <a:ext cx="817320" cy="817320"/>
        </a:xfrm>
        <a:prstGeom prst="ellipse">
          <a:avLst/>
        </a:prstGeom>
        <a:solidFill>
          <a:schemeClr val="accent2">
            <a:hueOff val="4295743"/>
            <a:satOff val="-12329"/>
            <a:lumOff val="-19739"/>
            <a:alphaOff val="0"/>
          </a:schemeClr>
        </a:solidFill>
        <a:ln w="19050" cap="flat" cmpd="sng" algn="ctr">
          <a:solidFill>
            <a:schemeClr val="accent2">
              <a:hueOff val="4295743"/>
              <a:satOff val="-12329"/>
              <a:lumOff val="-19739"/>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3722" tIns="12700" rIns="63722" bIns="12700" numCol="1" spcCol="1270" anchor="ctr" anchorCtr="0">
          <a:noAutofit/>
        </a:bodyPr>
        <a:lstStyle/>
        <a:p>
          <a:pPr marL="0" lvl="0" indent="0" algn="ctr" defTabSz="1733550">
            <a:lnSpc>
              <a:spcPct val="90000"/>
            </a:lnSpc>
            <a:spcBef>
              <a:spcPct val="0"/>
            </a:spcBef>
            <a:spcAft>
              <a:spcPct val="35000"/>
            </a:spcAft>
            <a:buNone/>
          </a:pPr>
          <a:r>
            <a:rPr lang="en-US" sz="3900" kern="1200"/>
            <a:t>4</a:t>
          </a:r>
        </a:p>
      </dsp:txBody>
      <dsp:txXfrm>
        <a:off x="7109435" y="1205601"/>
        <a:ext cx="577932" cy="577932"/>
      </dsp:txXfrm>
    </dsp:sp>
    <dsp:sp modelId="{FE0DE0BD-3A25-4AB0-926E-F81C82B547F0}">
      <dsp:nvSpPr>
        <dsp:cNvPr id="0" name=""/>
        <dsp:cNvSpPr/>
      </dsp:nvSpPr>
      <dsp:spPr>
        <a:xfrm>
          <a:off x="6425401" y="3537798"/>
          <a:ext cx="1946002" cy="72"/>
        </a:xfrm>
        <a:prstGeom prst="rect">
          <a:avLst/>
        </a:prstGeom>
        <a:solidFill>
          <a:schemeClr val="accent2">
            <a:hueOff val="5011700"/>
            <a:satOff val="-14383"/>
            <a:lumOff val="-23029"/>
            <a:alphaOff val="0"/>
          </a:schemeClr>
        </a:solidFill>
        <a:ln w="19050" cap="flat" cmpd="sng" algn="ctr">
          <a:solidFill>
            <a:schemeClr val="accent2">
              <a:hueOff val="5011700"/>
              <a:satOff val="-14383"/>
              <a:lumOff val="-23029"/>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92A3BA8-7B80-4289-AF52-284996A5CBF1}">
      <dsp:nvSpPr>
        <dsp:cNvPr id="0" name=""/>
        <dsp:cNvSpPr/>
      </dsp:nvSpPr>
      <dsp:spPr>
        <a:xfrm>
          <a:off x="8566003" y="813467"/>
          <a:ext cx="1946002" cy="2724403"/>
        </a:xfrm>
        <a:prstGeom prst="rect">
          <a:avLst/>
        </a:prstGeom>
        <a:solidFill>
          <a:schemeClr val="accent2">
            <a:tint val="40000"/>
            <a:alpha val="90000"/>
            <a:hueOff val="6734718"/>
            <a:satOff val="-62232"/>
            <a:lumOff val="-7015"/>
            <a:alphaOff val="0"/>
          </a:schemeClr>
        </a:solidFill>
        <a:ln w="19050" cap="flat" cmpd="sng" algn="ctr">
          <a:solidFill>
            <a:schemeClr val="accent2">
              <a:tint val="40000"/>
              <a:alpha val="90000"/>
              <a:hueOff val="6734718"/>
              <a:satOff val="-62232"/>
              <a:lumOff val="-7015"/>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51718" tIns="330200" rIns="151718" bIns="330200" numCol="1" spcCol="1270" anchor="t" anchorCtr="0">
          <a:noAutofit/>
        </a:bodyPr>
        <a:lstStyle/>
        <a:p>
          <a:pPr marL="0" lvl="0" indent="0" algn="l" defTabSz="577850">
            <a:lnSpc>
              <a:spcPct val="90000"/>
            </a:lnSpc>
            <a:spcBef>
              <a:spcPct val="0"/>
            </a:spcBef>
            <a:spcAft>
              <a:spcPct val="35000"/>
            </a:spcAft>
            <a:buNone/>
          </a:pPr>
          <a:r>
            <a:rPr lang="en-US" sz="1300" kern="1200" dirty="0"/>
            <a:t>Get reference customers</a:t>
          </a:r>
        </a:p>
        <a:p>
          <a:pPr marL="0" lvl="0" indent="0" algn="l" defTabSz="577850">
            <a:lnSpc>
              <a:spcPct val="90000"/>
            </a:lnSpc>
            <a:spcBef>
              <a:spcPct val="0"/>
            </a:spcBef>
            <a:spcAft>
              <a:spcPct val="35000"/>
            </a:spcAft>
            <a:buNone/>
          </a:pPr>
          <a:r>
            <a:rPr lang="en-US" sz="1300" kern="1200" dirty="0"/>
            <a:t>- Build out sales collateral and brand</a:t>
          </a:r>
        </a:p>
      </dsp:txBody>
      <dsp:txXfrm>
        <a:off x="8566003" y="1848740"/>
        <a:ext cx="1946002" cy="1634641"/>
      </dsp:txXfrm>
    </dsp:sp>
    <dsp:sp modelId="{A149C1A8-DC9D-4875-99AB-30A556C23ECF}">
      <dsp:nvSpPr>
        <dsp:cNvPr id="0" name=""/>
        <dsp:cNvSpPr/>
      </dsp:nvSpPr>
      <dsp:spPr>
        <a:xfrm>
          <a:off x="9130344" y="1085907"/>
          <a:ext cx="817320" cy="817320"/>
        </a:xfrm>
        <a:prstGeom prst="ellipse">
          <a:avLst/>
        </a:prstGeom>
        <a:solidFill>
          <a:schemeClr val="accent2">
            <a:hueOff val="5727657"/>
            <a:satOff val="-16438"/>
            <a:lumOff val="-26319"/>
            <a:alphaOff val="0"/>
          </a:schemeClr>
        </a:solidFill>
        <a:ln w="19050" cap="flat" cmpd="sng" algn="ctr">
          <a:solidFill>
            <a:schemeClr val="accent2">
              <a:hueOff val="5727657"/>
              <a:satOff val="-16438"/>
              <a:lumOff val="-26319"/>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3722" tIns="12700" rIns="63722" bIns="12700" numCol="1" spcCol="1270" anchor="ctr" anchorCtr="0">
          <a:noAutofit/>
        </a:bodyPr>
        <a:lstStyle/>
        <a:p>
          <a:pPr marL="0" lvl="0" indent="0" algn="ctr" defTabSz="1733550">
            <a:lnSpc>
              <a:spcPct val="90000"/>
            </a:lnSpc>
            <a:spcBef>
              <a:spcPct val="0"/>
            </a:spcBef>
            <a:spcAft>
              <a:spcPct val="35000"/>
            </a:spcAft>
            <a:buNone/>
          </a:pPr>
          <a:r>
            <a:rPr lang="en-US" sz="3900" kern="1200"/>
            <a:t>5</a:t>
          </a:r>
        </a:p>
      </dsp:txBody>
      <dsp:txXfrm>
        <a:off x="9250038" y="1205601"/>
        <a:ext cx="577932" cy="577932"/>
      </dsp:txXfrm>
    </dsp:sp>
    <dsp:sp modelId="{C1B3B87A-3356-4FA4-B97C-E75CD3395617}">
      <dsp:nvSpPr>
        <dsp:cNvPr id="0" name=""/>
        <dsp:cNvSpPr/>
      </dsp:nvSpPr>
      <dsp:spPr>
        <a:xfrm>
          <a:off x="8566003" y="3537798"/>
          <a:ext cx="1946002" cy="72"/>
        </a:xfrm>
        <a:prstGeom prst="rect">
          <a:avLst/>
        </a:prstGeom>
        <a:solidFill>
          <a:schemeClr val="accent2">
            <a:hueOff val="6443614"/>
            <a:satOff val="-18493"/>
            <a:lumOff val="-29609"/>
            <a:alphaOff val="0"/>
          </a:schemeClr>
        </a:solidFill>
        <a:ln w="19050" cap="flat" cmpd="sng" algn="ctr">
          <a:solidFill>
            <a:schemeClr val="accent2">
              <a:hueOff val="6443614"/>
              <a:satOff val="-18493"/>
              <a:lumOff val="-29609"/>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16/7/layout/BasicLinearProcessNumbered">
  <dgm:title val="Basic Linear Process Numbered"/>
  <dgm:desc val="Used to show a progression; a timeline; sequential steps in a task, process, or workflow; or to emphasize movement or direction. Automatic numbers have been introduced to show the steps of the process which appears in a circle. Level 1 and Level 2 text appear in a rectangle."/>
  <dgm:catLst>
    <dgm:cat type="process" pri="5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101" type="sibTrans" cxnId="4">
          <dgm:prSet phldrT="1"/>
          <dgm:t>
            <a:bodyPr/>
            <a:lstStyle/>
            <a:p>
              <a:r>
                <a:t>1</a:t>
              </a:r>
            </a:p>
          </dgm:t>
        </dgm:pt>
        <dgm:pt modelId="201" type="sibTrans" cxnId="5">
          <dgm:prSet phldrT="2"/>
          <dgm:t>
            <a:bodyPr/>
            <a:lstStyle/>
            <a:p>
              <a:r>
                <a:t>2</a:t>
              </a:r>
            </a:p>
          </dgm:t>
        </dgm:pt>
        <dgm:pt modelId="301" type="sibTrans" cxnId="6">
          <dgm:prSet phldrT="3"/>
          <dgm:t>
            <a:bodyPr/>
            <a:lstStyle/>
            <a:p>
              <a:r>
                <a:t>3</a:t>
              </a:r>
            </a:p>
          </dgm:t>
        </dgm:pt>
      </dgm:ptLst>
      <dgm:cxnLst>
        <dgm:cxn modelId="4" srcId="0" destId="1" srcOrd="0" destOrd="0" sibTransId="101"/>
        <dgm:cxn modelId="5" srcId="0" destId="2" srcOrd="1" destOrd="0" sibTransId="201"/>
        <dgm:cxn modelId="6" srcId="0" destId="3" srcOrd="2" destOrd="0" sibTransId="301"/>
        <dgm:cxn modelId="13" srcId="1" destId="11" srcOrd="0" destOrd="0"/>
        <dgm:cxn modelId="23" srcId="2" destId="21" srcOrd="0" destOrd="0"/>
        <dgm:cxn modelId="33" srcId="3" destId="31"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animLvl val="lvl"/>
      <dgm:resizeHandles val="exact"/>
    </dgm:varLst>
    <dgm:alg type="lin">
      <dgm:param type="linDir" val="fromL"/>
      <dgm:param type="nodeVertAlign" val="t"/>
    </dgm:alg>
    <dgm:shape xmlns:r="http://schemas.openxmlformats.org/officeDocument/2006/relationships" r:blip="">
      <dgm:adjLst/>
    </dgm:shape>
    <dgm:presOf/>
    <dgm:constrLst>
      <dgm:constr type="h" for="ch" forName="compositeNode" refType="h"/>
      <dgm:constr type="w" for="ch" forName="compositeNode" refType="w"/>
      <dgm:constr type="w" for="des" forName="simulatedConn" refType="w" refFor="ch" refForName="compositeNode" fact="0.15"/>
      <dgm:constr type="h" for="des" forName="simulatedConn" refType="w" refFor="des" refForName="simulatedConn"/>
      <dgm:constr type="h" for="des" forName="vSp1" refType="w" refFor="ch" refForName="compositeNode" fact="0.8"/>
      <dgm:constr type="h" for="des" forName="vSp2" refType="w" refFor="ch" refForName="compositeNode" fact="0.07"/>
      <dgm:constr type="w" for="ch" forName="vProcSp" refType="w" refFor="des" refForName="simulatedConn" op="equ"/>
      <dgm:constr type="h" for="ch" forName="vProcSp" refType="h" refFor="ch" refForName="compositeNode" op="equ"/>
      <dgm:constr type="w" for="ch" forName="sibTrans" refType="w" refFor="ch" refForName="compositeNode" fact="0.1"/>
      <dgm:constr type="primFontSz" for="des" forName="sibTransNodeCircle" op="equ"/>
      <dgm:constr type="primFontSz" for="des" forName="nodeText" op="equ"/>
      <dgm:constr type="h" for="des" forName="sibTransNodeCircle" op="equ"/>
      <dgm:constr type="w" for="des" forName="sibTransNodeCircle" op="equ"/>
    </dgm:constrLst>
    <dgm:ruleLst>
      <dgm:rule type="h" val="NaN" fact="1.2" max="NaN"/>
    </dgm:ruleLst>
    <dgm:forEach name="Name4" axis="ch" ptType="node">
      <dgm:layoutNode name="compositeNode">
        <dgm:varLst>
          <dgm:bulletEnabled val="1"/>
        </dgm:varLst>
        <dgm:alg type="composite"/>
        <dgm:constrLst>
          <dgm:constr type="h" refType="w" op="lte" fact="1.4"/>
          <dgm:constr type="w" for="ch" forName="bgRect" refType="w"/>
          <dgm:constr type="h" for="ch" forName="bgRect" refType="h"/>
          <dgm:constr type="t" for="ch" forName="bgRect"/>
          <dgm:constr type="l" for="ch" forName="bgRect"/>
          <dgm:constr type="h" for="ch" forName="sibTransNodeCircle" refType="h" refFor="ch" refForName="bgRect" fact="0.3"/>
          <dgm:constr type="w" for="ch" forName="sibTransNodeCircle" refType="h" refFor="ch" refForName="sibTransNodeCircle"/>
          <dgm:constr type="ctrX" for="ch" forName="sibTransNodeCircle" refType="w" fact="0.5"/>
          <dgm:constr type="ctrY" for="ch" forName="sibTransNodeCircle" refType="h" fact="0.25"/>
          <dgm:constr type="r" for="ch" forName="nodeText" refType="r" refFor="ch" refForName="bgRect"/>
          <dgm:constr type="h" for="ch" forName="nodeText" refType="h" refFor="ch" refForName="bgRect" fact="0.6"/>
          <dgm:constr type="t" for="ch" forName="nodeText" refType="h" refFor="ch" refForName="bgRect" fact="0.38"/>
          <dgm:constr type="b" for="ch" forName="bottomLine" refType="b" refFor="ch" refForName="bgRect"/>
          <dgm:constr type="w" for="ch" forName="bottomLine" refType="w" refFor="ch" refForName="bgRect"/>
          <dgm:constr type="h" for="ch" forName="bottomLine" val="0.002"/>
        </dgm:constrLst>
        <dgm:ruleLst/>
        <dgm:layoutNode name="bgRect" styleLbl="bgAccFollowNode1">
          <dgm:alg type="sp"/>
          <dgm:shape xmlns:r="http://schemas.openxmlformats.org/officeDocument/2006/relationships" type="rect" r:blip="">
            <dgm:adjLst/>
          </dgm:shape>
          <dgm:presOf axis="self"/>
          <dgm:constrLst/>
          <dgm:ruleLst/>
        </dgm:layoutNode>
        <dgm:forEach name="Name19" axis="followSib" ptType="sibTrans" hideLastTrans="0" cnt="1">
          <dgm:layoutNode name="sibTransNodeCircle" styleLbl="alignNode1">
            <dgm:varLst>
              <dgm:chMax val="0"/>
              <dgm:bulletEnabled/>
            </dgm:varLst>
            <dgm:presOf axis="self" ptType="sibTrans"/>
            <dgm:alg type="tx">
              <dgm:param type="txAnchorVert" val="mid"/>
              <dgm:param type="txAnchorHorzCh" val="ctr"/>
            </dgm:alg>
            <dgm:shape xmlns:r="http://schemas.openxmlformats.org/officeDocument/2006/relationships" type="ellipse" r:blip="">
              <dgm:adjLst/>
            </dgm:shape>
            <dgm:constrLst>
              <dgm:constr type="w" refType="h" op="lte"/>
              <dgm:constr type="primFontSz" val="48"/>
              <dgm:constr type="tMarg" val="1"/>
              <dgm:constr type="lMarg" refType="w" fact="0.221"/>
              <dgm:constr type="rMarg" refType="w" fact="0.221"/>
              <dgm:constr type="bMarg" val="1"/>
            </dgm:constrLst>
            <dgm:ruleLst>
              <dgm:rule type="primFontSz" val="14" fact="NaN" max="NaN"/>
            </dgm:ruleLst>
          </dgm:layoutNode>
        </dgm:forEach>
        <dgm:layoutNode name="bottomLine" styleLbl="alignNode1">
          <dgm:varLst/>
          <dgm:presOf/>
          <dgm:alg type="sp"/>
          <dgm:shape xmlns:r="http://schemas.openxmlformats.org/officeDocument/2006/relationships" type="rect" r:blip="">
            <dgm:adjLst/>
          </dgm:shape>
          <dgm:constrLst/>
          <dgm:ruleLst/>
        </dgm:layoutNode>
        <dgm:layoutNode name="nodeText" styleLbl="bgAccFollowNode1" moveWith="bgRect">
          <dgm:varLst>
            <dgm:bulletEnabled val="1"/>
          </dgm:varLst>
          <dgm:alg type="tx">
            <dgm:param type="parTxLTRAlign" val="l"/>
            <dgm:param type="parTxRTLAlign" val="r"/>
            <dgm:param type="txAnchorVert" val="t"/>
          </dgm:alg>
          <dgm:shape xmlns:r="http://schemas.openxmlformats.org/officeDocument/2006/relationships" type="rect" r:blip="" zOrderOff="-1" hideGeom="1">
            <dgm:adjLst/>
          </dgm:shape>
          <dgm:presOf axis="desOrSelf" ptType="node"/>
          <dgm:constrLst>
            <dgm:constr type="primFontSz" val="26"/>
            <dgm:constr type="tMarg" val="26"/>
            <dgm:constr type="lMarg" refType="w" fact="0.221"/>
            <dgm:constr type="rMarg" refType="w" fact="0.221"/>
            <dgm:constr type="bMarg" val="26"/>
          </dgm:constrLst>
          <dgm:ruleLst>
            <dgm:rule type="primFontSz" val="11" fact="NaN" max="NaN"/>
          </dgm:ruleLst>
        </dgm:layoutNode>
      </dgm:layoutNode>
      <dgm:forEach name="Name14" axis="followSib" ptType="sibTrans" cnt="1">
        <dgm:layoutNode name="sibTrans">
          <dgm:alg type="sp"/>
          <dgm:shape xmlns:r="http://schemas.openxmlformats.org/officeDocument/2006/relationships" r:blip="">
            <dgm:adjLst/>
          </dgm:shape>
          <dgm:presOf/>
          <dgm:constrLst/>
          <dgm:ruleLst/>
        </dgm:layoutNode>
      </dgm:forEach>
    </dgm:forEach>
  </dgm:layoutNode>
  <dgm:extLst>
    <a:ext uri="{4F341089-5ED1-44EC-B178-C955D00A3D55}">
      <dgm1611:autoBuNodeInfoLst xmlns:dgm1611="http://schemas.microsoft.com/office/drawing/2016/11/diagram">
        <dgm1611:autoBuNodeInfo lvl="1" ptType="sibTrans">
          <dgm1611:buPr prefix="" leadZeros="0">
            <a:buAutoNum type="arabicParenBoth"/>
          </dgm1611:buPr>
        </dgm1611:autoBuNodeInfo>
      </dgm1611:autoBuNodeInfoLst>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5300" cy="465138"/>
          </a:xfrm>
          <a:prstGeom prst="rect">
            <a:avLst/>
          </a:prstGeom>
        </p:spPr>
        <p:txBody>
          <a:bodyPr vert="horz" lIns="91440" tIns="45720" rIns="91440" bIns="45720" rtlCol="0"/>
          <a:lstStyle>
            <a:lvl1pPr algn="l">
              <a:defRPr sz="1200"/>
            </a:lvl1pPr>
          </a:lstStyle>
          <a:p>
            <a:endParaRPr lang="en-CA"/>
          </a:p>
        </p:txBody>
      </p:sp>
      <p:sp>
        <p:nvSpPr>
          <p:cNvPr id="3" name="Date Placeholder 2"/>
          <p:cNvSpPr>
            <a:spLocks noGrp="1"/>
          </p:cNvSpPr>
          <p:nvPr>
            <p:ph type="dt" idx="1"/>
          </p:nvPr>
        </p:nvSpPr>
        <p:spPr>
          <a:xfrm>
            <a:off x="3967163" y="0"/>
            <a:ext cx="3035300" cy="465138"/>
          </a:xfrm>
          <a:prstGeom prst="rect">
            <a:avLst/>
          </a:prstGeom>
        </p:spPr>
        <p:txBody>
          <a:bodyPr vert="horz" lIns="91440" tIns="45720" rIns="91440" bIns="45720" rtlCol="0"/>
          <a:lstStyle>
            <a:lvl1pPr algn="r">
              <a:defRPr sz="1200"/>
            </a:lvl1pPr>
          </a:lstStyle>
          <a:p>
            <a:fld id="{726AE30B-1C7C-4541-8B93-3B3E43E55C90}" type="datetimeFigureOut">
              <a:rPr lang="en-CA" smtClean="0"/>
              <a:t>2025-11-17</a:t>
            </a:fld>
            <a:endParaRPr lang="en-CA"/>
          </a:p>
        </p:txBody>
      </p:sp>
      <p:sp>
        <p:nvSpPr>
          <p:cNvPr id="4" name="Slide Image Placeholder 3"/>
          <p:cNvSpPr>
            <a:spLocks noGrp="1" noRot="1" noChangeAspect="1"/>
          </p:cNvSpPr>
          <p:nvPr>
            <p:ph type="sldImg" idx="2"/>
          </p:nvPr>
        </p:nvSpPr>
        <p:spPr>
          <a:xfrm>
            <a:off x="714375" y="1162050"/>
            <a:ext cx="5575300" cy="3135313"/>
          </a:xfrm>
          <a:prstGeom prst="rect">
            <a:avLst/>
          </a:prstGeom>
          <a:noFill/>
          <a:ln w="12700">
            <a:solidFill>
              <a:prstClr val="black"/>
            </a:solidFill>
          </a:ln>
        </p:spPr>
        <p:txBody>
          <a:bodyPr vert="horz" lIns="91440" tIns="45720" rIns="91440" bIns="45720" rtlCol="0" anchor="ctr"/>
          <a:lstStyle/>
          <a:p>
            <a:endParaRPr lang="en-CA"/>
          </a:p>
        </p:txBody>
      </p:sp>
      <p:sp>
        <p:nvSpPr>
          <p:cNvPr id="5" name="Notes Placeholder 4"/>
          <p:cNvSpPr>
            <a:spLocks noGrp="1"/>
          </p:cNvSpPr>
          <p:nvPr>
            <p:ph type="body" sz="quarter" idx="3"/>
          </p:nvPr>
        </p:nvSpPr>
        <p:spPr>
          <a:xfrm>
            <a:off x="700088" y="4470400"/>
            <a:ext cx="5603875" cy="365918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6" name="Footer Placeholder 5"/>
          <p:cNvSpPr>
            <a:spLocks noGrp="1"/>
          </p:cNvSpPr>
          <p:nvPr>
            <p:ph type="ftr" sz="quarter" idx="4"/>
          </p:nvPr>
        </p:nvSpPr>
        <p:spPr>
          <a:xfrm>
            <a:off x="0" y="8824913"/>
            <a:ext cx="3035300" cy="465137"/>
          </a:xfrm>
          <a:prstGeom prst="rect">
            <a:avLst/>
          </a:prstGeom>
        </p:spPr>
        <p:txBody>
          <a:bodyPr vert="horz" lIns="91440" tIns="45720" rIns="91440" bIns="45720" rtlCol="0" anchor="b"/>
          <a:lstStyle>
            <a:lvl1pPr algn="l">
              <a:defRPr sz="1200"/>
            </a:lvl1pPr>
          </a:lstStyle>
          <a:p>
            <a:endParaRPr lang="en-CA"/>
          </a:p>
        </p:txBody>
      </p:sp>
      <p:sp>
        <p:nvSpPr>
          <p:cNvPr id="7" name="Slide Number Placeholder 6"/>
          <p:cNvSpPr>
            <a:spLocks noGrp="1"/>
          </p:cNvSpPr>
          <p:nvPr>
            <p:ph type="sldNum" sz="quarter" idx="5"/>
          </p:nvPr>
        </p:nvSpPr>
        <p:spPr>
          <a:xfrm>
            <a:off x="3967163" y="8824913"/>
            <a:ext cx="3035300" cy="465137"/>
          </a:xfrm>
          <a:prstGeom prst="rect">
            <a:avLst/>
          </a:prstGeom>
        </p:spPr>
        <p:txBody>
          <a:bodyPr vert="horz" lIns="91440" tIns="45720" rIns="91440" bIns="45720" rtlCol="0" anchor="b"/>
          <a:lstStyle>
            <a:lvl1pPr algn="r">
              <a:defRPr sz="1200"/>
            </a:lvl1pPr>
          </a:lstStyle>
          <a:p>
            <a:fld id="{A3144D42-F41E-4F01-8130-09084F64DC75}" type="slidenum">
              <a:rPr lang="en-CA" smtClean="0"/>
              <a:t>‹#›</a:t>
            </a:fld>
            <a:endParaRPr lang="en-CA"/>
          </a:p>
        </p:txBody>
      </p:sp>
    </p:spTree>
    <p:extLst>
      <p:ext uri="{BB962C8B-B14F-4D97-AF65-F5344CB8AC3E}">
        <p14:creationId xmlns:p14="http://schemas.microsoft.com/office/powerpoint/2010/main" val="89484768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A3144D42-F41E-4F01-8130-09084F64DC75}" type="slidenum">
              <a:rPr lang="en-CA" smtClean="0"/>
              <a:t>4</a:t>
            </a:fld>
            <a:endParaRPr lang="en-CA"/>
          </a:p>
        </p:txBody>
      </p:sp>
    </p:spTree>
    <p:extLst>
      <p:ext uri="{BB962C8B-B14F-4D97-AF65-F5344CB8AC3E}">
        <p14:creationId xmlns:p14="http://schemas.microsoft.com/office/powerpoint/2010/main" val="182085436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 Defines the actual work to be completed, who participates (AI and Human), with a clear concise goal or outcome.</a:t>
            </a:r>
          </a:p>
          <a:p>
            <a:endParaRPr lang="en-CA" dirty="0"/>
          </a:p>
        </p:txBody>
      </p:sp>
      <p:sp>
        <p:nvSpPr>
          <p:cNvPr id="4" name="Slide Number Placeholder 3"/>
          <p:cNvSpPr>
            <a:spLocks noGrp="1"/>
          </p:cNvSpPr>
          <p:nvPr>
            <p:ph type="sldNum" sz="quarter" idx="5"/>
          </p:nvPr>
        </p:nvSpPr>
        <p:spPr/>
        <p:txBody>
          <a:bodyPr/>
          <a:lstStyle/>
          <a:p>
            <a:fld id="{A3144D42-F41E-4F01-8130-09084F64DC75}" type="slidenum">
              <a:rPr lang="en-CA" smtClean="0"/>
              <a:t>7</a:t>
            </a:fld>
            <a:endParaRPr lang="en-CA"/>
          </a:p>
        </p:txBody>
      </p:sp>
    </p:spTree>
    <p:extLst>
      <p:ext uri="{BB962C8B-B14F-4D97-AF65-F5344CB8AC3E}">
        <p14:creationId xmlns:p14="http://schemas.microsoft.com/office/powerpoint/2010/main" val="185495986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A3144D42-F41E-4F01-8130-09084F64DC75}" type="slidenum">
              <a:rPr lang="en-CA" smtClean="0"/>
              <a:t>11</a:t>
            </a:fld>
            <a:endParaRPr lang="en-CA"/>
          </a:p>
        </p:txBody>
      </p:sp>
    </p:spTree>
    <p:extLst>
      <p:ext uri="{BB962C8B-B14F-4D97-AF65-F5344CB8AC3E}">
        <p14:creationId xmlns:p14="http://schemas.microsoft.com/office/powerpoint/2010/main" val="67546572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Might want a dedicated testing agent and workflow as well.</a:t>
            </a:r>
          </a:p>
        </p:txBody>
      </p:sp>
      <p:sp>
        <p:nvSpPr>
          <p:cNvPr id="4" name="Slide Number Placeholder 3"/>
          <p:cNvSpPr>
            <a:spLocks noGrp="1"/>
          </p:cNvSpPr>
          <p:nvPr>
            <p:ph type="sldNum" sz="quarter" idx="5"/>
          </p:nvPr>
        </p:nvSpPr>
        <p:spPr/>
        <p:txBody>
          <a:bodyPr/>
          <a:lstStyle/>
          <a:p>
            <a:fld id="{A3144D42-F41E-4F01-8130-09084F64DC75}" type="slidenum">
              <a:rPr lang="en-CA" smtClean="0"/>
              <a:t>18</a:t>
            </a:fld>
            <a:endParaRPr lang="en-CA"/>
          </a:p>
        </p:txBody>
      </p:sp>
    </p:spTree>
    <p:extLst>
      <p:ext uri="{BB962C8B-B14F-4D97-AF65-F5344CB8AC3E}">
        <p14:creationId xmlns:p14="http://schemas.microsoft.com/office/powerpoint/2010/main" val="56262365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435EE4-54D4-69D1-0170-181416E37D2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CA"/>
          </a:p>
        </p:txBody>
      </p:sp>
      <p:sp>
        <p:nvSpPr>
          <p:cNvPr id="3" name="Subtitle 2">
            <a:extLst>
              <a:ext uri="{FF2B5EF4-FFF2-40B4-BE49-F238E27FC236}">
                <a16:creationId xmlns:a16="http://schemas.microsoft.com/office/drawing/2014/main" id="{4655EEEE-07EC-690C-EF8F-CA531008FD9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CA"/>
          </a:p>
        </p:txBody>
      </p:sp>
      <p:sp>
        <p:nvSpPr>
          <p:cNvPr id="4" name="Date Placeholder 3">
            <a:extLst>
              <a:ext uri="{FF2B5EF4-FFF2-40B4-BE49-F238E27FC236}">
                <a16:creationId xmlns:a16="http://schemas.microsoft.com/office/drawing/2014/main" id="{B29E6574-4CFE-B423-D374-8765D9A6458A}"/>
              </a:ext>
            </a:extLst>
          </p:cNvPr>
          <p:cNvSpPr>
            <a:spLocks noGrp="1"/>
          </p:cNvSpPr>
          <p:nvPr>
            <p:ph type="dt" sz="half" idx="10"/>
          </p:nvPr>
        </p:nvSpPr>
        <p:spPr/>
        <p:txBody>
          <a:bodyPr/>
          <a:lstStyle/>
          <a:p>
            <a:fld id="{F12842A0-BC8A-4D15-9ACA-9710C32CF85F}" type="datetimeFigureOut">
              <a:rPr lang="en-CA" smtClean="0"/>
              <a:t>2025-11-17</a:t>
            </a:fld>
            <a:endParaRPr lang="en-CA"/>
          </a:p>
        </p:txBody>
      </p:sp>
      <p:sp>
        <p:nvSpPr>
          <p:cNvPr id="5" name="Footer Placeholder 4">
            <a:extLst>
              <a:ext uri="{FF2B5EF4-FFF2-40B4-BE49-F238E27FC236}">
                <a16:creationId xmlns:a16="http://schemas.microsoft.com/office/drawing/2014/main" id="{D60F660A-4E37-187F-3C5D-CCBEB19E58A2}"/>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BC9DB40E-C822-8824-0803-7DF57F92F9D2}"/>
              </a:ext>
            </a:extLst>
          </p:cNvPr>
          <p:cNvSpPr>
            <a:spLocks noGrp="1"/>
          </p:cNvSpPr>
          <p:nvPr>
            <p:ph type="sldNum" sz="quarter" idx="12"/>
          </p:nvPr>
        </p:nvSpPr>
        <p:spPr/>
        <p:txBody>
          <a:bodyPr/>
          <a:lstStyle/>
          <a:p>
            <a:fld id="{A7172C30-ABF4-493D-B0C8-A68D5B867860}" type="slidenum">
              <a:rPr lang="en-CA" smtClean="0"/>
              <a:t>‹#›</a:t>
            </a:fld>
            <a:endParaRPr lang="en-CA"/>
          </a:p>
        </p:txBody>
      </p:sp>
    </p:spTree>
    <p:extLst>
      <p:ext uri="{BB962C8B-B14F-4D97-AF65-F5344CB8AC3E}">
        <p14:creationId xmlns:p14="http://schemas.microsoft.com/office/powerpoint/2010/main" val="4547400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4B757A-72D1-20D5-3777-FAFDB22FD2F7}"/>
              </a:ext>
            </a:extLst>
          </p:cNvPr>
          <p:cNvSpPr>
            <a:spLocks noGrp="1"/>
          </p:cNvSpPr>
          <p:nvPr>
            <p:ph type="title"/>
          </p:nvPr>
        </p:nvSpPr>
        <p:spPr/>
        <p:txBody>
          <a:bodyPr/>
          <a:lstStyle/>
          <a:p>
            <a:r>
              <a:rPr lang="en-US"/>
              <a:t>Click to edit Master title style</a:t>
            </a:r>
            <a:endParaRPr lang="en-CA"/>
          </a:p>
        </p:txBody>
      </p:sp>
      <p:sp>
        <p:nvSpPr>
          <p:cNvPr id="3" name="Content Placeholder 2">
            <a:extLst>
              <a:ext uri="{FF2B5EF4-FFF2-40B4-BE49-F238E27FC236}">
                <a16:creationId xmlns:a16="http://schemas.microsoft.com/office/drawing/2014/main" id="{0A33B839-8E94-9829-852F-0EB324A2671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B41D53CC-D543-5EA9-D90E-6C960646B926}"/>
              </a:ext>
            </a:extLst>
          </p:cNvPr>
          <p:cNvSpPr>
            <a:spLocks noGrp="1"/>
          </p:cNvSpPr>
          <p:nvPr>
            <p:ph type="dt" sz="half" idx="10"/>
          </p:nvPr>
        </p:nvSpPr>
        <p:spPr/>
        <p:txBody>
          <a:bodyPr/>
          <a:lstStyle/>
          <a:p>
            <a:fld id="{F12842A0-BC8A-4D15-9ACA-9710C32CF85F}" type="datetimeFigureOut">
              <a:rPr lang="en-CA" smtClean="0"/>
              <a:t>2025-11-17</a:t>
            </a:fld>
            <a:endParaRPr lang="en-CA"/>
          </a:p>
        </p:txBody>
      </p:sp>
      <p:sp>
        <p:nvSpPr>
          <p:cNvPr id="5" name="Footer Placeholder 4">
            <a:extLst>
              <a:ext uri="{FF2B5EF4-FFF2-40B4-BE49-F238E27FC236}">
                <a16:creationId xmlns:a16="http://schemas.microsoft.com/office/drawing/2014/main" id="{87B8F269-1397-455F-C371-7D2AE4F41FF1}"/>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14225497-743F-4C1C-7137-959CA6ECB074}"/>
              </a:ext>
            </a:extLst>
          </p:cNvPr>
          <p:cNvSpPr>
            <a:spLocks noGrp="1"/>
          </p:cNvSpPr>
          <p:nvPr>
            <p:ph type="sldNum" sz="quarter" idx="12"/>
          </p:nvPr>
        </p:nvSpPr>
        <p:spPr/>
        <p:txBody>
          <a:bodyPr/>
          <a:lstStyle/>
          <a:p>
            <a:fld id="{A7172C30-ABF4-493D-B0C8-A68D5B867860}" type="slidenum">
              <a:rPr lang="en-CA" smtClean="0"/>
              <a:t>‹#›</a:t>
            </a:fld>
            <a:endParaRPr lang="en-CA"/>
          </a:p>
        </p:txBody>
      </p:sp>
    </p:spTree>
    <p:extLst>
      <p:ext uri="{BB962C8B-B14F-4D97-AF65-F5344CB8AC3E}">
        <p14:creationId xmlns:p14="http://schemas.microsoft.com/office/powerpoint/2010/main" val="30549734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57B68D-C0BF-AAE3-130E-F87132DDADA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CA"/>
          </a:p>
        </p:txBody>
      </p:sp>
      <p:sp>
        <p:nvSpPr>
          <p:cNvPr id="3" name="Text Placeholder 2">
            <a:extLst>
              <a:ext uri="{FF2B5EF4-FFF2-40B4-BE49-F238E27FC236}">
                <a16:creationId xmlns:a16="http://schemas.microsoft.com/office/drawing/2014/main" id="{9C10B29F-4EA3-8CE2-4975-9241F2009F5D}"/>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6067860-6A6E-AAF4-F9CD-CACB6988DC30}"/>
              </a:ext>
            </a:extLst>
          </p:cNvPr>
          <p:cNvSpPr>
            <a:spLocks noGrp="1"/>
          </p:cNvSpPr>
          <p:nvPr>
            <p:ph type="dt" sz="half" idx="10"/>
          </p:nvPr>
        </p:nvSpPr>
        <p:spPr/>
        <p:txBody>
          <a:bodyPr/>
          <a:lstStyle/>
          <a:p>
            <a:fld id="{F12842A0-BC8A-4D15-9ACA-9710C32CF85F}" type="datetimeFigureOut">
              <a:rPr lang="en-CA" smtClean="0"/>
              <a:t>2025-11-17</a:t>
            </a:fld>
            <a:endParaRPr lang="en-CA"/>
          </a:p>
        </p:txBody>
      </p:sp>
      <p:sp>
        <p:nvSpPr>
          <p:cNvPr id="5" name="Footer Placeholder 4">
            <a:extLst>
              <a:ext uri="{FF2B5EF4-FFF2-40B4-BE49-F238E27FC236}">
                <a16:creationId xmlns:a16="http://schemas.microsoft.com/office/drawing/2014/main" id="{58A44F11-F48A-D218-4E36-BA89790F24F4}"/>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98BF5FA2-C800-3747-FA9B-E04642AEAD69}"/>
              </a:ext>
            </a:extLst>
          </p:cNvPr>
          <p:cNvSpPr>
            <a:spLocks noGrp="1"/>
          </p:cNvSpPr>
          <p:nvPr>
            <p:ph type="sldNum" sz="quarter" idx="12"/>
          </p:nvPr>
        </p:nvSpPr>
        <p:spPr/>
        <p:txBody>
          <a:bodyPr/>
          <a:lstStyle/>
          <a:p>
            <a:fld id="{A7172C30-ABF4-493D-B0C8-A68D5B867860}" type="slidenum">
              <a:rPr lang="en-CA" smtClean="0"/>
              <a:t>‹#›</a:t>
            </a:fld>
            <a:endParaRPr lang="en-CA"/>
          </a:p>
        </p:txBody>
      </p:sp>
    </p:spTree>
    <p:extLst>
      <p:ext uri="{BB962C8B-B14F-4D97-AF65-F5344CB8AC3E}">
        <p14:creationId xmlns:p14="http://schemas.microsoft.com/office/powerpoint/2010/main" val="182189221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12D5A8-FA21-3145-A108-DF1D853665F6}"/>
              </a:ext>
            </a:extLst>
          </p:cNvPr>
          <p:cNvSpPr>
            <a:spLocks noGrp="1"/>
          </p:cNvSpPr>
          <p:nvPr>
            <p:ph type="title"/>
          </p:nvPr>
        </p:nvSpPr>
        <p:spPr/>
        <p:txBody>
          <a:bodyPr/>
          <a:lstStyle/>
          <a:p>
            <a:r>
              <a:rPr lang="en-US"/>
              <a:t>Click to edit Master title style</a:t>
            </a:r>
            <a:endParaRPr lang="en-CA"/>
          </a:p>
        </p:txBody>
      </p:sp>
      <p:sp>
        <p:nvSpPr>
          <p:cNvPr id="3" name="Content Placeholder 2">
            <a:extLst>
              <a:ext uri="{FF2B5EF4-FFF2-40B4-BE49-F238E27FC236}">
                <a16:creationId xmlns:a16="http://schemas.microsoft.com/office/drawing/2014/main" id="{6B094D39-690A-27BC-662E-C00E53A8DC5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Content Placeholder 3">
            <a:extLst>
              <a:ext uri="{FF2B5EF4-FFF2-40B4-BE49-F238E27FC236}">
                <a16:creationId xmlns:a16="http://schemas.microsoft.com/office/drawing/2014/main" id="{E339E306-4527-C643-F53E-0AED7643462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5" name="Date Placeholder 4">
            <a:extLst>
              <a:ext uri="{FF2B5EF4-FFF2-40B4-BE49-F238E27FC236}">
                <a16:creationId xmlns:a16="http://schemas.microsoft.com/office/drawing/2014/main" id="{9E8256F1-3151-4468-B110-C1A257CDE44C}"/>
              </a:ext>
            </a:extLst>
          </p:cNvPr>
          <p:cNvSpPr>
            <a:spLocks noGrp="1"/>
          </p:cNvSpPr>
          <p:nvPr>
            <p:ph type="dt" sz="half" idx="10"/>
          </p:nvPr>
        </p:nvSpPr>
        <p:spPr/>
        <p:txBody>
          <a:bodyPr/>
          <a:lstStyle/>
          <a:p>
            <a:fld id="{F12842A0-BC8A-4D15-9ACA-9710C32CF85F}" type="datetimeFigureOut">
              <a:rPr lang="en-CA" smtClean="0"/>
              <a:t>2025-11-17</a:t>
            </a:fld>
            <a:endParaRPr lang="en-CA"/>
          </a:p>
        </p:txBody>
      </p:sp>
      <p:sp>
        <p:nvSpPr>
          <p:cNvPr id="6" name="Footer Placeholder 5">
            <a:extLst>
              <a:ext uri="{FF2B5EF4-FFF2-40B4-BE49-F238E27FC236}">
                <a16:creationId xmlns:a16="http://schemas.microsoft.com/office/drawing/2014/main" id="{CF4885AD-6B04-225B-57FA-37511175799B}"/>
              </a:ext>
            </a:extLst>
          </p:cNvPr>
          <p:cNvSpPr>
            <a:spLocks noGrp="1"/>
          </p:cNvSpPr>
          <p:nvPr>
            <p:ph type="ftr" sz="quarter" idx="11"/>
          </p:nvPr>
        </p:nvSpPr>
        <p:spPr/>
        <p:txBody>
          <a:bodyPr/>
          <a:lstStyle/>
          <a:p>
            <a:endParaRPr lang="en-CA"/>
          </a:p>
        </p:txBody>
      </p:sp>
      <p:sp>
        <p:nvSpPr>
          <p:cNvPr id="7" name="Slide Number Placeholder 6">
            <a:extLst>
              <a:ext uri="{FF2B5EF4-FFF2-40B4-BE49-F238E27FC236}">
                <a16:creationId xmlns:a16="http://schemas.microsoft.com/office/drawing/2014/main" id="{8E95102A-D4DD-0EDE-FE80-204EA143BA1A}"/>
              </a:ext>
            </a:extLst>
          </p:cNvPr>
          <p:cNvSpPr>
            <a:spLocks noGrp="1"/>
          </p:cNvSpPr>
          <p:nvPr>
            <p:ph type="sldNum" sz="quarter" idx="12"/>
          </p:nvPr>
        </p:nvSpPr>
        <p:spPr/>
        <p:txBody>
          <a:bodyPr/>
          <a:lstStyle/>
          <a:p>
            <a:fld id="{A7172C30-ABF4-493D-B0C8-A68D5B867860}" type="slidenum">
              <a:rPr lang="en-CA" smtClean="0"/>
              <a:t>‹#›</a:t>
            </a:fld>
            <a:endParaRPr lang="en-CA"/>
          </a:p>
        </p:txBody>
      </p:sp>
    </p:spTree>
    <p:extLst>
      <p:ext uri="{BB962C8B-B14F-4D97-AF65-F5344CB8AC3E}">
        <p14:creationId xmlns:p14="http://schemas.microsoft.com/office/powerpoint/2010/main" val="8756130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370031-ADCA-AB5D-61D5-E039F5ACF9D2}"/>
              </a:ext>
            </a:extLst>
          </p:cNvPr>
          <p:cNvSpPr>
            <a:spLocks noGrp="1"/>
          </p:cNvSpPr>
          <p:nvPr>
            <p:ph type="title"/>
          </p:nvPr>
        </p:nvSpPr>
        <p:spPr>
          <a:xfrm>
            <a:off x="839788" y="365125"/>
            <a:ext cx="10515600" cy="1325563"/>
          </a:xfrm>
        </p:spPr>
        <p:txBody>
          <a:bodyPr/>
          <a:lstStyle/>
          <a:p>
            <a:r>
              <a:rPr lang="en-US"/>
              <a:t>Click to edit Master title style</a:t>
            </a:r>
            <a:endParaRPr lang="en-CA"/>
          </a:p>
        </p:txBody>
      </p:sp>
      <p:sp>
        <p:nvSpPr>
          <p:cNvPr id="3" name="Text Placeholder 2">
            <a:extLst>
              <a:ext uri="{FF2B5EF4-FFF2-40B4-BE49-F238E27FC236}">
                <a16:creationId xmlns:a16="http://schemas.microsoft.com/office/drawing/2014/main" id="{5DB9FB9A-44C6-40BC-7C47-D51BB1A8D66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E73F447-09AA-A92E-5AC6-8F4C7A4FD3F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5" name="Text Placeholder 4">
            <a:extLst>
              <a:ext uri="{FF2B5EF4-FFF2-40B4-BE49-F238E27FC236}">
                <a16:creationId xmlns:a16="http://schemas.microsoft.com/office/drawing/2014/main" id="{36B27CC8-1473-1C71-E4FC-8BCF381F83C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53378EF-090E-67E8-C734-659A9FF4924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7" name="Date Placeholder 6">
            <a:extLst>
              <a:ext uri="{FF2B5EF4-FFF2-40B4-BE49-F238E27FC236}">
                <a16:creationId xmlns:a16="http://schemas.microsoft.com/office/drawing/2014/main" id="{ABD4EA21-9166-C412-E6AA-0055098EFA43}"/>
              </a:ext>
            </a:extLst>
          </p:cNvPr>
          <p:cNvSpPr>
            <a:spLocks noGrp="1"/>
          </p:cNvSpPr>
          <p:nvPr>
            <p:ph type="dt" sz="half" idx="10"/>
          </p:nvPr>
        </p:nvSpPr>
        <p:spPr/>
        <p:txBody>
          <a:bodyPr/>
          <a:lstStyle/>
          <a:p>
            <a:fld id="{F12842A0-BC8A-4D15-9ACA-9710C32CF85F}" type="datetimeFigureOut">
              <a:rPr lang="en-CA" smtClean="0"/>
              <a:t>2025-11-17</a:t>
            </a:fld>
            <a:endParaRPr lang="en-CA"/>
          </a:p>
        </p:txBody>
      </p:sp>
      <p:sp>
        <p:nvSpPr>
          <p:cNvPr id="8" name="Footer Placeholder 7">
            <a:extLst>
              <a:ext uri="{FF2B5EF4-FFF2-40B4-BE49-F238E27FC236}">
                <a16:creationId xmlns:a16="http://schemas.microsoft.com/office/drawing/2014/main" id="{43015680-FC25-FDF8-0283-1CB032A4D127}"/>
              </a:ext>
            </a:extLst>
          </p:cNvPr>
          <p:cNvSpPr>
            <a:spLocks noGrp="1"/>
          </p:cNvSpPr>
          <p:nvPr>
            <p:ph type="ftr" sz="quarter" idx="11"/>
          </p:nvPr>
        </p:nvSpPr>
        <p:spPr/>
        <p:txBody>
          <a:bodyPr/>
          <a:lstStyle/>
          <a:p>
            <a:endParaRPr lang="en-CA"/>
          </a:p>
        </p:txBody>
      </p:sp>
      <p:sp>
        <p:nvSpPr>
          <p:cNvPr id="9" name="Slide Number Placeholder 8">
            <a:extLst>
              <a:ext uri="{FF2B5EF4-FFF2-40B4-BE49-F238E27FC236}">
                <a16:creationId xmlns:a16="http://schemas.microsoft.com/office/drawing/2014/main" id="{8D97C088-B983-2945-2C4D-0F08F3CE12D3}"/>
              </a:ext>
            </a:extLst>
          </p:cNvPr>
          <p:cNvSpPr>
            <a:spLocks noGrp="1"/>
          </p:cNvSpPr>
          <p:nvPr>
            <p:ph type="sldNum" sz="quarter" idx="12"/>
          </p:nvPr>
        </p:nvSpPr>
        <p:spPr/>
        <p:txBody>
          <a:bodyPr/>
          <a:lstStyle/>
          <a:p>
            <a:fld id="{A7172C30-ABF4-493D-B0C8-A68D5B867860}" type="slidenum">
              <a:rPr lang="en-CA" smtClean="0"/>
              <a:t>‹#›</a:t>
            </a:fld>
            <a:endParaRPr lang="en-CA"/>
          </a:p>
        </p:txBody>
      </p:sp>
    </p:spTree>
    <p:extLst>
      <p:ext uri="{BB962C8B-B14F-4D97-AF65-F5344CB8AC3E}">
        <p14:creationId xmlns:p14="http://schemas.microsoft.com/office/powerpoint/2010/main" val="62826195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B266D6-A133-40E9-96C8-D0658A7736FB}"/>
              </a:ext>
            </a:extLst>
          </p:cNvPr>
          <p:cNvSpPr>
            <a:spLocks noGrp="1"/>
          </p:cNvSpPr>
          <p:nvPr>
            <p:ph type="title"/>
          </p:nvPr>
        </p:nvSpPr>
        <p:spPr/>
        <p:txBody>
          <a:bodyPr/>
          <a:lstStyle/>
          <a:p>
            <a:r>
              <a:rPr lang="en-US"/>
              <a:t>Click to edit Master title style</a:t>
            </a:r>
            <a:endParaRPr lang="en-CA"/>
          </a:p>
        </p:txBody>
      </p:sp>
      <p:sp>
        <p:nvSpPr>
          <p:cNvPr id="3" name="Date Placeholder 2">
            <a:extLst>
              <a:ext uri="{FF2B5EF4-FFF2-40B4-BE49-F238E27FC236}">
                <a16:creationId xmlns:a16="http://schemas.microsoft.com/office/drawing/2014/main" id="{6AF3AD6C-2F4A-ADCA-964E-C7B85DD86814}"/>
              </a:ext>
            </a:extLst>
          </p:cNvPr>
          <p:cNvSpPr>
            <a:spLocks noGrp="1"/>
          </p:cNvSpPr>
          <p:nvPr>
            <p:ph type="dt" sz="half" idx="10"/>
          </p:nvPr>
        </p:nvSpPr>
        <p:spPr/>
        <p:txBody>
          <a:bodyPr/>
          <a:lstStyle/>
          <a:p>
            <a:fld id="{F12842A0-BC8A-4D15-9ACA-9710C32CF85F}" type="datetimeFigureOut">
              <a:rPr lang="en-CA" smtClean="0"/>
              <a:t>2025-11-17</a:t>
            </a:fld>
            <a:endParaRPr lang="en-CA"/>
          </a:p>
        </p:txBody>
      </p:sp>
      <p:sp>
        <p:nvSpPr>
          <p:cNvPr id="4" name="Footer Placeholder 3">
            <a:extLst>
              <a:ext uri="{FF2B5EF4-FFF2-40B4-BE49-F238E27FC236}">
                <a16:creationId xmlns:a16="http://schemas.microsoft.com/office/drawing/2014/main" id="{031A4683-922A-18EF-840A-D025147A6B36}"/>
              </a:ext>
            </a:extLst>
          </p:cNvPr>
          <p:cNvSpPr>
            <a:spLocks noGrp="1"/>
          </p:cNvSpPr>
          <p:nvPr>
            <p:ph type="ftr" sz="quarter" idx="11"/>
          </p:nvPr>
        </p:nvSpPr>
        <p:spPr/>
        <p:txBody>
          <a:bodyPr/>
          <a:lstStyle/>
          <a:p>
            <a:endParaRPr lang="en-CA"/>
          </a:p>
        </p:txBody>
      </p:sp>
      <p:sp>
        <p:nvSpPr>
          <p:cNvPr id="5" name="Slide Number Placeholder 4">
            <a:extLst>
              <a:ext uri="{FF2B5EF4-FFF2-40B4-BE49-F238E27FC236}">
                <a16:creationId xmlns:a16="http://schemas.microsoft.com/office/drawing/2014/main" id="{EB731F35-DB6B-1B8D-9CBF-496CE114E6B2}"/>
              </a:ext>
            </a:extLst>
          </p:cNvPr>
          <p:cNvSpPr>
            <a:spLocks noGrp="1"/>
          </p:cNvSpPr>
          <p:nvPr>
            <p:ph type="sldNum" sz="quarter" idx="12"/>
          </p:nvPr>
        </p:nvSpPr>
        <p:spPr/>
        <p:txBody>
          <a:bodyPr/>
          <a:lstStyle/>
          <a:p>
            <a:fld id="{A7172C30-ABF4-493D-B0C8-A68D5B867860}" type="slidenum">
              <a:rPr lang="en-CA" smtClean="0"/>
              <a:t>‹#›</a:t>
            </a:fld>
            <a:endParaRPr lang="en-CA"/>
          </a:p>
        </p:txBody>
      </p:sp>
    </p:spTree>
    <p:extLst>
      <p:ext uri="{BB962C8B-B14F-4D97-AF65-F5344CB8AC3E}">
        <p14:creationId xmlns:p14="http://schemas.microsoft.com/office/powerpoint/2010/main" val="290498798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82A1F41-521C-581B-7809-642238922D6F}"/>
              </a:ext>
            </a:extLst>
          </p:cNvPr>
          <p:cNvSpPr>
            <a:spLocks noGrp="1"/>
          </p:cNvSpPr>
          <p:nvPr>
            <p:ph type="dt" sz="half" idx="10"/>
          </p:nvPr>
        </p:nvSpPr>
        <p:spPr/>
        <p:txBody>
          <a:bodyPr/>
          <a:lstStyle/>
          <a:p>
            <a:fld id="{F12842A0-BC8A-4D15-9ACA-9710C32CF85F}" type="datetimeFigureOut">
              <a:rPr lang="en-CA" smtClean="0"/>
              <a:t>2025-11-17</a:t>
            </a:fld>
            <a:endParaRPr lang="en-CA"/>
          </a:p>
        </p:txBody>
      </p:sp>
      <p:sp>
        <p:nvSpPr>
          <p:cNvPr id="3" name="Footer Placeholder 2">
            <a:extLst>
              <a:ext uri="{FF2B5EF4-FFF2-40B4-BE49-F238E27FC236}">
                <a16:creationId xmlns:a16="http://schemas.microsoft.com/office/drawing/2014/main" id="{39FE8D4B-36C5-1585-DDB6-96FB270F2E4F}"/>
              </a:ext>
            </a:extLst>
          </p:cNvPr>
          <p:cNvSpPr>
            <a:spLocks noGrp="1"/>
          </p:cNvSpPr>
          <p:nvPr>
            <p:ph type="ftr" sz="quarter" idx="11"/>
          </p:nvPr>
        </p:nvSpPr>
        <p:spPr/>
        <p:txBody>
          <a:bodyPr/>
          <a:lstStyle/>
          <a:p>
            <a:endParaRPr lang="en-CA"/>
          </a:p>
        </p:txBody>
      </p:sp>
      <p:sp>
        <p:nvSpPr>
          <p:cNvPr id="4" name="Slide Number Placeholder 3">
            <a:extLst>
              <a:ext uri="{FF2B5EF4-FFF2-40B4-BE49-F238E27FC236}">
                <a16:creationId xmlns:a16="http://schemas.microsoft.com/office/drawing/2014/main" id="{83115E84-3CCE-06DF-5E47-45F69C3DB7E6}"/>
              </a:ext>
            </a:extLst>
          </p:cNvPr>
          <p:cNvSpPr>
            <a:spLocks noGrp="1"/>
          </p:cNvSpPr>
          <p:nvPr>
            <p:ph type="sldNum" sz="quarter" idx="12"/>
          </p:nvPr>
        </p:nvSpPr>
        <p:spPr/>
        <p:txBody>
          <a:bodyPr/>
          <a:lstStyle/>
          <a:p>
            <a:fld id="{A7172C30-ABF4-493D-B0C8-A68D5B867860}" type="slidenum">
              <a:rPr lang="en-CA" smtClean="0"/>
              <a:t>‹#›</a:t>
            </a:fld>
            <a:endParaRPr lang="en-CA"/>
          </a:p>
        </p:txBody>
      </p:sp>
    </p:spTree>
    <p:extLst>
      <p:ext uri="{BB962C8B-B14F-4D97-AF65-F5344CB8AC3E}">
        <p14:creationId xmlns:p14="http://schemas.microsoft.com/office/powerpoint/2010/main" val="191168625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7C23AD-8C50-0D17-6DFE-20E2AD35F6C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CA"/>
          </a:p>
        </p:txBody>
      </p:sp>
      <p:sp>
        <p:nvSpPr>
          <p:cNvPr id="3" name="Content Placeholder 2">
            <a:extLst>
              <a:ext uri="{FF2B5EF4-FFF2-40B4-BE49-F238E27FC236}">
                <a16:creationId xmlns:a16="http://schemas.microsoft.com/office/drawing/2014/main" id="{E7A96967-AF51-CA22-E8D7-917E783B538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Text Placeholder 3">
            <a:extLst>
              <a:ext uri="{FF2B5EF4-FFF2-40B4-BE49-F238E27FC236}">
                <a16:creationId xmlns:a16="http://schemas.microsoft.com/office/drawing/2014/main" id="{39541707-53F5-BF86-3F16-F3861B3D3CC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332B8E8-A055-927C-FB38-53B095974410}"/>
              </a:ext>
            </a:extLst>
          </p:cNvPr>
          <p:cNvSpPr>
            <a:spLocks noGrp="1"/>
          </p:cNvSpPr>
          <p:nvPr>
            <p:ph type="dt" sz="half" idx="10"/>
          </p:nvPr>
        </p:nvSpPr>
        <p:spPr/>
        <p:txBody>
          <a:bodyPr/>
          <a:lstStyle/>
          <a:p>
            <a:fld id="{F12842A0-BC8A-4D15-9ACA-9710C32CF85F}" type="datetimeFigureOut">
              <a:rPr lang="en-CA" smtClean="0"/>
              <a:t>2025-11-17</a:t>
            </a:fld>
            <a:endParaRPr lang="en-CA"/>
          </a:p>
        </p:txBody>
      </p:sp>
      <p:sp>
        <p:nvSpPr>
          <p:cNvPr id="6" name="Footer Placeholder 5">
            <a:extLst>
              <a:ext uri="{FF2B5EF4-FFF2-40B4-BE49-F238E27FC236}">
                <a16:creationId xmlns:a16="http://schemas.microsoft.com/office/drawing/2014/main" id="{E1459972-F457-B35D-D012-5435A3564736}"/>
              </a:ext>
            </a:extLst>
          </p:cNvPr>
          <p:cNvSpPr>
            <a:spLocks noGrp="1"/>
          </p:cNvSpPr>
          <p:nvPr>
            <p:ph type="ftr" sz="quarter" idx="11"/>
          </p:nvPr>
        </p:nvSpPr>
        <p:spPr/>
        <p:txBody>
          <a:bodyPr/>
          <a:lstStyle/>
          <a:p>
            <a:endParaRPr lang="en-CA"/>
          </a:p>
        </p:txBody>
      </p:sp>
      <p:sp>
        <p:nvSpPr>
          <p:cNvPr id="7" name="Slide Number Placeholder 6">
            <a:extLst>
              <a:ext uri="{FF2B5EF4-FFF2-40B4-BE49-F238E27FC236}">
                <a16:creationId xmlns:a16="http://schemas.microsoft.com/office/drawing/2014/main" id="{F8E60A1F-EE02-5F0D-7BF4-4D9C554440C2}"/>
              </a:ext>
            </a:extLst>
          </p:cNvPr>
          <p:cNvSpPr>
            <a:spLocks noGrp="1"/>
          </p:cNvSpPr>
          <p:nvPr>
            <p:ph type="sldNum" sz="quarter" idx="12"/>
          </p:nvPr>
        </p:nvSpPr>
        <p:spPr/>
        <p:txBody>
          <a:bodyPr/>
          <a:lstStyle/>
          <a:p>
            <a:fld id="{A7172C30-ABF4-493D-B0C8-A68D5B867860}" type="slidenum">
              <a:rPr lang="en-CA" smtClean="0"/>
              <a:t>‹#›</a:t>
            </a:fld>
            <a:endParaRPr lang="en-CA"/>
          </a:p>
        </p:txBody>
      </p:sp>
    </p:spTree>
    <p:extLst>
      <p:ext uri="{BB962C8B-B14F-4D97-AF65-F5344CB8AC3E}">
        <p14:creationId xmlns:p14="http://schemas.microsoft.com/office/powerpoint/2010/main" val="215081458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D0BE5F-CA85-507D-4804-69744DB4447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CA"/>
          </a:p>
        </p:txBody>
      </p:sp>
      <p:sp>
        <p:nvSpPr>
          <p:cNvPr id="3" name="Picture Placeholder 2">
            <a:extLst>
              <a:ext uri="{FF2B5EF4-FFF2-40B4-BE49-F238E27FC236}">
                <a16:creationId xmlns:a16="http://schemas.microsoft.com/office/drawing/2014/main" id="{990ACCEF-7B14-7C2E-42A0-A3323FD9C1C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CA"/>
          </a:p>
        </p:txBody>
      </p:sp>
      <p:sp>
        <p:nvSpPr>
          <p:cNvPr id="4" name="Text Placeholder 3">
            <a:extLst>
              <a:ext uri="{FF2B5EF4-FFF2-40B4-BE49-F238E27FC236}">
                <a16:creationId xmlns:a16="http://schemas.microsoft.com/office/drawing/2014/main" id="{C20AAA63-4787-E516-D7A4-7FBAF65B3C0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9336B41-A6CF-D950-E584-8A122335C9A1}"/>
              </a:ext>
            </a:extLst>
          </p:cNvPr>
          <p:cNvSpPr>
            <a:spLocks noGrp="1"/>
          </p:cNvSpPr>
          <p:nvPr>
            <p:ph type="dt" sz="half" idx="10"/>
          </p:nvPr>
        </p:nvSpPr>
        <p:spPr/>
        <p:txBody>
          <a:bodyPr/>
          <a:lstStyle/>
          <a:p>
            <a:fld id="{F12842A0-BC8A-4D15-9ACA-9710C32CF85F}" type="datetimeFigureOut">
              <a:rPr lang="en-CA" smtClean="0"/>
              <a:t>2025-11-17</a:t>
            </a:fld>
            <a:endParaRPr lang="en-CA"/>
          </a:p>
        </p:txBody>
      </p:sp>
      <p:sp>
        <p:nvSpPr>
          <p:cNvPr id="6" name="Footer Placeholder 5">
            <a:extLst>
              <a:ext uri="{FF2B5EF4-FFF2-40B4-BE49-F238E27FC236}">
                <a16:creationId xmlns:a16="http://schemas.microsoft.com/office/drawing/2014/main" id="{39B1F2BB-3D8B-6394-5D9F-7AFD3745B105}"/>
              </a:ext>
            </a:extLst>
          </p:cNvPr>
          <p:cNvSpPr>
            <a:spLocks noGrp="1"/>
          </p:cNvSpPr>
          <p:nvPr>
            <p:ph type="ftr" sz="quarter" idx="11"/>
          </p:nvPr>
        </p:nvSpPr>
        <p:spPr/>
        <p:txBody>
          <a:bodyPr/>
          <a:lstStyle/>
          <a:p>
            <a:endParaRPr lang="en-CA"/>
          </a:p>
        </p:txBody>
      </p:sp>
      <p:sp>
        <p:nvSpPr>
          <p:cNvPr id="7" name="Slide Number Placeholder 6">
            <a:extLst>
              <a:ext uri="{FF2B5EF4-FFF2-40B4-BE49-F238E27FC236}">
                <a16:creationId xmlns:a16="http://schemas.microsoft.com/office/drawing/2014/main" id="{BC22C28D-7F91-5B81-C7BD-94CD42F3914B}"/>
              </a:ext>
            </a:extLst>
          </p:cNvPr>
          <p:cNvSpPr>
            <a:spLocks noGrp="1"/>
          </p:cNvSpPr>
          <p:nvPr>
            <p:ph type="sldNum" sz="quarter" idx="12"/>
          </p:nvPr>
        </p:nvSpPr>
        <p:spPr/>
        <p:txBody>
          <a:bodyPr/>
          <a:lstStyle/>
          <a:p>
            <a:fld id="{A7172C30-ABF4-493D-B0C8-A68D5B867860}" type="slidenum">
              <a:rPr lang="en-CA" smtClean="0"/>
              <a:t>‹#›</a:t>
            </a:fld>
            <a:endParaRPr lang="en-CA"/>
          </a:p>
        </p:txBody>
      </p:sp>
    </p:spTree>
    <p:extLst>
      <p:ext uri="{BB962C8B-B14F-4D97-AF65-F5344CB8AC3E}">
        <p14:creationId xmlns:p14="http://schemas.microsoft.com/office/powerpoint/2010/main" val="407817607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E1B10B-4E8A-A045-33E9-1A2DF909FE31}"/>
              </a:ext>
            </a:extLst>
          </p:cNvPr>
          <p:cNvSpPr>
            <a:spLocks noGrp="1"/>
          </p:cNvSpPr>
          <p:nvPr>
            <p:ph type="title"/>
          </p:nvPr>
        </p:nvSpPr>
        <p:spPr/>
        <p:txBody>
          <a:bodyPr/>
          <a:lstStyle/>
          <a:p>
            <a:r>
              <a:rPr lang="en-US"/>
              <a:t>Click to edit Master title style</a:t>
            </a:r>
            <a:endParaRPr lang="en-CA"/>
          </a:p>
        </p:txBody>
      </p:sp>
      <p:sp>
        <p:nvSpPr>
          <p:cNvPr id="3" name="Vertical Text Placeholder 2">
            <a:extLst>
              <a:ext uri="{FF2B5EF4-FFF2-40B4-BE49-F238E27FC236}">
                <a16:creationId xmlns:a16="http://schemas.microsoft.com/office/drawing/2014/main" id="{7B5426DE-D77A-D0CA-C399-A2D65198B94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88D2FC31-A0C9-41D2-AC46-EB5D40F87297}"/>
              </a:ext>
            </a:extLst>
          </p:cNvPr>
          <p:cNvSpPr>
            <a:spLocks noGrp="1"/>
          </p:cNvSpPr>
          <p:nvPr>
            <p:ph type="dt" sz="half" idx="10"/>
          </p:nvPr>
        </p:nvSpPr>
        <p:spPr/>
        <p:txBody>
          <a:bodyPr/>
          <a:lstStyle/>
          <a:p>
            <a:fld id="{F12842A0-BC8A-4D15-9ACA-9710C32CF85F}" type="datetimeFigureOut">
              <a:rPr lang="en-CA" smtClean="0"/>
              <a:t>2025-11-17</a:t>
            </a:fld>
            <a:endParaRPr lang="en-CA"/>
          </a:p>
        </p:txBody>
      </p:sp>
      <p:sp>
        <p:nvSpPr>
          <p:cNvPr id="5" name="Footer Placeholder 4">
            <a:extLst>
              <a:ext uri="{FF2B5EF4-FFF2-40B4-BE49-F238E27FC236}">
                <a16:creationId xmlns:a16="http://schemas.microsoft.com/office/drawing/2014/main" id="{47EC2BBC-533D-0CC3-C51C-A91C1C94DC47}"/>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8534A76C-69DD-606B-4EFA-BC3204323952}"/>
              </a:ext>
            </a:extLst>
          </p:cNvPr>
          <p:cNvSpPr>
            <a:spLocks noGrp="1"/>
          </p:cNvSpPr>
          <p:nvPr>
            <p:ph type="sldNum" sz="quarter" idx="12"/>
          </p:nvPr>
        </p:nvSpPr>
        <p:spPr/>
        <p:txBody>
          <a:bodyPr/>
          <a:lstStyle/>
          <a:p>
            <a:fld id="{A7172C30-ABF4-493D-B0C8-A68D5B867860}" type="slidenum">
              <a:rPr lang="en-CA" smtClean="0"/>
              <a:t>‹#›</a:t>
            </a:fld>
            <a:endParaRPr lang="en-CA"/>
          </a:p>
        </p:txBody>
      </p:sp>
    </p:spTree>
    <p:extLst>
      <p:ext uri="{BB962C8B-B14F-4D97-AF65-F5344CB8AC3E}">
        <p14:creationId xmlns:p14="http://schemas.microsoft.com/office/powerpoint/2010/main" val="401036630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E868DD5-5E32-7CE3-988F-F2345BB3D692}"/>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CA"/>
          </a:p>
        </p:txBody>
      </p:sp>
      <p:sp>
        <p:nvSpPr>
          <p:cNvPr id="3" name="Vertical Text Placeholder 2">
            <a:extLst>
              <a:ext uri="{FF2B5EF4-FFF2-40B4-BE49-F238E27FC236}">
                <a16:creationId xmlns:a16="http://schemas.microsoft.com/office/drawing/2014/main" id="{CB08F256-6ED7-2615-E8C2-605A0B67F4A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DBEC0ED0-8A32-D507-1B9B-BF7FF79E0524}"/>
              </a:ext>
            </a:extLst>
          </p:cNvPr>
          <p:cNvSpPr>
            <a:spLocks noGrp="1"/>
          </p:cNvSpPr>
          <p:nvPr>
            <p:ph type="dt" sz="half" idx="10"/>
          </p:nvPr>
        </p:nvSpPr>
        <p:spPr/>
        <p:txBody>
          <a:bodyPr/>
          <a:lstStyle/>
          <a:p>
            <a:fld id="{F12842A0-BC8A-4D15-9ACA-9710C32CF85F}" type="datetimeFigureOut">
              <a:rPr lang="en-CA" smtClean="0"/>
              <a:t>2025-11-17</a:t>
            </a:fld>
            <a:endParaRPr lang="en-CA"/>
          </a:p>
        </p:txBody>
      </p:sp>
      <p:sp>
        <p:nvSpPr>
          <p:cNvPr id="5" name="Footer Placeholder 4">
            <a:extLst>
              <a:ext uri="{FF2B5EF4-FFF2-40B4-BE49-F238E27FC236}">
                <a16:creationId xmlns:a16="http://schemas.microsoft.com/office/drawing/2014/main" id="{A8F50E48-18CB-FDA4-F236-0CF859F92034}"/>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9E54229F-7663-C852-666E-5585853AC0EF}"/>
              </a:ext>
            </a:extLst>
          </p:cNvPr>
          <p:cNvSpPr>
            <a:spLocks noGrp="1"/>
          </p:cNvSpPr>
          <p:nvPr>
            <p:ph type="sldNum" sz="quarter" idx="12"/>
          </p:nvPr>
        </p:nvSpPr>
        <p:spPr/>
        <p:txBody>
          <a:bodyPr/>
          <a:lstStyle/>
          <a:p>
            <a:fld id="{A7172C30-ABF4-493D-B0C8-A68D5B867860}" type="slidenum">
              <a:rPr lang="en-CA" smtClean="0"/>
              <a:t>‹#›</a:t>
            </a:fld>
            <a:endParaRPr lang="en-CA"/>
          </a:p>
        </p:txBody>
      </p:sp>
    </p:spTree>
    <p:extLst>
      <p:ext uri="{BB962C8B-B14F-4D97-AF65-F5344CB8AC3E}">
        <p14:creationId xmlns:p14="http://schemas.microsoft.com/office/powerpoint/2010/main" val="56049375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209E788-1FFD-BFAB-8507-F3F9A902C6F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CA"/>
          </a:p>
        </p:txBody>
      </p:sp>
      <p:sp>
        <p:nvSpPr>
          <p:cNvPr id="3" name="Text Placeholder 2">
            <a:extLst>
              <a:ext uri="{FF2B5EF4-FFF2-40B4-BE49-F238E27FC236}">
                <a16:creationId xmlns:a16="http://schemas.microsoft.com/office/drawing/2014/main" id="{A78FC2DF-5B45-D662-192E-BEF30712095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BF0430FD-AB7E-A8F4-BE84-68B9690CED4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F12842A0-BC8A-4D15-9ACA-9710C32CF85F}" type="datetimeFigureOut">
              <a:rPr lang="en-CA" smtClean="0"/>
              <a:t>2025-11-17</a:t>
            </a:fld>
            <a:endParaRPr lang="en-CA"/>
          </a:p>
        </p:txBody>
      </p:sp>
      <p:sp>
        <p:nvSpPr>
          <p:cNvPr id="5" name="Footer Placeholder 4">
            <a:extLst>
              <a:ext uri="{FF2B5EF4-FFF2-40B4-BE49-F238E27FC236}">
                <a16:creationId xmlns:a16="http://schemas.microsoft.com/office/drawing/2014/main" id="{EE46924C-EEB8-C2AA-3B25-DC8481E0DD0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CA"/>
          </a:p>
        </p:txBody>
      </p:sp>
      <p:sp>
        <p:nvSpPr>
          <p:cNvPr id="6" name="Slide Number Placeholder 5">
            <a:extLst>
              <a:ext uri="{FF2B5EF4-FFF2-40B4-BE49-F238E27FC236}">
                <a16:creationId xmlns:a16="http://schemas.microsoft.com/office/drawing/2014/main" id="{30755AD6-3987-6050-92FD-DCDBDF72FCA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A7172C30-ABF4-493D-B0C8-A68D5B867860}" type="slidenum">
              <a:rPr lang="en-CA" smtClean="0"/>
              <a:t>‹#›</a:t>
            </a:fld>
            <a:endParaRPr lang="en-CA"/>
          </a:p>
        </p:txBody>
      </p:sp>
    </p:spTree>
    <p:extLst>
      <p:ext uri="{BB962C8B-B14F-4D97-AF65-F5344CB8AC3E}">
        <p14:creationId xmlns:p14="http://schemas.microsoft.com/office/powerpoint/2010/main" val="118364086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6.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xml"/><Relationship Id="rId1" Type="http://schemas.openxmlformats.org/officeDocument/2006/relationships/slideLayout" Target="../slideLayouts/slideLayout3.xml"/><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8.emf"/><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Layout" Target="../slideLayouts/slideLayout2.xml"/><Relationship Id="rId4" Type="http://schemas.openxmlformats.org/officeDocument/2006/relationships/hyperlink" Target="https://svgsilh.com/image/160132.html" TargetMode="External"/></Relationships>
</file>

<file path=ppt/slides/_rels/slide9.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2.emf"/><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image" Target="../media/image17.jpeg"/><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image" Target="../media/image18.jpeg"/><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3667DB-3C19-DD1B-0E72-EE64B2854079}"/>
              </a:ext>
            </a:extLst>
          </p:cNvPr>
          <p:cNvSpPr>
            <a:spLocks noGrp="1"/>
          </p:cNvSpPr>
          <p:nvPr>
            <p:ph type="ctrTitle"/>
          </p:nvPr>
        </p:nvSpPr>
        <p:spPr/>
        <p:txBody>
          <a:bodyPr/>
          <a:lstStyle/>
          <a:p>
            <a:r>
              <a:rPr lang="en-CA" dirty="0"/>
              <a:t>A2D</a:t>
            </a:r>
          </a:p>
        </p:txBody>
      </p:sp>
      <p:sp>
        <p:nvSpPr>
          <p:cNvPr id="5" name="Subtitle 4">
            <a:extLst>
              <a:ext uri="{FF2B5EF4-FFF2-40B4-BE49-F238E27FC236}">
                <a16:creationId xmlns:a16="http://schemas.microsoft.com/office/drawing/2014/main" id="{732FDC51-1B50-E11F-94FE-9E77E5DE6133}"/>
              </a:ext>
            </a:extLst>
          </p:cNvPr>
          <p:cNvSpPr>
            <a:spLocks noGrp="1"/>
          </p:cNvSpPr>
          <p:nvPr>
            <p:ph type="subTitle" idx="1"/>
          </p:nvPr>
        </p:nvSpPr>
        <p:spPr/>
        <p:txBody>
          <a:bodyPr/>
          <a:lstStyle/>
          <a:p>
            <a:endParaRPr lang="en-CA"/>
          </a:p>
        </p:txBody>
      </p:sp>
    </p:spTree>
    <p:extLst>
      <p:ext uri="{BB962C8B-B14F-4D97-AF65-F5344CB8AC3E}">
        <p14:creationId xmlns:p14="http://schemas.microsoft.com/office/powerpoint/2010/main" val="418825598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7D7C02B8-E412-3924-4ACE-F3E8C4479275}"/>
              </a:ext>
            </a:extLst>
          </p:cNvPr>
          <p:cNvSpPr>
            <a:spLocks noGrp="1"/>
          </p:cNvSpPr>
          <p:nvPr>
            <p:ph type="title"/>
          </p:nvPr>
        </p:nvSpPr>
        <p:spPr>
          <a:xfrm>
            <a:off x="0" y="1"/>
            <a:ext cx="12192000" cy="963706"/>
          </a:xfrm>
          <a:solidFill>
            <a:schemeClr val="tx1"/>
          </a:solidFill>
        </p:spPr>
        <p:txBody>
          <a:bodyPr/>
          <a:lstStyle/>
          <a:p>
            <a:r>
              <a:rPr lang="en-CA" dirty="0">
                <a:solidFill>
                  <a:schemeClr val="bg1"/>
                </a:solidFill>
              </a:rPr>
              <a:t>A2D is not vibe coding</a:t>
            </a:r>
          </a:p>
        </p:txBody>
      </p:sp>
      <p:pic>
        <p:nvPicPr>
          <p:cNvPr id="6" name="Picture 5">
            <a:extLst>
              <a:ext uri="{FF2B5EF4-FFF2-40B4-BE49-F238E27FC236}">
                <a16:creationId xmlns:a16="http://schemas.microsoft.com/office/drawing/2014/main" id="{83FF632B-ED2B-3D90-C32D-954A52B053FA}"/>
              </a:ext>
            </a:extLst>
          </p:cNvPr>
          <p:cNvPicPr>
            <a:picLocks noChangeAspect="1"/>
          </p:cNvPicPr>
          <p:nvPr/>
        </p:nvPicPr>
        <p:blipFill>
          <a:blip r:embed="rId2"/>
          <a:srcRect t="10512"/>
          <a:stretch>
            <a:fillRect/>
          </a:stretch>
        </p:blipFill>
        <p:spPr>
          <a:xfrm>
            <a:off x="0" y="1098045"/>
            <a:ext cx="5765421" cy="5235800"/>
          </a:xfrm>
          <a:prstGeom prst="rect">
            <a:avLst/>
          </a:prstGeom>
        </p:spPr>
      </p:pic>
      <p:pic>
        <p:nvPicPr>
          <p:cNvPr id="8" name="Picture 7">
            <a:extLst>
              <a:ext uri="{FF2B5EF4-FFF2-40B4-BE49-F238E27FC236}">
                <a16:creationId xmlns:a16="http://schemas.microsoft.com/office/drawing/2014/main" id="{1939117A-CB27-2AD8-E5F0-21C0FDF3BA0B}"/>
              </a:ext>
            </a:extLst>
          </p:cNvPr>
          <p:cNvPicPr>
            <a:picLocks noChangeAspect="1"/>
          </p:cNvPicPr>
          <p:nvPr/>
        </p:nvPicPr>
        <p:blipFill>
          <a:blip r:embed="rId3"/>
          <a:stretch>
            <a:fillRect/>
          </a:stretch>
        </p:blipFill>
        <p:spPr>
          <a:xfrm>
            <a:off x="6426581" y="963707"/>
            <a:ext cx="5106231" cy="3231792"/>
          </a:xfrm>
          <a:prstGeom prst="rect">
            <a:avLst/>
          </a:prstGeom>
        </p:spPr>
      </p:pic>
      <p:pic>
        <p:nvPicPr>
          <p:cNvPr id="10" name="Picture 9">
            <a:extLst>
              <a:ext uri="{FF2B5EF4-FFF2-40B4-BE49-F238E27FC236}">
                <a16:creationId xmlns:a16="http://schemas.microsoft.com/office/drawing/2014/main" id="{5A5A8A53-9727-2B71-1E7D-3C821A10F976}"/>
              </a:ext>
            </a:extLst>
          </p:cNvPr>
          <p:cNvPicPr>
            <a:picLocks noChangeAspect="1"/>
          </p:cNvPicPr>
          <p:nvPr/>
        </p:nvPicPr>
        <p:blipFill>
          <a:blip r:embed="rId4"/>
          <a:stretch>
            <a:fillRect/>
          </a:stretch>
        </p:blipFill>
        <p:spPr>
          <a:xfrm>
            <a:off x="6281923" y="4449418"/>
            <a:ext cx="5517588" cy="2008094"/>
          </a:xfrm>
          <a:prstGeom prst="rect">
            <a:avLst/>
          </a:prstGeom>
        </p:spPr>
      </p:pic>
    </p:spTree>
    <p:extLst>
      <p:ext uri="{BB962C8B-B14F-4D97-AF65-F5344CB8AC3E}">
        <p14:creationId xmlns:p14="http://schemas.microsoft.com/office/powerpoint/2010/main" val="389581691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313D8D-F803-BFD0-390A-4C7A48B10291}"/>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30C3F3A5-27C1-1A04-DFB1-EFCB904C6E0E}"/>
              </a:ext>
            </a:extLst>
          </p:cNvPr>
          <p:cNvSpPr>
            <a:spLocks noGrp="1"/>
          </p:cNvSpPr>
          <p:nvPr>
            <p:ph type="title"/>
          </p:nvPr>
        </p:nvSpPr>
        <p:spPr>
          <a:xfrm>
            <a:off x="0" y="1"/>
            <a:ext cx="2111188" cy="6904034"/>
          </a:xfrm>
          <a:solidFill>
            <a:schemeClr val="tx1"/>
          </a:solidFill>
        </p:spPr>
        <p:txBody>
          <a:bodyPr>
            <a:normAutofit/>
          </a:bodyPr>
          <a:lstStyle/>
          <a:p>
            <a:r>
              <a:rPr lang="en-CA">
                <a:solidFill>
                  <a:schemeClr val="bg1"/>
                </a:solidFill>
              </a:rPr>
              <a:t>A2D is not vibe coding</a:t>
            </a:r>
            <a:endParaRPr lang="en-CA" dirty="0">
              <a:solidFill>
                <a:schemeClr val="bg1"/>
              </a:solidFill>
            </a:endParaRPr>
          </a:p>
        </p:txBody>
      </p:sp>
      <p:pic>
        <p:nvPicPr>
          <p:cNvPr id="3" name="Picture 2">
            <a:extLst>
              <a:ext uri="{FF2B5EF4-FFF2-40B4-BE49-F238E27FC236}">
                <a16:creationId xmlns:a16="http://schemas.microsoft.com/office/drawing/2014/main" id="{FC8BF87C-58E3-6DF9-E101-5686FD660772}"/>
              </a:ext>
            </a:extLst>
          </p:cNvPr>
          <p:cNvPicPr>
            <a:picLocks noChangeAspect="1"/>
          </p:cNvPicPr>
          <p:nvPr/>
        </p:nvPicPr>
        <p:blipFill>
          <a:blip r:embed="rId2"/>
          <a:stretch>
            <a:fillRect/>
          </a:stretch>
        </p:blipFill>
        <p:spPr>
          <a:xfrm>
            <a:off x="2049670" y="-6054"/>
            <a:ext cx="10142330" cy="6910090"/>
          </a:xfrm>
          <a:prstGeom prst="rect">
            <a:avLst/>
          </a:prstGeom>
        </p:spPr>
      </p:pic>
    </p:spTree>
    <p:extLst>
      <p:ext uri="{BB962C8B-B14F-4D97-AF65-F5344CB8AC3E}">
        <p14:creationId xmlns:p14="http://schemas.microsoft.com/office/powerpoint/2010/main" val="344348705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6F828D28-8E09-41CC-8229-3070B5467A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5" name="Picture 14" descr="Close-up of hopscotch on a sidewalk">
            <a:extLst>
              <a:ext uri="{FF2B5EF4-FFF2-40B4-BE49-F238E27FC236}">
                <a16:creationId xmlns:a16="http://schemas.microsoft.com/office/drawing/2014/main" id="{01E65753-3203-8B20-DC6C-4781C0A3E2D7}"/>
              </a:ext>
            </a:extLst>
          </p:cNvPr>
          <p:cNvPicPr>
            <a:picLocks noChangeAspect="1"/>
          </p:cNvPicPr>
          <p:nvPr/>
        </p:nvPicPr>
        <p:blipFill>
          <a:blip r:embed="rId3"/>
          <a:srcRect t="8311" b="7419"/>
          <a:stretch>
            <a:fillRect/>
          </a:stretch>
        </p:blipFill>
        <p:spPr>
          <a:xfrm>
            <a:off x="20" y="-22"/>
            <a:ext cx="12191977" cy="6858022"/>
          </a:xfrm>
          <a:prstGeom prst="rect">
            <a:avLst/>
          </a:prstGeom>
        </p:spPr>
      </p:pic>
      <p:sp>
        <p:nvSpPr>
          <p:cNvPr id="24" name="Rectangle 23">
            <a:extLst>
              <a:ext uri="{FF2B5EF4-FFF2-40B4-BE49-F238E27FC236}">
                <a16:creationId xmlns:a16="http://schemas.microsoft.com/office/drawing/2014/main" id="{D5B012D8-7F27-4758-9AC6-C889B154BD7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103377" y="1100316"/>
            <a:ext cx="6858003" cy="4657347"/>
          </a:xfrm>
          <a:prstGeom prst="rect">
            <a:avLst/>
          </a:prstGeom>
          <a:gradFill flip="none" rotWithShape="1">
            <a:gsLst>
              <a:gs pos="48000">
                <a:srgbClr val="000000">
                  <a:alpha val="24000"/>
                </a:srgbClr>
              </a:gs>
              <a:gs pos="85000">
                <a:srgbClr val="000000">
                  <a:alpha val="45000"/>
                </a:srgbClr>
              </a:gs>
              <a:gs pos="0">
                <a:srgbClr val="000000">
                  <a:alpha val="0"/>
                </a:srgb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3">
            <a:extLst>
              <a:ext uri="{FF2B5EF4-FFF2-40B4-BE49-F238E27FC236}">
                <a16:creationId xmlns:a16="http://schemas.microsoft.com/office/drawing/2014/main" id="{994D7086-FAF5-D409-CC46-E64533FFB40B}"/>
              </a:ext>
            </a:extLst>
          </p:cNvPr>
          <p:cNvSpPr>
            <a:spLocks noGrp="1"/>
          </p:cNvSpPr>
          <p:nvPr>
            <p:ph type="title"/>
          </p:nvPr>
        </p:nvSpPr>
        <p:spPr>
          <a:xfrm>
            <a:off x="643466" y="643467"/>
            <a:ext cx="5452529" cy="3569242"/>
          </a:xfrm>
        </p:spPr>
        <p:txBody>
          <a:bodyPr vert="horz" lIns="91440" tIns="45720" rIns="91440" bIns="45720" rtlCol="0" anchor="t">
            <a:normAutofit/>
          </a:bodyPr>
          <a:lstStyle/>
          <a:p>
            <a:r>
              <a:rPr lang="en-US" sz="5200">
                <a:solidFill>
                  <a:srgbClr val="FFFFFF"/>
                </a:solidFill>
              </a:rPr>
              <a:t>Demo Time</a:t>
            </a:r>
            <a:endParaRPr lang="en-US" sz="5200" dirty="0">
              <a:solidFill>
                <a:srgbClr val="FFFFFF"/>
              </a:solidFill>
            </a:endParaRPr>
          </a:p>
        </p:txBody>
      </p:sp>
      <p:sp>
        <p:nvSpPr>
          <p:cNvPr id="5" name="Text Placeholder 4">
            <a:extLst>
              <a:ext uri="{FF2B5EF4-FFF2-40B4-BE49-F238E27FC236}">
                <a16:creationId xmlns:a16="http://schemas.microsoft.com/office/drawing/2014/main" id="{83DBCB44-8C5B-A1DE-8955-47FDC2768884}"/>
              </a:ext>
            </a:extLst>
          </p:cNvPr>
          <p:cNvSpPr>
            <a:spLocks noGrp="1"/>
          </p:cNvSpPr>
          <p:nvPr>
            <p:ph type="body" idx="1"/>
          </p:nvPr>
        </p:nvSpPr>
        <p:spPr>
          <a:xfrm>
            <a:off x="643466" y="4551037"/>
            <a:ext cx="5449479" cy="1578054"/>
          </a:xfrm>
        </p:spPr>
        <p:txBody>
          <a:bodyPr vert="horz" lIns="91440" tIns="45720" rIns="91440" bIns="45720" rtlCol="0" anchor="b">
            <a:normAutofit/>
          </a:bodyPr>
          <a:lstStyle/>
          <a:p>
            <a:endParaRPr lang="en-US">
              <a:solidFill>
                <a:srgbClr val="FFFFFF"/>
              </a:solidFill>
            </a:endParaRPr>
          </a:p>
        </p:txBody>
      </p:sp>
      <p:sp>
        <p:nvSpPr>
          <p:cNvPr id="26" name="Rectangle 25">
            <a:extLst>
              <a:ext uri="{FF2B5EF4-FFF2-40B4-BE49-F238E27FC236}">
                <a16:creationId xmlns:a16="http://schemas.microsoft.com/office/drawing/2014/main" id="{4063B759-00FC-46D1-9898-8E8625268FA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540187" y="2206184"/>
            <a:ext cx="6858003" cy="2445624"/>
          </a:xfrm>
          <a:prstGeom prst="rect">
            <a:avLst/>
          </a:prstGeom>
          <a:gradFill flip="none" rotWithShape="1">
            <a:gsLst>
              <a:gs pos="48000">
                <a:srgbClr val="000000">
                  <a:alpha val="24000"/>
                </a:srgbClr>
              </a:gs>
              <a:gs pos="85000">
                <a:srgbClr val="000000">
                  <a:alpha val="45000"/>
                </a:srgbClr>
              </a:gs>
              <a:gs pos="0">
                <a:srgbClr val="000000">
                  <a:alpha val="0"/>
                </a:srgb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a:extLst>
              <a:ext uri="{FF2B5EF4-FFF2-40B4-BE49-F238E27FC236}">
                <a16:creationId xmlns:a16="http://schemas.microsoft.com/office/drawing/2014/main" id="{A2EAD7CC-697A-17D2-891D-C1D913C1B534}"/>
              </a:ext>
            </a:extLst>
          </p:cNvPr>
          <p:cNvPicPr>
            <a:picLocks noChangeAspect="1"/>
          </p:cNvPicPr>
          <p:nvPr/>
        </p:nvPicPr>
        <p:blipFill>
          <a:blip r:embed="rId4"/>
          <a:stretch>
            <a:fillRect/>
          </a:stretch>
        </p:blipFill>
        <p:spPr>
          <a:xfrm>
            <a:off x="2061832" y="1778792"/>
            <a:ext cx="7763947" cy="4867836"/>
          </a:xfrm>
          <a:prstGeom prst="rect">
            <a:avLst/>
          </a:prstGeom>
        </p:spPr>
      </p:pic>
    </p:spTree>
    <p:extLst>
      <p:ext uri="{BB962C8B-B14F-4D97-AF65-F5344CB8AC3E}">
        <p14:creationId xmlns:p14="http://schemas.microsoft.com/office/powerpoint/2010/main" val="311688184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6B0252-16B2-1A83-1E72-12F8342C7F57}"/>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6DA4D2B1-45D6-3A18-07B2-6C986C063479}"/>
              </a:ext>
            </a:extLst>
          </p:cNvPr>
          <p:cNvPicPr>
            <a:picLocks noChangeAspect="1"/>
          </p:cNvPicPr>
          <p:nvPr/>
        </p:nvPicPr>
        <p:blipFill>
          <a:blip r:embed="rId2"/>
          <a:stretch>
            <a:fillRect/>
          </a:stretch>
        </p:blipFill>
        <p:spPr>
          <a:xfrm>
            <a:off x="3840734" y="0"/>
            <a:ext cx="4510531" cy="6858000"/>
          </a:xfrm>
          <a:prstGeom prst="rect">
            <a:avLst/>
          </a:prstGeom>
        </p:spPr>
      </p:pic>
    </p:spTree>
    <p:extLst>
      <p:ext uri="{BB962C8B-B14F-4D97-AF65-F5344CB8AC3E}">
        <p14:creationId xmlns:p14="http://schemas.microsoft.com/office/powerpoint/2010/main" val="273609541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05E24104-D82A-26A2-1164-BEF82BFFC10B}"/>
              </a:ext>
            </a:extLst>
          </p:cNvPr>
          <p:cNvPicPr>
            <a:picLocks noChangeAspect="1"/>
          </p:cNvPicPr>
          <p:nvPr/>
        </p:nvPicPr>
        <p:blipFill>
          <a:blip r:embed="rId2"/>
          <a:stretch>
            <a:fillRect/>
          </a:stretch>
        </p:blipFill>
        <p:spPr>
          <a:xfrm>
            <a:off x="789578" y="0"/>
            <a:ext cx="10612843" cy="6858000"/>
          </a:xfrm>
          <a:prstGeom prst="rect">
            <a:avLst/>
          </a:prstGeom>
        </p:spPr>
      </p:pic>
    </p:spTree>
    <p:extLst>
      <p:ext uri="{BB962C8B-B14F-4D97-AF65-F5344CB8AC3E}">
        <p14:creationId xmlns:p14="http://schemas.microsoft.com/office/powerpoint/2010/main" val="78622802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478DC26-45C6-0EF8-907B-BF240F3B51FA}"/>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08953E74-D241-4DDF-8508-F0365EA13A9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reeform: Shape 10">
            <a:extLst>
              <a:ext uri="{FF2B5EF4-FFF2-40B4-BE49-F238E27FC236}">
                <a16:creationId xmlns:a16="http://schemas.microsoft.com/office/drawing/2014/main" id="{5C3C901A-B2F4-4A3C-BCDD-7C8D587ECA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0" y="0"/>
            <a:ext cx="12192000" cy="2371134"/>
          </a:xfrm>
          <a:custGeom>
            <a:avLst/>
            <a:gdLst>
              <a:gd name="connsiteX0" fmla="*/ 0 w 12192000"/>
              <a:gd name="connsiteY0" fmla="*/ 0 h 2515690"/>
              <a:gd name="connsiteX1" fmla="*/ 170442 w 12192000"/>
              <a:gd name="connsiteY1" fmla="*/ 96074 h 2515690"/>
              <a:gd name="connsiteX2" fmla="*/ 424739 w 12192000"/>
              <a:gd name="connsiteY2" fmla="*/ 224865 h 2515690"/>
              <a:gd name="connsiteX3" fmla="*/ 748273 w 12192000"/>
              <a:gd name="connsiteY3" fmla="*/ 373939 h 2515690"/>
              <a:gd name="connsiteX4" fmla="*/ 1037058 w 12192000"/>
              <a:gd name="connsiteY4" fmla="*/ 499994 h 2515690"/>
              <a:gd name="connsiteX5" fmla="*/ 1101312 w 12192000"/>
              <a:gd name="connsiteY5" fmla="*/ 428540 h 2515690"/>
              <a:gd name="connsiteX6" fmla="*/ 1367071 w 12192000"/>
              <a:gd name="connsiteY6" fmla="*/ 516118 h 2515690"/>
              <a:gd name="connsiteX7" fmla="*/ 2189943 w 12192000"/>
              <a:gd name="connsiteY7" fmla="*/ 794533 h 2515690"/>
              <a:gd name="connsiteX8" fmla="*/ 2390329 w 12192000"/>
              <a:gd name="connsiteY8" fmla="*/ 920897 h 2515690"/>
              <a:gd name="connsiteX9" fmla="*/ 2459570 w 12192000"/>
              <a:gd name="connsiteY9" fmla="*/ 983740 h 2515690"/>
              <a:gd name="connsiteX10" fmla="*/ 2503252 w 12192000"/>
              <a:gd name="connsiteY10" fmla="*/ 1000151 h 2515690"/>
              <a:gd name="connsiteX11" fmla="*/ 2503252 w 12192000"/>
              <a:gd name="connsiteY11" fmla="*/ 1008273 h 2515690"/>
              <a:gd name="connsiteX12" fmla="*/ 2511191 w 12192000"/>
              <a:gd name="connsiteY12" fmla="*/ 1009499 h 2515690"/>
              <a:gd name="connsiteX13" fmla="*/ 2565029 w 12192000"/>
              <a:gd name="connsiteY13" fmla="*/ 1015977 h 2515690"/>
              <a:gd name="connsiteX14" fmla="*/ 2593745 w 12192000"/>
              <a:gd name="connsiteY14" fmla="*/ 1019963 h 2515690"/>
              <a:gd name="connsiteX15" fmla="*/ 2591015 w 12192000"/>
              <a:gd name="connsiteY15" fmla="*/ 1019651 h 2515690"/>
              <a:gd name="connsiteX16" fmla="*/ 2590137 w 12192000"/>
              <a:gd name="connsiteY16" fmla="*/ 1019549 h 2515690"/>
              <a:gd name="connsiteX17" fmla="*/ 2589021 w 12192000"/>
              <a:gd name="connsiteY17" fmla="*/ 1019424 h 2515690"/>
              <a:gd name="connsiteX18" fmla="*/ 2591015 w 12192000"/>
              <a:gd name="connsiteY18" fmla="*/ 1019651 h 2515690"/>
              <a:gd name="connsiteX19" fmla="*/ 2602385 w 12192000"/>
              <a:gd name="connsiteY19" fmla="*/ 1020975 h 2515690"/>
              <a:gd name="connsiteX20" fmla="*/ 2614445 w 12192000"/>
              <a:gd name="connsiteY20" fmla="*/ 1022389 h 2515690"/>
              <a:gd name="connsiteX21" fmla="*/ 2614445 w 12192000"/>
              <a:gd name="connsiteY21" fmla="*/ 1020966 h 2515690"/>
              <a:gd name="connsiteX22" fmla="*/ 2676661 w 12192000"/>
              <a:gd name="connsiteY22" fmla="*/ 1029355 h 2515690"/>
              <a:gd name="connsiteX23" fmla="*/ 2788597 w 12192000"/>
              <a:gd name="connsiteY23" fmla="*/ 1048926 h 2515690"/>
              <a:gd name="connsiteX24" fmla="*/ 2812742 w 12192000"/>
              <a:gd name="connsiteY24" fmla="*/ 1057667 h 2515690"/>
              <a:gd name="connsiteX25" fmla="*/ 2970201 w 12192000"/>
              <a:gd name="connsiteY25" fmla="*/ 949091 h 2515690"/>
              <a:gd name="connsiteX26" fmla="*/ 3030610 w 12192000"/>
              <a:gd name="connsiteY26" fmla="*/ 1049340 h 2515690"/>
              <a:gd name="connsiteX27" fmla="*/ 3058913 w 12192000"/>
              <a:gd name="connsiteY27" fmla="*/ 1048085 h 2515690"/>
              <a:gd name="connsiteX28" fmla="*/ 3072697 w 12192000"/>
              <a:gd name="connsiteY28" fmla="*/ 1045316 h 2515690"/>
              <a:gd name="connsiteX29" fmla="*/ 3083305 w 12192000"/>
              <a:gd name="connsiteY29" fmla="*/ 1040550 h 2515690"/>
              <a:gd name="connsiteX30" fmla="*/ 3125603 w 12192000"/>
              <a:gd name="connsiteY30" fmla="*/ 1004583 h 2515690"/>
              <a:gd name="connsiteX31" fmla="*/ 3385106 w 12192000"/>
              <a:gd name="connsiteY31" fmla="*/ 1042233 h 2515690"/>
              <a:gd name="connsiteX32" fmla="*/ 3424945 w 12192000"/>
              <a:gd name="connsiteY32" fmla="*/ 1065268 h 2515690"/>
              <a:gd name="connsiteX33" fmla="*/ 3436948 w 12192000"/>
              <a:gd name="connsiteY33" fmla="*/ 1068018 h 2515690"/>
              <a:gd name="connsiteX34" fmla="*/ 3466714 w 12192000"/>
              <a:gd name="connsiteY34" fmla="*/ 1063419 h 2515690"/>
              <a:gd name="connsiteX35" fmla="*/ 3550909 w 12192000"/>
              <a:gd name="connsiteY35" fmla="*/ 1044511 h 2515690"/>
              <a:gd name="connsiteX36" fmla="*/ 3555900 w 12192000"/>
              <a:gd name="connsiteY36" fmla="*/ 1041996 h 2515690"/>
              <a:gd name="connsiteX37" fmla="*/ 3625978 w 12192000"/>
              <a:gd name="connsiteY37" fmla="*/ 1023459 h 2515690"/>
              <a:gd name="connsiteX38" fmla="*/ 3632465 w 12192000"/>
              <a:gd name="connsiteY38" fmla="*/ 1023522 h 2515690"/>
              <a:gd name="connsiteX39" fmla="*/ 3649063 w 12192000"/>
              <a:gd name="connsiteY39" fmla="*/ 1018726 h 2515690"/>
              <a:gd name="connsiteX40" fmla="*/ 3805954 w 12192000"/>
              <a:gd name="connsiteY40" fmla="*/ 917517 h 2515690"/>
              <a:gd name="connsiteX41" fmla="*/ 4020506 w 12192000"/>
              <a:gd name="connsiteY41" fmla="*/ 816231 h 2515690"/>
              <a:gd name="connsiteX42" fmla="*/ 4233682 w 12192000"/>
              <a:gd name="connsiteY42" fmla="*/ 799511 h 2515690"/>
              <a:gd name="connsiteX43" fmla="*/ 4306552 w 12192000"/>
              <a:gd name="connsiteY43" fmla="*/ 610207 h 2515690"/>
              <a:gd name="connsiteX44" fmla="*/ 4816604 w 12192000"/>
              <a:gd name="connsiteY44" fmla="*/ 773163 h 2515690"/>
              <a:gd name="connsiteX45" fmla="*/ 4916502 w 12192000"/>
              <a:gd name="connsiteY45" fmla="*/ 788104 h 2515690"/>
              <a:gd name="connsiteX46" fmla="*/ 5224415 w 12192000"/>
              <a:gd name="connsiteY46" fmla="*/ 674418 h 2515690"/>
              <a:gd name="connsiteX47" fmla="*/ 5274077 w 12192000"/>
              <a:gd name="connsiteY47" fmla="*/ 655978 h 2515690"/>
              <a:gd name="connsiteX48" fmla="*/ 5371217 w 12192000"/>
              <a:gd name="connsiteY48" fmla="*/ 614372 h 2515690"/>
              <a:gd name="connsiteX49" fmla="*/ 5364523 w 12192000"/>
              <a:gd name="connsiteY49" fmla="*/ 502501 h 2515690"/>
              <a:gd name="connsiteX50" fmla="*/ 5457871 w 12192000"/>
              <a:gd name="connsiteY50" fmla="*/ 558285 h 2515690"/>
              <a:gd name="connsiteX51" fmla="*/ 5750580 w 12192000"/>
              <a:gd name="connsiteY51" fmla="*/ 663503 h 2515690"/>
              <a:gd name="connsiteX52" fmla="*/ 5976618 w 12192000"/>
              <a:gd name="connsiteY52" fmla="*/ 582652 h 2515690"/>
              <a:gd name="connsiteX53" fmla="*/ 6009346 w 12192000"/>
              <a:gd name="connsiteY53" fmla="*/ 559470 h 2515690"/>
              <a:gd name="connsiteX54" fmla="*/ 6069735 w 12192000"/>
              <a:gd name="connsiteY54" fmla="*/ 587803 h 2515690"/>
              <a:gd name="connsiteX55" fmla="*/ 6270319 w 12192000"/>
              <a:gd name="connsiteY55" fmla="*/ 643982 h 2515690"/>
              <a:gd name="connsiteX56" fmla="*/ 6406781 w 12192000"/>
              <a:gd name="connsiteY56" fmla="*/ 672327 h 2515690"/>
              <a:gd name="connsiteX57" fmla="*/ 6469508 w 12192000"/>
              <a:gd name="connsiteY57" fmla="*/ 708574 h 2515690"/>
              <a:gd name="connsiteX58" fmla="*/ 6515869 w 12192000"/>
              <a:gd name="connsiteY58" fmla="*/ 715738 h 2515690"/>
              <a:gd name="connsiteX59" fmla="*/ 6725938 w 12192000"/>
              <a:gd name="connsiteY59" fmla="*/ 691128 h 2515690"/>
              <a:gd name="connsiteX60" fmla="*/ 6778240 w 12192000"/>
              <a:gd name="connsiteY60" fmla="*/ 678998 h 2515690"/>
              <a:gd name="connsiteX61" fmla="*/ 6806944 w 12192000"/>
              <a:gd name="connsiteY61" fmla="*/ 646178 h 2515690"/>
              <a:gd name="connsiteX62" fmla="*/ 6830632 w 12192000"/>
              <a:gd name="connsiteY62" fmla="*/ 633915 h 2515690"/>
              <a:gd name="connsiteX63" fmla="*/ 6858072 w 12192000"/>
              <a:gd name="connsiteY63" fmla="*/ 646178 h 2515690"/>
              <a:gd name="connsiteX64" fmla="*/ 6891322 w 12192000"/>
              <a:gd name="connsiteY64" fmla="*/ 678998 h 2515690"/>
              <a:gd name="connsiteX65" fmla="*/ 6951905 w 12192000"/>
              <a:gd name="connsiteY65" fmla="*/ 691128 h 2515690"/>
              <a:gd name="connsiteX66" fmla="*/ 7195246 w 12192000"/>
              <a:gd name="connsiteY66" fmla="*/ 715738 h 2515690"/>
              <a:gd name="connsiteX67" fmla="*/ 7248949 w 12192000"/>
              <a:gd name="connsiteY67" fmla="*/ 708574 h 2515690"/>
              <a:gd name="connsiteX68" fmla="*/ 7321609 w 12192000"/>
              <a:gd name="connsiteY68" fmla="*/ 672327 h 2515690"/>
              <a:gd name="connsiteX69" fmla="*/ 7479684 w 12192000"/>
              <a:gd name="connsiteY69" fmla="*/ 643982 h 2515690"/>
              <a:gd name="connsiteX70" fmla="*/ 7712035 w 12192000"/>
              <a:gd name="connsiteY70" fmla="*/ 587803 h 2515690"/>
              <a:gd name="connsiteX71" fmla="*/ 7781987 w 12192000"/>
              <a:gd name="connsiteY71" fmla="*/ 559470 h 2515690"/>
              <a:gd name="connsiteX72" fmla="*/ 7819900 w 12192000"/>
              <a:gd name="connsiteY72" fmla="*/ 582652 h 2515690"/>
              <a:gd name="connsiteX73" fmla="*/ 8081736 w 12192000"/>
              <a:gd name="connsiteY73" fmla="*/ 663503 h 2515690"/>
              <a:gd name="connsiteX74" fmla="*/ 8420801 w 12192000"/>
              <a:gd name="connsiteY74" fmla="*/ 558285 h 2515690"/>
              <a:gd name="connsiteX75" fmla="*/ 8528933 w 12192000"/>
              <a:gd name="connsiteY75" fmla="*/ 502501 h 2515690"/>
              <a:gd name="connsiteX76" fmla="*/ 8521178 w 12192000"/>
              <a:gd name="connsiteY76" fmla="*/ 614372 h 2515690"/>
              <a:gd name="connsiteX77" fmla="*/ 8633702 w 12192000"/>
              <a:gd name="connsiteY77" fmla="*/ 655978 h 2515690"/>
              <a:gd name="connsiteX78" fmla="*/ 8691231 w 12192000"/>
              <a:gd name="connsiteY78" fmla="*/ 674418 h 2515690"/>
              <a:gd name="connsiteX79" fmla="*/ 9047908 w 12192000"/>
              <a:gd name="connsiteY79" fmla="*/ 788104 h 2515690"/>
              <a:gd name="connsiteX80" fmla="*/ 9163628 w 12192000"/>
              <a:gd name="connsiteY80" fmla="*/ 773163 h 2515690"/>
              <a:gd name="connsiteX81" fmla="*/ 9754459 w 12192000"/>
              <a:gd name="connsiteY81" fmla="*/ 610207 h 2515690"/>
              <a:gd name="connsiteX82" fmla="*/ 9838868 w 12192000"/>
              <a:gd name="connsiteY82" fmla="*/ 799511 h 2515690"/>
              <a:gd name="connsiteX83" fmla="*/ 10085808 w 12192000"/>
              <a:gd name="connsiteY83" fmla="*/ 816231 h 2515690"/>
              <a:gd name="connsiteX84" fmla="*/ 10334338 w 12192000"/>
              <a:gd name="connsiteY84" fmla="*/ 917517 h 2515690"/>
              <a:gd name="connsiteX85" fmla="*/ 10516076 w 12192000"/>
              <a:gd name="connsiteY85" fmla="*/ 1018726 h 2515690"/>
              <a:gd name="connsiteX86" fmla="*/ 10535302 w 12192000"/>
              <a:gd name="connsiteY86" fmla="*/ 1023522 h 2515690"/>
              <a:gd name="connsiteX87" fmla="*/ 10542819 w 12192000"/>
              <a:gd name="connsiteY87" fmla="*/ 1023458 h 2515690"/>
              <a:gd name="connsiteX88" fmla="*/ 10623994 w 12192000"/>
              <a:gd name="connsiteY88" fmla="*/ 1041996 h 2515690"/>
              <a:gd name="connsiteX89" fmla="*/ 10629774 w 12192000"/>
              <a:gd name="connsiteY89" fmla="*/ 1044511 h 2515690"/>
              <a:gd name="connsiteX90" fmla="*/ 10727305 w 12192000"/>
              <a:gd name="connsiteY90" fmla="*/ 1063419 h 2515690"/>
              <a:gd name="connsiteX91" fmla="*/ 10761785 w 12192000"/>
              <a:gd name="connsiteY91" fmla="*/ 1068017 h 2515690"/>
              <a:gd name="connsiteX92" fmla="*/ 10775688 w 12192000"/>
              <a:gd name="connsiteY92" fmla="*/ 1065268 h 2515690"/>
              <a:gd name="connsiteX93" fmla="*/ 10821837 w 12192000"/>
              <a:gd name="connsiteY93" fmla="*/ 1042232 h 2515690"/>
              <a:gd name="connsiteX94" fmla="*/ 11122438 w 12192000"/>
              <a:gd name="connsiteY94" fmla="*/ 1004583 h 2515690"/>
              <a:gd name="connsiteX95" fmla="*/ 11171433 w 12192000"/>
              <a:gd name="connsiteY95" fmla="*/ 1040550 h 2515690"/>
              <a:gd name="connsiteX96" fmla="*/ 11183724 w 12192000"/>
              <a:gd name="connsiteY96" fmla="*/ 1045316 h 2515690"/>
              <a:gd name="connsiteX97" fmla="*/ 11199690 w 12192000"/>
              <a:gd name="connsiteY97" fmla="*/ 1048085 h 2515690"/>
              <a:gd name="connsiteX98" fmla="*/ 11232475 w 12192000"/>
              <a:gd name="connsiteY98" fmla="*/ 1049340 h 2515690"/>
              <a:gd name="connsiteX99" fmla="*/ 11302451 w 12192000"/>
              <a:gd name="connsiteY99" fmla="*/ 949091 h 2515690"/>
              <a:gd name="connsiteX100" fmla="*/ 11484849 w 12192000"/>
              <a:gd name="connsiteY100" fmla="*/ 1057667 h 2515690"/>
              <a:gd name="connsiteX101" fmla="*/ 11512818 w 12192000"/>
              <a:gd name="connsiteY101" fmla="*/ 1048926 h 2515690"/>
              <a:gd name="connsiteX102" fmla="*/ 11642481 w 12192000"/>
              <a:gd name="connsiteY102" fmla="*/ 1029355 h 2515690"/>
              <a:gd name="connsiteX103" fmla="*/ 11714551 w 12192000"/>
              <a:gd name="connsiteY103" fmla="*/ 1020966 h 2515690"/>
              <a:gd name="connsiteX104" fmla="*/ 11714551 w 12192000"/>
              <a:gd name="connsiteY104" fmla="*/ 1022389 h 2515690"/>
              <a:gd name="connsiteX105" fmla="*/ 11728519 w 12192000"/>
              <a:gd name="connsiteY105" fmla="*/ 1020975 h 2515690"/>
              <a:gd name="connsiteX106" fmla="*/ 11741691 w 12192000"/>
              <a:gd name="connsiteY106" fmla="*/ 1019651 h 2515690"/>
              <a:gd name="connsiteX107" fmla="*/ 11743999 w 12192000"/>
              <a:gd name="connsiteY107" fmla="*/ 1019424 h 2515690"/>
              <a:gd name="connsiteX108" fmla="*/ 11742709 w 12192000"/>
              <a:gd name="connsiteY108" fmla="*/ 1019549 h 2515690"/>
              <a:gd name="connsiteX109" fmla="*/ 11741691 w 12192000"/>
              <a:gd name="connsiteY109" fmla="*/ 1019651 h 2515690"/>
              <a:gd name="connsiteX110" fmla="*/ 11738529 w 12192000"/>
              <a:gd name="connsiteY110" fmla="*/ 1019963 h 2515690"/>
              <a:gd name="connsiteX111" fmla="*/ 11771791 w 12192000"/>
              <a:gd name="connsiteY111" fmla="*/ 1015977 h 2515690"/>
              <a:gd name="connsiteX112" fmla="*/ 11834157 w 12192000"/>
              <a:gd name="connsiteY112" fmla="*/ 1009499 h 2515690"/>
              <a:gd name="connsiteX113" fmla="*/ 11843354 w 12192000"/>
              <a:gd name="connsiteY113" fmla="*/ 1008273 h 2515690"/>
              <a:gd name="connsiteX114" fmla="*/ 11843354 w 12192000"/>
              <a:gd name="connsiteY114" fmla="*/ 1000151 h 2515690"/>
              <a:gd name="connsiteX115" fmla="*/ 11893955 w 12192000"/>
              <a:gd name="connsiteY115" fmla="*/ 983740 h 2515690"/>
              <a:gd name="connsiteX116" fmla="*/ 11974160 w 12192000"/>
              <a:gd name="connsiteY116" fmla="*/ 920897 h 2515690"/>
              <a:gd name="connsiteX117" fmla="*/ 12143531 w 12192000"/>
              <a:gd name="connsiteY117" fmla="*/ 823664 h 2515690"/>
              <a:gd name="connsiteX118" fmla="*/ 12192000 w 12192000"/>
              <a:gd name="connsiteY118" fmla="*/ 801163 h 2515690"/>
              <a:gd name="connsiteX119" fmla="*/ 12192000 w 12192000"/>
              <a:gd name="connsiteY119" fmla="*/ 2515690 h 2515690"/>
              <a:gd name="connsiteX120" fmla="*/ 0 w 12192000"/>
              <a:gd name="connsiteY120" fmla="*/ 2515690 h 25156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Lst>
            <a:rect l="l" t="t" r="r" b="b"/>
            <a:pathLst>
              <a:path w="12192000" h="2515690">
                <a:moveTo>
                  <a:pt x="0" y="0"/>
                </a:moveTo>
                <a:lnTo>
                  <a:pt x="170442" y="96074"/>
                </a:lnTo>
                <a:cubicBezTo>
                  <a:pt x="323315" y="179510"/>
                  <a:pt x="418777" y="223899"/>
                  <a:pt x="424739" y="224865"/>
                </a:cubicBezTo>
                <a:cubicBezTo>
                  <a:pt x="573781" y="248496"/>
                  <a:pt x="654649" y="314572"/>
                  <a:pt x="748273" y="373939"/>
                </a:cubicBezTo>
                <a:cubicBezTo>
                  <a:pt x="830321" y="425631"/>
                  <a:pt x="917271" y="480784"/>
                  <a:pt x="1037058" y="499994"/>
                </a:cubicBezTo>
                <a:cubicBezTo>
                  <a:pt x="1195925" y="525362"/>
                  <a:pt x="1048105" y="445478"/>
                  <a:pt x="1101312" y="428540"/>
                </a:cubicBezTo>
                <a:cubicBezTo>
                  <a:pt x="1188473" y="458169"/>
                  <a:pt x="1274625" y="505369"/>
                  <a:pt x="1367071" y="516118"/>
                </a:cubicBezTo>
                <a:cubicBezTo>
                  <a:pt x="1701323" y="554463"/>
                  <a:pt x="1964451" y="648887"/>
                  <a:pt x="2189943" y="794533"/>
                </a:cubicBezTo>
                <a:cubicBezTo>
                  <a:pt x="2255082" y="836300"/>
                  <a:pt x="2357481" y="862342"/>
                  <a:pt x="2390329" y="920897"/>
                </a:cubicBezTo>
                <a:cubicBezTo>
                  <a:pt x="2406050" y="949359"/>
                  <a:pt x="2430126" y="969285"/>
                  <a:pt x="2459570" y="983740"/>
                </a:cubicBezTo>
                <a:lnTo>
                  <a:pt x="2503252" y="1000151"/>
                </a:lnTo>
                <a:lnTo>
                  <a:pt x="2503252" y="1008273"/>
                </a:lnTo>
                <a:lnTo>
                  <a:pt x="2511191" y="1009499"/>
                </a:lnTo>
                <a:cubicBezTo>
                  <a:pt x="2529847" y="1011974"/>
                  <a:pt x="2562849" y="1015701"/>
                  <a:pt x="2565029" y="1015977"/>
                </a:cubicBezTo>
                <a:cubicBezTo>
                  <a:pt x="2610845" y="1021778"/>
                  <a:pt x="2601577" y="1020837"/>
                  <a:pt x="2593745" y="1019963"/>
                </a:cubicBezTo>
                <a:lnTo>
                  <a:pt x="2591015" y="1019651"/>
                </a:lnTo>
                <a:lnTo>
                  <a:pt x="2590137" y="1019549"/>
                </a:lnTo>
                <a:cubicBezTo>
                  <a:pt x="2588203" y="1019326"/>
                  <a:pt x="2588125" y="1019321"/>
                  <a:pt x="2589021" y="1019424"/>
                </a:cubicBezTo>
                <a:lnTo>
                  <a:pt x="2591015" y="1019651"/>
                </a:lnTo>
                <a:lnTo>
                  <a:pt x="2602385" y="1020975"/>
                </a:lnTo>
                <a:lnTo>
                  <a:pt x="2614445" y="1022389"/>
                </a:lnTo>
                <a:lnTo>
                  <a:pt x="2614445" y="1020966"/>
                </a:lnTo>
                <a:lnTo>
                  <a:pt x="2676661" y="1029355"/>
                </a:lnTo>
                <a:cubicBezTo>
                  <a:pt x="2715592" y="1034194"/>
                  <a:pt x="2753901" y="1039695"/>
                  <a:pt x="2788597" y="1048926"/>
                </a:cubicBezTo>
                <a:lnTo>
                  <a:pt x="2812742" y="1057667"/>
                </a:lnTo>
                <a:lnTo>
                  <a:pt x="2970201" y="949091"/>
                </a:lnTo>
                <a:cubicBezTo>
                  <a:pt x="3052785" y="982961"/>
                  <a:pt x="2996105" y="1020057"/>
                  <a:pt x="3030610" y="1049340"/>
                </a:cubicBezTo>
                <a:cubicBezTo>
                  <a:pt x="3039005" y="1048442"/>
                  <a:pt x="3049621" y="1048500"/>
                  <a:pt x="3058913" y="1048085"/>
                </a:cubicBezTo>
                <a:lnTo>
                  <a:pt x="3072697" y="1045316"/>
                </a:lnTo>
                <a:lnTo>
                  <a:pt x="3083305" y="1040550"/>
                </a:lnTo>
                <a:lnTo>
                  <a:pt x="3125603" y="1004583"/>
                </a:lnTo>
                <a:cubicBezTo>
                  <a:pt x="3221669" y="925596"/>
                  <a:pt x="3242489" y="937564"/>
                  <a:pt x="3385106" y="1042233"/>
                </a:cubicBezTo>
                <a:cubicBezTo>
                  <a:pt x="3399403" y="1052670"/>
                  <a:pt x="3412529" y="1060209"/>
                  <a:pt x="3424945" y="1065268"/>
                </a:cubicBezTo>
                <a:lnTo>
                  <a:pt x="3436948" y="1068018"/>
                </a:lnTo>
                <a:lnTo>
                  <a:pt x="3466714" y="1063419"/>
                </a:lnTo>
                <a:lnTo>
                  <a:pt x="3550909" y="1044511"/>
                </a:lnTo>
                <a:lnTo>
                  <a:pt x="3555900" y="1041996"/>
                </a:lnTo>
                <a:cubicBezTo>
                  <a:pt x="3573827" y="1033454"/>
                  <a:pt x="3594382" y="1025941"/>
                  <a:pt x="3625978" y="1023459"/>
                </a:cubicBezTo>
                <a:lnTo>
                  <a:pt x="3632465" y="1023522"/>
                </a:lnTo>
                <a:lnTo>
                  <a:pt x="3649063" y="1018726"/>
                </a:lnTo>
                <a:cubicBezTo>
                  <a:pt x="3741849" y="989371"/>
                  <a:pt x="3810578" y="953657"/>
                  <a:pt x="3805954" y="917517"/>
                </a:cubicBezTo>
                <a:cubicBezTo>
                  <a:pt x="4031729" y="953901"/>
                  <a:pt x="4031729" y="953901"/>
                  <a:pt x="4020506" y="816231"/>
                </a:cubicBezTo>
                <a:cubicBezTo>
                  <a:pt x="4171643" y="865324"/>
                  <a:pt x="4206308" y="864422"/>
                  <a:pt x="4233682" y="799511"/>
                </a:cubicBezTo>
                <a:cubicBezTo>
                  <a:pt x="4260226" y="737017"/>
                  <a:pt x="4254728" y="668575"/>
                  <a:pt x="4306552" y="610207"/>
                </a:cubicBezTo>
                <a:cubicBezTo>
                  <a:pt x="4495313" y="657923"/>
                  <a:pt x="4699922" y="667347"/>
                  <a:pt x="4816604" y="773163"/>
                </a:cubicBezTo>
                <a:cubicBezTo>
                  <a:pt x="4834734" y="789836"/>
                  <a:pt x="4890507" y="799946"/>
                  <a:pt x="4916502" y="788104"/>
                </a:cubicBezTo>
                <a:cubicBezTo>
                  <a:pt x="5013526" y="746101"/>
                  <a:pt x="5238129" y="796871"/>
                  <a:pt x="5224415" y="674418"/>
                </a:cubicBezTo>
                <a:cubicBezTo>
                  <a:pt x="5223051" y="659300"/>
                  <a:pt x="5240524" y="644890"/>
                  <a:pt x="5274077" y="655978"/>
                </a:cubicBezTo>
                <a:cubicBezTo>
                  <a:pt x="5388582" y="694066"/>
                  <a:pt x="5367022" y="644784"/>
                  <a:pt x="5371217" y="614372"/>
                </a:cubicBezTo>
                <a:cubicBezTo>
                  <a:pt x="5375856" y="577567"/>
                  <a:pt x="5319010" y="537578"/>
                  <a:pt x="5364523" y="502501"/>
                </a:cubicBezTo>
                <a:cubicBezTo>
                  <a:pt x="5425408" y="508891"/>
                  <a:pt x="5433299" y="538191"/>
                  <a:pt x="5457871" y="558285"/>
                </a:cubicBezTo>
                <a:cubicBezTo>
                  <a:pt x="5530352" y="617005"/>
                  <a:pt x="5609566" y="664386"/>
                  <a:pt x="5750580" y="663503"/>
                </a:cubicBezTo>
                <a:cubicBezTo>
                  <a:pt x="5864519" y="662926"/>
                  <a:pt x="5966527" y="666650"/>
                  <a:pt x="5976618" y="582652"/>
                </a:cubicBezTo>
                <a:cubicBezTo>
                  <a:pt x="5978145" y="569455"/>
                  <a:pt x="5990792" y="562346"/>
                  <a:pt x="6009346" y="559470"/>
                </a:cubicBezTo>
                <a:cubicBezTo>
                  <a:pt x="6030639" y="568485"/>
                  <a:pt x="6052592" y="577083"/>
                  <a:pt x="6069735" y="587803"/>
                </a:cubicBezTo>
                <a:cubicBezTo>
                  <a:pt x="6126182" y="623812"/>
                  <a:pt x="6196945" y="634730"/>
                  <a:pt x="6270319" y="643982"/>
                </a:cubicBezTo>
                <a:cubicBezTo>
                  <a:pt x="6317101" y="649940"/>
                  <a:pt x="6363466" y="657107"/>
                  <a:pt x="6406781" y="672327"/>
                </a:cubicBezTo>
                <a:cubicBezTo>
                  <a:pt x="6433586" y="681598"/>
                  <a:pt x="6454928" y="693402"/>
                  <a:pt x="6469508" y="708574"/>
                </a:cubicBezTo>
                <a:cubicBezTo>
                  <a:pt x="6482729" y="721786"/>
                  <a:pt x="6496225" y="725422"/>
                  <a:pt x="6515869" y="715738"/>
                </a:cubicBezTo>
                <a:cubicBezTo>
                  <a:pt x="6572200" y="688353"/>
                  <a:pt x="6639257" y="676241"/>
                  <a:pt x="6725938" y="691128"/>
                </a:cubicBezTo>
                <a:cubicBezTo>
                  <a:pt x="6752109" y="695629"/>
                  <a:pt x="6772625" y="691505"/>
                  <a:pt x="6778240" y="678998"/>
                </a:cubicBezTo>
                <a:cubicBezTo>
                  <a:pt x="6784286" y="665981"/>
                  <a:pt x="6794269" y="655280"/>
                  <a:pt x="6806944" y="646178"/>
                </a:cubicBezTo>
                <a:lnTo>
                  <a:pt x="6830632" y="633915"/>
                </a:lnTo>
                <a:lnTo>
                  <a:pt x="6858072" y="646178"/>
                </a:lnTo>
                <a:cubicBezTo>
                  <a:pt x="6872754" y="655280"/>
                  <a:pt x="6884317" y="665981"/>
                  <a:pt x="6891322" y="678998"/>
                </a:cubicBezTo>
                <a:cubicBezTo>
                  <a:pt x="6897826" y="691505"/>
                  <a:pt x="6921592" y="695629"/>
                  <a:pt x="6951905" y="691128"/>
                </a:cubicBezTo>
                <a:cubicBezTo>
                  <a:pt x="7052317" y="676241"/>
                  <a:pt x="7129994" y="688353"/>
                  <a:pt x="7195246" y="715738"/>
                </a:cubicBezTo>
                <a:cubicBezTo>
                  <a:pt x="7217999" y="725422"/>
                  <a:pt x="7233634" y="721786"/>
                  <a:pt x="7248949" y="708574"/>
                </a:cubicBezTo>
                <a:cubicBezTo>
                  <a:pt x="7265838" y="693402"/>
                  <a:pt x="7290560" y="681598"/>
                  <a:pt x="7321609" y="672327"/>
                </a:cubicBezTo>
                <a:cubicBezTo>
                  <a:pt x="7371785" y="657107"/>
                  <a:pt x="7425493" y="649940"/>
                  <a:pt x="7479684" y="643982"/>
                </a:cubicBezTo>
                <a:cubicBezTo>
                  <a:pt x="7564679" y="634730"/>
                  <a:pt x="7646649" y="623812"/>
                  <a:pt x="7712035" y="587803"/>
                </a:cubicBezTo>
                <a:cubicBezTo>
                  <a:pt x="7731892" y="577083"/>
                  <a:pt x="7757322" y="568485"/>
                  <a:pt x="7781987" y="559470"/>
                </a:cubicBezTo>
                <a:cubicBezTo>
                  <a:pt x="7803481" y="562346"/>
                  <a:pt x="7818130" y="569455"/>
                  <a:pt x="7819900" y="582652"/>
                </a:cubicBezTo>
                <a:cubicBezTo>
                  <a:pt x="7831588" y="666650"/>
                  <a:pt x="7949751" y="662926"/>
                  <a:pt x="8081736" y="663503"/>
                </a:cubicBezTo>
                <a:cubicBezTo>
                  <a:pt x="8245081" y="664386"/>
                  <a:pt x="8336842" y="617005"/>
                  <a:pt x="8420801" y="558285"/>
                </a:cubicBezTo>
                <a:cubicBezTo>
                  <a:pt x="8449265" y="538191"/>
                  <a:pt x="8458404" y="508890"/>
                  <a:pt x="8528933" y="502501"/>
                </a:cubicBezTo>
                <a:cubicBezTo>
                  <a:pt x="8581654" y="537578"/>
                  <a:pt x="8515805" y="577567"/>
                  <a:pt x="8521178" y="614372"/>
                </a:cubicBezTo>
                <a:cubicBezTo>
                  <a:pt x="8526038" y="644784"/>
                  <a:pt x="8501063" y="694066"/>
                  <a:pt x="8633702" y="655978"/>
                </a:cubicBezTo>
                <a:cubicBezTo>
                  <a:pt x="8672570" y="644890"/>
                  <a:pt x="8692811" y="659300"/>
                  <a:pt x="8691231" y="674418"/>
                </a:cubicBezTo>
                <a:cubicBezTo>
                  <a:pt x="8675345" y="796871"/>
                  <a:pt x="8935518" y="746101"/>
                  <a:pt x="9047908" y="788104"/>
                </a:cubicBezTo>
                <a:cubicBezTo>
                  <a:pt x="9078021" y="799946"/>
                  <a:pt x="9142627" y="789836"/>
                  <a:pt x="9163628" y="773163"/>
                </a:cubicBezTo>
                <a:cubicBezTo>
                  <a:pt x="9298789" y="667347"/>
                  <a:pt x="9535801" y="657923"/>
                  <a:pt x="9754459" y="610207"/>
                </a:cubicBezTo>
                <a:cubicBezTo>
                  <a:pt x="9814490" y="668575"/>
                  <a:pt x="9808123" y="737017"/>
                  <a:pt x="9838868" y="799511"/>
                </a:cubicBezTo>
                <a:cubicBezTo>
                  <a:pt x="9870579" y="864422"/>
                  <a:pt x="9910733" y="865324"/>
                  <a:pt x="10085808" y="816231"/>
                </a:cubicBezTo>
                <a:cubicBezTo>
                  <a:pt x="10072804" y="953901"/>
                  <a:pt x="10072804" y="953901"/>
                  <a:pt x="10334338" y="917517"/>
                </a:cubicBezTo>
                <a:cubicBezTo>
                  <a:pt x="10328982" y="953657"/>
                  <a:pt x="10408594" y="989371"/>
                  <a:pt x="10516076" y="1018726"/>
                </a:cubicBezTo>
                <a:lnTo>
                  <a:pt x="10535302" y="1023522"/>
                </a:lnTo>
                <a:lnTo>
                  <a:pt x="10542819" y="1023458"/>
                </a:lnTo>
                <a:cubicBezTo>
                  <a:pt x="10579419" y="1025941"/>
                  <a:pt x="10603227" y="1033454"/>
                  <a:pt x="10623994" y="1041996"/>
                </a:cubicBezTo>
                <a:lnTo>
                  <a:pt x="10629774" y="1044511"/>
                </a:lnTo>
                <a:lnTo>
                  <a:pt x="10727305" y="1063419"/>
                </a:lnTo>
                <a:lnTo>
                  <a:pt x="10761785" y="1068017"/>
                </a:lnTo>
                <a:lnTo>
                  <a:pt x="10775688" y="1065268"/>
                </a:lnTo>
                <a:cubicBezTo>
                  <a:pt x="10790070" y="1060209"/>
                  <a:pt x="10805275" y="1052670"/>
                  <a:pt x="10821837" y="1042232"/>
                </a:cubicBezTo>
                <a:cubicBezTo>
                  <a:pt x="10987041" y="937564"/>
                  <a:pt x="11011156" y="925596"/>
                  <a:pt x="11122438" y="1004583"/>
                </a:cubicBezTo>
                <a:lnTo>
                  <a:pt x="11171433" y="1040550"/>
                </a:lnTo>
                <a:lnTo>
                  <a:pt x="11183724" y="1045316"/>
                </a:lnTo>
                <a:lnTo>
                  <a:pt x="11199690" y="1048085"/>
                </a:lnTo>
                <a:cubicBezTo>
                  <a:pt x="11210452" y="1048499"/>
                  <a:pt x="11222752" y="1048442"/>
                  <a:pt x="11232475" y="1049340"/>
                </a:cubicBezTo>
                <a:cubicBezTo>
                  <a:pt x="11272445" y="1020057"/>
                  <a:pt x="11206789" y="982961"/>
                  <a:pt x="11302451" y="949091"/>
                </a:cubicBezTo>
                <a:lnTo>
                  <a:pt x="11484849" y="1057667"/>
                </a:lnTo>
                <a:lnTo>
                  <a:pt x="11512818" y="1048926"/>
                </a:lnTo>
                <a:cubicBezTo>
                  <a:pt x="11553007" y="1039695"/>
                  <a:pt x="11597385" y="1034194"/>
                  <a:pt x="11642481" y="1029355"/>
                </a:cubicBezTo>
                <a:lnTo>
                  <a:pt x="11714551" y="1020966"/>
                </a:lnTo>
                <a:lnTo>
                  <a:pt x="11714551" y="1022389"/>
                </a:lnTo>
                <a:lnTo>
                  <a:pt x="11728519" y="1020975"/>
                </a:lnTo>
                <a:lnTo>
                  <a:pt x="11741691" y="1019651"/>
                </a:lnTo>
                <a:lnTo>
                  <a:pt x="11743999" y="1019424"/>
                </a:lnTo>
                <a:cubicBezTo>
                  <a:pt x="11745037" y="1019320"/>
                  <a:pt x="11744948" y="1019326"/>
                  <a:pt x="11742709" y="1019549"/>
                </a:cubicBezTo>
                <a:lnTo>
                  <a:pt x="11741691" y="1019651"/>
                </a:lnTo>
                <a:lnTo>
                  <a:pt x="11738529" y="1019963"/>
                </a:lnTo>
                <a:cubicBezTo>
                  <a:pt x="11729455" y="1020837"/>
                  <a:pt x="11718720" y="1021778"/>
                  <a:pt x="11771791" y="1015977"/>
                </a:cubicBezTo>
                <a:cubicBezTo>
                  <a:pt x="11774317" y="1015701"/>
                  <a:pt x="11812546" y="1011974"/>
                  <a:pt x="11834157" y="1009499"/>
                </a:cubicBezTo>
                <a:lnTo>
                  <a:pt x="11843354" y="1008273"/>
                </a:lnTo>
                <a:lnTo>
                  <a:pt x="11843354" y="1000151"/>
                </a:lnTo>
                <a:lnTo>
                  <a:pt x="11893955" y="983740"/>
                </a:lnTo>
                <a:cubicBezTo>
                  <a:pt x="11928061" y="969285"/>
                  <a:pt x="11955951" y="949359"/>
                  <a:pt x="11974160" y="920897"/>
                </a:cubicBezTo>
                <a:cubicBezTo>
                  <a:pt x="12002698" y="876981"/>
                  <a:pt x="12076554" y="851353"/>
                  <a:pt x="12143531" y="823664"/>
                </a:cubicBezTo>
                <a:lnTo>
                  <a:pt x="12192000" y="801163"/>
                </a:lnTo>
                <a:lnTo>
                  <a:pt x="12192000" y="2515690"/>
                </a:lnTo>
                <a:lnTo>
                  <a:pt x="0" y="2515690"/>
                </a:lnTo>
                <a:close/>
              </a:path>
            </a:pathLst>
          </a:custGeom>
          <a:solidFill>
            <a:schemeClr val="bg2">
              <a:alpha val="50000"/>
            </a:schemeClr>
          </a:solidFill>
          <a:ln w="32707" cap="flat">
            <a:noFill/>
            <a:prstDash val="solid"/>
            <a:miter/>
          </a:ln>
        </p:spPr>
        <p:txBody>
          <a:bodyPr wrap="square" rtlCol="0" anchor="ctr">
            <a:noAutofit/>
          </a:bodyPr>
          <a:lstStyle/>
          <a:p>
            <a:pPr algn="ctr"/>
            <a:endParaRPr lang="en-US">
              <a:solidFill>
                <a:schemeClr val="tx1"/>
              </a:solidFill>
            </a:endParaRPr>
          </a:p>
        </p:txBody>
      </p:sp>
      <p:sp>
        <p:nvSpPr>
          <p:cNvPr id="2" name="Title 1">
            <a:extLst>
              <a:ext uri="{FF2B5EF4-FFF2-40B4-BE49-F238E27FC236}">
                <a16:creationId xmlns:a16="http://schemas.microsoft.com/office/drawing/2014/main" id="{93F4120F-B5BB-7445-3EDE-515EC6AD9723}"/>
              </a:ext>
            </a:extLst>
          </p:cNvPr>
          <p:cNvSpPr>
            <a:spLocks noGrp="1"/>
          </p:cNvSpPr>
          <p:nvPr>
            <p:ph type="title"/>
          </p:nvPr>
        </p:nvSpPr>
        <p:spPr>
          <a:xfrm>
            <a:off x="838200" y="365125"/>
            <a:ext cx="10515600" cy="930275"/>
          </a:xfrm>
        </p:spPr>
        <p:txBody>
          <a:bodyPr>
            <a:normAutofit/>
          </a:bodyPr>
          <a:lstStyle/>
          <a:p>
            <a:r>
              <a:rPr lang="en-CA" dirty="0"/>
              <a:t>Component Definition</a:t>
            </a:r>
          </a:p>
        </p:txBody>
      </p:sp>
      <p:graphicFrame>
        <p:nvGraphicFramePr>
          <p:cNvPr id="4" name="Content Placeholder 3">
            <a:extLst>
              <a:ext uri="{FF2B5EF4-FFF2-40B4-BE49-F238E27FC236}">
                <a16:creationId xmlns:a16="http://schemas.microsoft.com/office/drawing/2014/main" id="{43CDDF9C-6CE1-179C-E2F6-D8E89D272C70}"/>
              </a:ext>
            </a:extLst>
          </p:cNvPr>
          <p:cNvGraphicFramePr>
            <a:graphicFrameLocks noGrp="1"/>
          </p:cNvGraphicFramePr>
          <p:nvPr>
            <p:ph idx="1"/>
            <p:extLst>
              <p:ext uri="{D42A27DB-BD31-4B8C-83A1-F6EECF244321}">
                <p14:modId xmlns:p14="http://schemas.microsoft.com/office/powerpoint/2010/main" val="2598520054"/>
              </p:ext>
            </p:extLst>
          </p:nvPr>
        </p:nvGraphicFramePr>
        <p:xfrm>
          <a:off x="836675" y="1660525"/>
          <a:ext cx="10515601" cy="4874785"/>
        </p:xfrm>
        <a:graphic>
          <a:graphicData uri="http://schemas.openxmlformats.org/drawingml/2006/table">
            <a:tbl>
              <a:tblPr firstRow="1" bandRow="1">
                <a:tableStyleId>{3B4B98B0-60AC-42C2-AFA5-B58CD77FA1E5}</a:tableStyleId>
              </a:tblPr>
              <a:tblGrid>
                <a:gridCol w="2258391">
                  <a:extLst>
                    <a:ext uri="{9D8B030D-6E8A-4147-A177-3AD203B41FA5}">
                      <a16:colId xmlns:a16="http://schemas.microsoft.com/office/drawing/2014/main" val="2567470663"/>
                    </a:ext>
                  </a:extLst>
                </a:gridCol>
                <a:gridCol w="8257210">
                  <a:extLst>
                    <a:ext uri="{9D8B030D-6E8A-4147-A177-3AD203B41FA5}">
                      <a16:colId xmlns:a16="http://schemas.microsoft.com/office/drawing/2014/main" val="2198357558"/>
                    </a:ext>
                  </a:extLst>
                </a:gridCol>
              </a:tblGrid>
              <a:tr h="425268">
                <a:tc>
                  <a:txBody>
                    <a:bodyPr/>
                    <a:lstStyle/>
                    <a:p>
                      <a:r>
                        <a:rPr lang="en-CA" sz="2000" dirty="0"/>
                        <a:t>Artifact</a:t>
                      </a:r>
                    </a:p>
                  </a:txBody>
                  <a:tcPr marL="127333" marR="127333" marT="63667" marB="63667"/>
                </a:tc>
                <a:tc>
                  <a:txBody>
                    <a:bodyPr/>
                    <a:lstStyle/>
                    <a:p>
                      <a:r>
                        <a:rPr lang="en-CA" sz="2000"/>
                        <a:t>Description</a:t>
                      </a:r>
                    </a:p>
                  </a:txBody>
                  <a:tcPr marL="127333" marR="127333" marT="63667" marB="63667"/>
                </a:tc>
                <a:extLst>
                  <a:ext uri="{0D108BD9-81ED-4DB2-BD59-A6C34878D82A}">
                    <a16:rowId xmlns:a16="http://schemas.microsoft.com/office/drawing/2014/main" val="3342386489"/>
                  </a:ext>
                </a:extLst>
              </a:tr>
              <a:tr h="1197376">
                <a:tc>
                  <a:txBody>
                    <a:bodyPr/>
                    <a:lstStyle/>
                    <a:p>
                      <a:r>
                        <a:rPr lang="en-CA" sz="2000" b="1" dirty="0"/>
                        <a:t>Work Item Templates</a:t>
                      </a:r>
                    </a:p>
                  </a:txBody>
                  <a:tcPr marL="127333" marR="127333" marT="63667" marB="63667"/>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CA" sz="2000" dirty="0"/>
                        <a:t>Issues, Sub-Issues, Pull requests all must structured in a consistent form. Agent definitions will reference these templates for both read/write operations. </a:t>
                      </a:r>
                    </a:p>
                  </a:txBody>
                  <a:tcPr marL="127333" marR="127333" marT="63667" marB="63667"/>
                </a:tc>
                <a:extLst>
                  <a:ext uri="{0D108BD9-81ED-4DB2-BD59-A6C34878D82A}">
                    <a16:rowId xmlns:a16="http://schemas.microsoft.com/office/drawing/2014/main" val="3794928914"/>
                  </a:ext>
                </a:extLst>
              </a:tr>
              <a:tr h="1197376">
                <a:tc>
                  <a:txBody>
                    <a:bodyPr/>
                    <a:lstStyle/>
                    <a:p>
                      <a:r>
                        <a:rPr lang="en-CA" sz="2000" b="1"/>
                        <a:t>Agent Definitions</a:t>
                      </a:r>
                    </a:p>
                  </a:txBody>
                  <a:tcPr marL="127333" marR="127333" marT="63667" marB="63667"/>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CA" sz="2000" dirty="0"/>
                        <a:t>Describes agent role and purpose. Configures access to “tools” and to enable “workflows”. Reinforce use of archetypes and expectations of output.</a:t>
                      </a:r>
                    </a:p>
                  </a:txBody>
                  <a:tcPr marL="127333" marR="127333" marT="63667" marB="63667"/>
                </a:tc>
                <a:extLst>
                  <a:ext uri="{0D108BD9-81ED-4DB2-BD59-A6C34878D82A}">
                    <a16:rowId xmlns:a16="http://schemas.microsoft.com/office/drawing/2014/main" val="1372189588"/>
                  </a:ext>
                </a:extLst>
              </a:tr>
              <a:tr h="1006165">
                <a:tc>
                  <a:txBody>
                    <a:bodyPr/>
                    <a:lstStyle/>
                    <a:p>
                      <a:r>
                        <a:rPr lang="en-CA" sz="2000" b="1" dirty="0"/>
                        <a:t>Archetypes</a:t>
                      </a:r>
                    </a:p>
                  </a:txBody>
                  <a:tcPr marL="127333" marR="127333" marT="63667" marB="63667"/>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CA" sz="2000" dirty="0"/>
                        <a:t>Detailed and structured documentation about the frameworks and patterns the agents should use. Curated by experts with AI assistance.</a:t>
                      </a:r>
                    </a:p>
                    <a:p>
                      <a:endParaRPr lang="en-CA" sz="2000" dirty="0"/>
                    </a:p>
                  </a:txBody>
                  <a:tcPr marL="127333" marR="127333" marT="63667" marB="63667"/>
                </a:tc>
                <a:extLst>
                  <a:ext uri="{0D108BD9-81ED-4DB2-BD59-A6C34878D82A}">
                    <a16:rowId xmlns:a16="http://schemas.microsoft.com/office/drawing/2014/main" val="465817454"/>
                  </a:ext>
                </a:extLst>
              </a:tr>
              <a:tr h="1006165">
                <a:tc>
                  <a:txBody>
                    <a:bodyPr/>
                    <a:lstStyle/>
                    <a:p>
                      <a:r>
                        <a:rPr lang="en-CA" sz="2000" b="1" dirty="0"/>
                        <a:t>Workflows</a:t>
                      </a:r>
                    </a:p>
                  </a:txBody>
                  <a:tcPr marL="127333" marR="127333" marT="63667" marB="63667"/>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CA" sz="2000" dirty="0"/>
                        <a:t>Defines the actual work to be completed, who participates (AI and Human), with a clear concise goal or outcome.</a:t>
                      </a:r>
                    </a:p>
                  </a:txBody>
                  <a:tcPr marL="127333" marR="127333" marT="63667" marB="63667"/>
                </a:tc>
                <a:extLst>
                  <a:ext uri="{0D108BD9-81ED-4DB2-BD59-A6C34878D82A}">
                    <a16:rowId xmlns:a16="http://schemas.microsoft.com/office/drawing/2014/main" val="1668758639"/>
                  </a:ext>
                </a:extLst>
              </a:tr>
            </a:tbl>
          </a:graphicData>
        </a:graphic>
      </p:graphicFrame>
    </p:spTree>
    <p:extLst>
      <p:ext uri="{BB962C8B-B14F-4D97-AF65-F5344CB8AC3E}">
        <p14:creationId xmlns:p14="http://schemas.microsoft.com/office/powerpoint/2010/main" val="135834053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5BF0FC-2B4B-BB9E-335D-E637F80BD5DE}"/>
            </a:ext>
          </a:extLst>
        </p:cNvPr>
        <p:cNvGrpSpPr/>
        <p:nvPr/>
      </p:nvGrpSpPr>
      <p:grpSpPr>
        <a:xfrm>
          <a:off x="0" y="0"/>
          <a:ext cx="0" cy="0"/>
          <a:chOff x="0" y="0"/>
          <a:chExt cx="0" cy="0"/>
        </a:xfrm>
      </p:grpSpPr>
      <p:pic>
        <p:nvPicPr>
          <p:cNvPr id="11" name="Graphic 10">
            <a:extLst>
              <a:ext uri="{FF2B5EF4-FFF2-40B4-BE49-F238E27FC236}">
                <a16:creationId xmlns:a16="http://schemas.microsoft.com/office/drawing/2014/main" id="{91DADA7B-3CC4-29AA-5C95-6C3D2B6628C5}"/>
              </a:ext>
            </a:extLst>
          </p:cNvPr>
          <p:cNvPicPr>
            <a:picLocks noChangeAspect="1"/>
          </p:cNvPicPr>
          <p:nvPr/>
        </p:nvPicPr>
        <p:blipFill>
          <a:blip r:embed="rId2">
            <a:extLst>
              <a:ext uri="{96DAC541-7B7A-43D3-8B79-37D633B846F1}">
                <asvg:svgBlip xmlns:asvg="http://schemas.microsoft.com/office/drawing/2016/SVG/main" r:embed="rId3"/>
              </a:ext>
              <a:ext uri="{837473B0-CC2E-450A-ABE3-18F120FF3D39}">
                <a1611:picAttrSrcUrl xmlns:a1611="http://schemas.microsoft.com/office/drawing/2016/11/main" r:id="rId4"/>
              </a:ext>
            </a:extLst>
          </a:blip>
          <a:stretch>
            <a:fillRect/>
          </a:stretch>
        </p:blipFill>
        <p:spPr>
          <a:xfrm>
            <a:off x="3640707" y="1341364"/>
            <a:ext cx="4530068" cy="4503530"/>
          </a:xfrm>
          <a:prstGeom prst="rect">
            <a:avLst/>
          </a:prstGeom>
        </p:spPr>
      </p:pic>
      <p:sp>
        <p:nvSpPr>
          <p:cNvPr id="2" name="Title 1">
            <a:extLst>
              <a:ext uri="{FF2B5EF4-FFF2-40B4-BE49-F238E27FC236}">
                <a16:creationId xmlns:a16="http://schemas.microsoft.com/office/drawing/2014/main" id="{744B4A72-C43B-76F5-C5AD-C27DA44857C1}"/>
              </a:ext>
            </a:extLst>
          </p:cNvPr>
          <p:cNvSpPr>
            <a:spLocks noGrp="1"/>
          </p:cNvSpPr>
          <p:nvPr>
            <p:ph type="title"/>
          </p:nvPr>
        </p:nvSpPr>
        <p:spPr/>
        <p:txBody>
          <a:bodyPr/>
          <a:lstStyle/>
          <a:p>
            <a:r>
              <a:rPr lang="en-CA" dirty="0"/>
              <a:t>Methodology Definition</a:t>
            </a:r>
          </a:p>
        </p:txBody>
      </p:sp>
      <p:sp>
        <p:nvSpPr>
          <p:cNvPr id="3" name="Content Placeholder 2">
            <a:extLst>
              <a:ext uri="{FF2B5EF4-FFF2-40B4-BE49-F238E27FC236}">
                <a16:creationId xmlns:a16="http://schemas.microsoft.com/office/drawing/2014/main" id="{3F166063-0747-7538-9990-6E7206FD6CA9}"/>
              </a:ext>
            </a:extLst>
          </p:cNvPr>
          <p:cNvSpPr>
            <a:spLocks noGrp="1"/>
          </p:cNvSpPr>
          <p:nvPr>
            <p:ph idx="1"/>
          </p:nvPr>
        </p:nvSpPr>
        <p:spPr>
          <a:xfrm>
            <a:off x="838200" y="1825625"/>
            <a:ext cx="10515600" cy="2914236"/>
          </a:xfrm>
        </p:spPr>
        <p:txBody>
          <a:bodyPr>
            <a:noAutofit/>
          </a:bodyPr>
          <a:lstStyle/>
          <a:p>
            <a:r>
              <a:rPr lang="en-CA" sz="2400" dirty="0"/>
              <a:t>Work in progress, and perhaps more related to the service side of things, but the process is likely as important as the underlying technology – like the ceremonies in agile.</a:t>
            </a:r>
          </a:p>
          <a:p>
            <a:r>
              <a:rPr lang="en-CA" sz="2400" dirty="0"/>
              <a:t>A2D is going to require ceremonies, but with quicker iteration</a:t>
            </a:r>
          </a:p>
          <a:p>
            <a:r>
              <a:rPr lang="en-CA" sz="2400" dirty="0"/>
              <a:t>More suited to a kanban style of working because of the velocity of work completed.</a:t>
            </a:r>
          </a:p>
          <a:p>
            <a:r>
              <a:rPr lang="en-CA" sz="2400" i="1" dirty="0"/>
              <a:t>The methodology I have been following is daily planning in the morning, followed by review before lunch, resolving comments and iteration, deployment and testing in the afternoon. Repeat</a:t>
            </a:r>
            <a:r>
              <a:rPr lang="en-CA" sz="2400" dirty="0"/>
              <a:t>. </a:t>
            </a:r>
          </a:p>
        </p:txBody>
      </p:sp>
      <p:sp>
        <p:nvSpPr>
          <p:cNvPr id="5" name="TextBox 4">
            <a:extLst>
              <a:ext uri="{FF2B5EF4-FFF2-40B4-BE49-F238E27FC236}">
                <a16:creationId xmlns:a16="http://schemas.microsoft.com/office/drawing/2014/main" id="{F0A9CFD4-6DE5-CC4C-5F2E-D1E703EA48A1}"/>
              </a:ext>
            </a:extLst>
          </p:cNvPr>
          <p:cNvSpPr txBox="1"/>
          <p:nvPr/>
        </p:nvSpPr>
        <p:spPr>
          <a:xfrm>
            <a:off x="2093842" y="5475562"/>
            <a:ext cx="8264939" cy="369332"/>
          </a:xfrm>
          <a:prstGeom prst="rect">
            <a:avLst/>
          </a:prstGeom>
          <a:noFill/>
        </p:spPr>
        <p:txBody>
          <a:bodyPr wrap="square">
            <a:spAutoFit/>
          </a:bodyPr>
          <a:lstStyle/>
          <a:p>
            <a:pPr marL="0" indent="0">
              <a:buNone/>
            </a:pPr>
            <a:r>
              <a:rPr lang="en-CA" dirty="0"/>
              <a:t>Planning </a:t>
            </a:r>
            <a:r>
              <a:rPr lang="en-CA" dirty="0">
                <a:sym typeface="Wingdings" panose="05000000000000000000" pitchFamily="2" charset="2"/>
              </a:rPr>
              <a:t> Design  Implement  Review and Iterate  Deploy  Verify</a:t>
            </a:r>
            <a:endParaRPr lang="en-CA" dirty="0"/>
          </a:p>
        </p:txBody>
      </p:sp>
    </p:spTree>
    <p:extLst>
      <p:ext uri="{BB962C8B-B14F-4D97-AF65-F5344CB8AC3E}">
        <p14:creationId xmlns:p14="http://schemas.microsoft.com/office/powerpoint/2010/main" val="379156044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79BB35BC-D5C2-4C8B-A22A-A71E619191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A1CE8FA-6F0B-0D7E-0DBF-DE049D1AD1D9}"/>
              </a:ext>
            </a:extLst>
          </p:cNvPr>
          <p:cNvSpPr>
            <a:spLocks noGrp="1"/>
          </p:cNvSpPr>
          <p:nvPr>
            <p:ph type="title"/>
          </p:nvPr>
        </p:nvSpPr>
        <p:spPr>
          <a:xfrm>
            <a:off x="6513788" y="1"/>
            <a:ext cx="4840010" cy="1246094"/>
          </a:xfrm>
        </p:spPr>
        <p:txBody>
          <a:bodyPr>
            <a:normAutofit/>
          </a:bodyPr>
          <a:lstStyle/>
          <a:p>
            <a:r>
              <a:rPr lang="en-CA" dirty="0"/>
              <a:t>Hiding the IP</a:t>
            </a:r>
          </a:p>
        </p:txBody>
      </p:sp>
      <p:pic>
        <p:nvPicPr>
          <p:cNvPr id="5" name="Picture 4" descr="Cubes connected with a red line">
            <a:extLst>
              <a:ext uri="{FF2B5EF4-FFF2-40B4-BE49-F238E27FC236}">
                <a16:creationId xmlns:a16="http://schemas.microsoft.com/office/drawing/2014/main" id="{4E184B4A-C789-311A-F3C1-BAA9F97D8EB7}"/>
              </a:ext>
            </a:extLst>
          </p:cNvPr>
          <p:cNvPicPr>
            <a:picLocks noChangeAspect="1"/>
          </p:cNvPicPr>
          <p:nvPr/>
        </p:nvPicPr>
        <p:blipFill>
          <a:blip r:embed="rId2"/>
          <a:srcRect l="17641" r="13683" b="-1"/>
          <a:stretch>
            <a:fillRect/>
          </a:stretch>
        </p:blipFill>
        <p:spPr>
          <a:xfrm>
            <a:off x="20" y="10"/>
            <a:ext cx="6116549" cy="6857990"/>
          </a:xfrm>
          <a:custGeom>
            <a:avLst/>
            <a:gdLst/>
            <a:ahLst/>
            <a:cxnLst/>
            <a:rect l="l" t="t" r="r" b="b"/>
            <a:pathLst>
              <a:path w="6116569" h="6879321">
                <a:moveTo>
                  <a:pt x="0" y="0"/>
                </a:moveTo>
                <a:lnTo>
                  <a:pt x="2935851" y="0"/>
                </a:lnTo>
                <a:cubicBezTo>
                  <a:pt x="3035710" y="10660"/>
                  <a:pt x="3138421" y="17767"/>
                  <a:pt x="3238280" y="31980"/>
                </a:cubicBezTo>
                <a:cubicBezTo>
                  <a:pt x="3817462" y="106602"/>
                  <a:pt x="3127009" y="277163"/>
                  <a:pt x="3660541" y="550772"/>
                </a:cubicBezTo>
                <a:cubicBezTo>
                  <a:pt x="3706191" y="575645"/>
                  <a:pt x="3757546" y="579199"/>
                  <a:pt x="3808902" y="589860"/>
                </a:cubicBezTo>
                <a:cubicBezTo>
                  <a:pt x="4008620" y="625393"/>
                  <a:pt x="4211192" y="618286"/>
                  <a:pt x="4413762" y="625393"/>
                </a:cubicBezTo>
                <a:cubicBezTo>
                  <a:pt x="4465118" y="628946"/>
                  <a:pt x="4525033" y="625393"/>
                  <a:pt x="4567830" y="721333"/>
                </a:cubicBezTo>
                <a:cubicBezTo>
                  <a:pt x="4425175" y="724888"/>
                  <a:pt x="4305344" y="731994"/>
                  <a:pt x="4171247" y="792401"/>
                </a:cubicBezTo>
                <a:cubicBezTo>
                  <a:pt x="4239722" y="859916"/>
                  <a:pt x="4322462" y="795955"/>
                  <a:pt x="4376671" y="842148"/>
                </a:cubicBezTo>
                <a:cubicBezTo>
                  <a:pt x="4428027" y="888342"/>
                  <a:pt x="4470824" y="891896"/>
                  <a:pt x="4527887" y="813722"/>
                </a:cubicBezTo>
                <a:cubicBezTo>
                  <a:pt x="4556417" y="774634"/>
                  <a:pt x="4604920" y="778187"/>
                  <a:pt x="4633452" y="799508"/>
                </a:cubicBezTo>
                <a:cubicBezTo>
                  <a:pt x="4781813" y="913216"/>
                  <a:pt x="4778960" y="909662"/>
                  <a:pt x="4947293" y="870576"/>
                </a:cubicBezTo>
                <a:cubicBezTo>
                  <a:pt x="5055712" y="845701"/>
                  <a:pt x="5166983" y="806615"/>
                  <a:pt x="5263988" y="820828"/>
                </a:cubicBezTo>
                <a:cubicBezTo>
                  <a:pt x="5275401" y="867022"/>
                  <a:pt x="5263988" y="888342"/>
                  <a:pt x="5249723" y="895449"/>
                </a:cubicBezTo>
                <a:cubicBezTo>
                  <a:pt x="5021475" y="1005604"/>
                  <a:pt x="4975825" y="1122864"/>
                  <a:pt x="4744723" y="1197485"/>
                </a:cubicBezTo>
                <a:cubicBezTo>
                  <a:pt x="4724751" y="1268552"/>
                  <a:pt x="4807491" y="1275660"/>
                  <a:pt x="4767548" y="1346727"/>
                </a:cubicBezTo>
                <a:cubicBezTo>
                  <a:pt x="4693367" y="1407134"/>
                  <a:pt x="4610627" y="1346727"/>
                  <a:pt x="4539299" y="1421348"/>
                </a:cubicBezTo>
                <a:cubicBezTo>
                  <a:pt x="4550712" y="1471094"/>
                  <a:pt x="4610627" y="1432008"/>
                  <a:pt x="4607773" y="1485309"/>
                </a:cubicBezTo>
                <a:cubicBezTo>
                  <a:pt x="4604920" y="1517288"/>
                  <a:pt x="4593508" y="1527948"/>
                  <a:pt x="4579242" y="1535055"/>
                </a:cubicBezTo>
                <a:cubicBezTo>
                  <a:pt x="4776107" y="1538608"/>
                  <a:pt x="5383820" y="1574142"/>
                  <a:pt x="5278255" y="1609676"/>
                </a:cubicBezTo>
                <a:cubicBezTo>
                  <a:pt x="5418057" y="1698511"/>
                  <a:pt x="5623481" y="1609676"/>
                  <a:pt x="5771843" y="1630997"/>
                </a:cubicBezTo>
                <a:cubicBezTo>
                  <a:pt x="5925911" y="1652316"/>
                  <a:pt x="6171278" y="1719830"/>
                  <a:pt x="6105656" y="1748257"/>
                </a:cubicBezTo>
                <a:cubicBezTo>
                  <a:pt x="6031475" y="1780238"/>
                  <a:pt x="5766136" y="2146235"/>
                  <a:pt x="5691955" y="2167555"/>
                </a:cubicBezTo>
                <a:cubicBezTo>
                  <a:pt x="5606362" y="2188875"/>
                  <a:pt x="5589243" y="2217302"/>
                  <a:pt x="5475118" y="2348776"/>
                </a:cubicBezTo>
                <a:cubicBezTo>
                  <a:pt x="5398085" y="2437610"/>
                  <a:pt x="5709074" y="2238623"/>
                  <a:pt x="5826051" y="2291922"/>
                </a:cubicBezTo>
                <a:cubicBezTo>
                  <a:pt x="5868848" y="2309690"/>
                  <a:pt x="5552153" y="2554872"/>
                  <a:pt x="5552153" y="2597513"/>
                </a:cubicBezTo>
                <a:cubicBezTo>
                  <a:pt x="5549300" y="2640153"/>
                  <a:pt x="5577831" y="2647260"/>
                  <a:pt x="5603508" y="2647260"/>
                </a:cubicBezTo>
                <a:cubicBezTo>
                  <a:pt x="5660571" y="2647260"/>
                  <a:pt x="5640599" y="2686346"/>
                  <a:pt x="5700515" y="2679240"/>
                </a:cubicBezTo>
                <a:cubicBezTo>
                  <a:pt x="5523622" y="2800055"/>
                  <a:pt x="5418057" y="2778734"/>
                  <a:pt x="5246870" y="2888889"/>
                </a:cubicBezTo>
                <a:cubicBezTo>
                  <a:pt x="5164130" y="2942189"/>
                  <a:pt x="4921615" y="3119857"/>
                  <a:pt x="4836022" y="3169605"/>
                </a:cubicBezTo>
                <a:cubicBezTo>
                  <a:pt x="4801785" y="3187371"/>
                  <a:pt x="4758988" y="3173158"/>
                  <a:pt x="4736163" y="3233565"/>
                </a:cubicBezTo>
                <a:cubicBezTo>
                  <a:pt x="4770400" y="3279759"/>
                  <a:pt x="4816050" y="3254885"/>
                  <a:pt x="4853141" y="3233565"/>
                </a:cubicBezTo>
                <a:cubicBezTo>
                  <a:pt x="4944440" y="3176711"/>
                  <a:pt x="4935881" y="3190925"/>
                  <a:pt x="4944440" y="3226459"/>
                </a:cubicBezTo>
                <a:cubicBezTo>
                  <a:pt x="4972972" y="3350827"/>
                  <a:pt x="5044300" y="3308186"/>
                  <a:pt x="5109921" y="3283313"/>
                </a:cubicBezTo>
                <a:cubicBezTo>
                  <a:pt x="5303932" y="3208692"/>
                  <a:pt x="5500797" y="3215799"/>
                  <a:pt x="5694809" y="3141178"/>
                </a:cubicBezTo>
                <a:cubicBezTo>
                  <a:pt x="5714781" y="3134070"/>
                  <a:pt x="5612068" y="3283313"/>
                  <a:pt x="5566419" y="3301079"/>
                </a:cubicBezTo>
                <a:cubicBezTo>
                  <a:pt x="5515063" y="3322399"/>
                  <a:pt x="5452294" y="3311739"/>
                  <a:pt x="5415203" y="3397020"/>
                </a:cubicBezTo>
                <a:cubicBezTo>
                  <a:pt x="5477972" y="3414787"/>
                  <a:pt x="5552153" y="3372147"/>
                  <a:pt x="5612068" y="3432554"/>
                </a:cubicBezTo>
                <a:cubicBezTo>
                  <a:pt x="5469413" y="3528494"/>
                  <a:pt x="5329610" y="3535601"/>
                  <a:pt x="5206927" y="3599562"/>
                </a:cubicBezTo>
                <a:cubicBezTo>
                  <a:pt x="5192661" y="3706163"/>
                  <a:pt x="5272548" y="3663523"/>
                  <a:pt x="5301079" y="3723930"/>
                </a:cubicBezTo>
                <a:cubicBezTo>
                  <a:pt x="5072830" y="3844745"/>
                  <a:pt x="4564977" y="4232062"/>
                  <a:pt x="4507915" y="4306683"/>
                </a:cubicBezTo>
                <a:cubicBezTo>
                  <a:pt x="4390937" y="4463031"/>
                  <a:pt x="3900202" y="4562525"/>
                  <a:pt x="3982942" y="4587399"/>
                </a:cubicBezTo>
                <a:cubicBezTo>
                  <a:pt x="4051417" y="4608719"/>
                  <a:pt x="4119891" y="4587399"/>
                  <a:pt x="4185513" y="4541205"/>
                </a:cubicBezTo>
                <a:cubicBezTo>
                  <a:pt x="4291078" y="4466584"/>
                  <a:pt x="5010062" y="4523438"/>
                  <a:pt x="5212633" y="4455924"/>
                </a:cubicBezTo>
                <a:cubicBezTo>
                  <a:pt x="5241164" y="4445264"/>
                  <a:pt x="5283960" y="4409730"/>
                  <a:pt x="5312492" y="4473691"/>
                </a:cubicBezTo>
                <a:cubicBezTo>
                  <a:pt x="5098508" y="4704659"/>
                  <a:pt x="4833169" y="4654913"/>
                  <a:pt x="4596361" y="4818368"/>
                </a:cubicBezTo>
                <a:cubicBezTo>
                  <a:pt x="4684807" y="4917861"/>
                  <a:pt x="4776107" y="4907202"/>
                  <a:pt x="4873113" y="4885882"/>
                </a:cubicBezTo>
                <a:cubicBezTo>
                  <a:pt x="4895938" y="4878775"/>
                  <a:pt x="4930175" y="4871668"/>
                  <a:pt x="4935881" y="4914309"/>
                </a:cubicBezTo>
                <a:cubicBezTo>
                  <a:pt x="4941587" y="4967609"/>
                  <a:pt x="4898790" y="4978270"/>
                  <a:pt x="4873113" y="5003143"/>
                </a:cubicBezTo>
                <a:cubicBezTo>
                  <a:pt x="4833169" y="5038676"/>
                  <a:pt x="4773254" y="4999590"/>
                  <a:pt x="4721898" y="5095530"/>
                </a:cubicBezTo>
                <a:cubicBezTo>
                  <a:pt x="4873113" y="5067104"/>
                  <a:pt x="4998650" y="5020910"/>
                  <a:pt x="5132745" y="4949842"/>
                </a:cubicBezTo>
                <a:cubicBezTo>
                  <a:pt x="5121333" y="5006696"/>
                  <a:pt x="5081390" y="5035123"/>
                  <a:pt x="5101362" y="5081317"/>
                </a:cubicBezTo>
                <a:cubicBezTo>
                  <a:pt x="5118480" y="5116850"/>
                  <a:pt x="5164130" y="5131063"/>
                  <a:pt x="5138452" y="5198578"/>
                </a:cubicBezTo>
                <a:cubicBezTo>
                  <a:pt x="5067125" y="5273199"/>
                  <a:pt x="4967265" y="5258986"/>
                  <a:pt x="4904497" y="5362033"/>
                </a:cubicBezTo>
                <a:cubicBezTo>
                  <a:pt x="4818903" y="5507721"/>
                  <a:pt x="4684807" y="5564575"/>
                  <a:pt x="4579242" y="5674729"/>
                </a:cubicBezTo>
                <a:cubicBezTo>
                  <a:pt x="4545005" y="5713816"/>
                  <a:pt x="4313903" y="5841738"/>
                  <a:pt x="4253988" y="5884379"/>
                </a:cubicBezTo>
                <a:cubicBezTo>
                  <a:pt x="4168395" y="5944786"/>
                  <a:pt x="4071389" y="5966106"/>
                  <a:pt x="3985795" y="6069153"/>
                </a:cubicBezTo>
                <a:cubicBezTo>
                  <a:pt x="4065682" y="6086921"/>
                  <a:pt x="4134157" y="5990979"/>
                  <a:pt x="4231163" y="6030066"/>
                </a:cubicBezTo>
                <a:cubicBezTo>
                  <a:pt x="4074242" y="6133114"/>
                  <a:pt x="3931586" y="6182861"/>
                  <a:pt x="3814609" y="6317889"/>
                </a:cubicBezTo>
                <a:cubicBezTo>
                  <a:pt x="3800343" y="6335656"/>
                  <a:pt x="3771812" y="6332102"/>
                  <a:pt x="3751840" y="6339209"/>
                </a:cubicBezTo>
                <a:cubicBezTo>
                  <a:pt x="3529298" y="6406723"/>
                  <a:pt x="3309608" y="6467130"/>
                  <a:pt x="3089919" y="6563071"/>
                </a:cubicBezTo>
                <a:cubicBezTo>
                  <a:pt x="3041416" y="6584392"/>
                  <a:pt x="2955823" y="6595052"/>
                  <a:pt x="2961529" y="6662566"/>
                </a:cubicBezTo>
                <a:cubicBezTo>
                  <a:pt x="2972941" y="6765613"/>
                  <a:pt x="3055681" y="6687439"/>
                  <a:pt x="3107038" y="6673226"/>
                </a:cubicBezTo>
                <a:cubicBezTo>
                  <a:pt x="3269664" y="6634138"/>
                  <a:pt x="3432292" y="6570178"/>
                  <a:pt x="3594919" y="6591499"/>
                </a:cubicBezTo>
                <a:cubicBezTo>
                  <a:pt x="3483648" y="6637693"/>
                  <a:pt x="3372376" y="6680332"/>
                  <a:pt x="3261106" y="6726527"/>
                </a:cubicBezTo>
                <a:cubicBezTo>
                  <a:pt x="3386642" y="6705206"/>
                  <a:pt x="3495061" y="6786934"/>
                  <a:pt x="3620597" y="6740740"/>
                </a:cubicBezTo>
                <a:cubicBezTo>
                  <a:pt x="3660541" y="6726527"/>
                  <a:pt x="3700484" y="6765613"/>
                  <a:pt x="3703337" y="6826020"/>
                </a:cubicBezTo>
                <a:cubicBezTo>
                  <a:pt x="3706191" y="6847340"/>
                  <a:pt x="3700484" y="6865108"/>
                  <a:pt x="3689072" y="6879321"/>
                </a:cubicBezTo>
                <a:lnTo>
                  <a:pt x="0" y="6879321"/>
                </a:lnTo>
                <a:close/>
              </a:path>
            </a:pathLst>
          </a:custGeom>
        </p:spPr>
      </p:pic>
      <p:sp>
        <p:nvSpPr>
          <p:cNvPr id="3" name="Content Placeholder 2">
            <a:extLst>
              <a:ext uri="{FF2B5EF4-FFF2-40B4-BE49-F238E27FC236}">
                <a16:creationId xmlns:a16="http://schemas.microsoft.com/office/drawing/2014/main" id="{1DE79E6C-9B34-E93D-AB86-4231A1BD4B9D}"/>
              </a:ext>
            </a:extLst>
          </p:cNvPr>
          <p:cNvSpPr>
            <a:spLocks noGrp="1"/>
          </p:cNvSpPr>
          <p:nvPr>
            <p:ph idx="1"/>
          </p:nvPr>
        </p:nvSpPr>
        <p:spPr>
          <a:xfrm>
            <a:off x="5373413" y="1122017"/>
            <a:ext cx="6540291" cy="5509396"/>
          </a:xfrm>
        </p:spPr>
        <p:txBody>
          <a:bodyPr>
            <a:noAutofit/>
          </a:bodyPr>
          <a:lstStyle/>
          <a:p>
            <a:pPr marL="685800" indent="-228600" algn="l" rtl="0" eaLnBrk="1" latinLnBrk="0" hangingPunct="1">
              <a:lnSpc>
                <a:spcPct val="90000"/>
              </a:lnSpc>
              <a:spcBef>
                <a:spcPts val="500"/>
              </a:spcBef>
              <a:buFont typeface="Arial" panose="020B0604020202020204" pitchFamily="34" charset="0"/>
              <a:buChar char="•"/>
            </a:pPr>
            <a:r>
              <a:rPr lang="en-US" sz="2000" dirty="0">
                <a:solidFill>
                  <a:srgbClr val="000000"/>
                </a:solidFill>
                <a:effectLst/>
                <a:latin typeface="Aptos" panose="020B0004020202020204" pitchFamily="34" charset="0"/>
              </a:rPr>
              <a:t>Since agents rely on definitions, archetypes, and workflows, these components are produced in markdown format to ensure they remain easily readable.</a:t>
            </a:r>
          </a:p>
          <a:p>
            <a:pPr marL="685800" indent="-228600" algn="l" rtl="0" eaLnBrk="1" latinLnBrk="0" hangingPunct="1">
              <a:lnSpc>
                <a:spcPct val="90000"/>
              </a:lnSpc>
              <a:spcBef>
                <a:spcPts val="500"/>
              </a:spcBef>
              <a:buFont typeface="Arial" panose="020B0604020202020204" pitchFamily="34" charset="0"/>
              <a:buChar char="•"/>
            </a:pPr>
            <a:r>
              <a:rPr lang="en-US" sz="2000" dirty="0">
                <a:solidFill>
                  <a:srgbClr val="000000"/>
                </a:solidFill>
                <a:effectLst/>
                <a:latin typeface="Aptos" panose="020B0004020202020204" pitchFamily="34" charset="0"/>
              </a:rPr>
              <a:t>This format presents challenges in concealing, updating, and managing the artifacts as proprietary, as well as maintaining synchronization with a central repository.</a:t>
            </a:r>
          </a:p>
          <a:p>
            <a:pPr marL="457200" indent="0" algn="l" rtl="0" eaLnBrk="1" latinLnBrk="0" hangingPunct="1">
              <a:lnSpc>
                <a:spcPct val="90000"/>
              </a:lnSpc>
              <a:spcBef>
                <a:spcPts val="500"/>
              </a:spcBef>
              <a:buNone/>
            </a:pPr>
            <a:r>
              <a:rPr lang="en-US" sz="2000" b="1" dirty="0">
                <a:solidFill>
                  <a:srgbClr val="000000"/>
                </a:solidFill>
                <a:effectLst/>
                <a:latin typeface="Aptos" panose="020B0004020202020204" pitchFamily="34" charset="0"/>
              </a:rPr>
              <a:t>Conceptual Proposed Solution*</a:t>
            </a:r>
            <a:r>
              <a:rPr lang="en-US" sz="2000" dirty="0">
                <a:solidFill>
                  <a:srgbClr val="000000"/>
                </a:solidFill>
                <a:effectLst/>
                <a:latin typeface="Aptos" panose="020B0004020202020204" pitchFamily="34" charset="0"/>
              </a:rPr>
              <a:t>:</a:t>
            </a:r>
          </a:p>
          <a:p>
            <a:pPr marL="685800" indent="-228600" algn="l" rtl="0" eaLnBrk="1" latinLnBrk="0" hangingPunct="1">
              <a:lnSpc>
                <a:spcPct val="90000"/>
              </a:lnSpc>
              <a:spcBef>
                <a:spcPts val="500"/>
              </a:spcBef>
              <a:buFont typeface="Arial" panose="020B0604020202020204" pitchFamily="34" charset="0"/>
              <a:buChar char="•"/>
            </a:pPr>
            <a:r>
              <a:rPr lang="en-US" sz="2000" dirty="0">
                <a:solidFill>
                  <a:srgbClr val="000000"/>
                </a:solidFill>
                <a:effectLst/>
                <a:latin typeface="Aptos" panose="020B0004020202020204" pitchFamily="34" charset="0"/>
              </a:rPr>
              <a:t>Safeguard intellectual property through a dedicated MCP server.</a:t>
            </a:r>
          </a:p>
          <a:p>
            <a:pPr marL="685800" indent="-228600" algn="l" rtl="0" eaLnBrk="1" latinLnBrk="0" hangingPunct="1">
              <a:lnSpc>
                <a:spcPct val="90000"/>
              </a:lnSpc>
              <a:spcBef>
                <a:spcPts val="500"/>
              </a:spcBef>
              <a:buFont typeface="Arial" panose="020B0604020202020204" pitchFamily="34" charset="0"/>
              <a:buChar char="•"/>
            </a:pPr>
            <a:r>
              <a:rPr lang="en-US" sz="2000" dirty="0">
                <a:solidFill>
                  <a:srgbClr val="000000"/>
                </a:solidFill>
                <a:effectLst/>
                <a:latin typeface="Aptos" panose="020B0004020202020204" pitchFamily="34" charset="0"/>
              </a:rPr>
              <a:t>Deploy the MCP server via the GitHub registry.</a:t>
            </a:r>
          </a:p>
          <a:p>
            <a:pPr marL="685800" indent="-228600" algn="l" rtl="0" eaLnBrk="1" latinLnBrk="0" hangingPunct="1">
              <a:lnSpc>
                <a:spcPct val="90000"/>
              </a:lnSpc>
              <a:spcBef>
                <a:spcPts val="500"/>
              </a:spcBef>
              <a:buFont typeface="Arial" panose="020B0604020202020204" pitchFamily="34" charset="0"/>
              <a:buChar char="•"/>
            </a:pPr>
            <a:r>
              <a:rPr lang="en-US" sz="2000" dirty="0">
                <a:solidFill>
                  <a:srgbClr val="000000"/>
                </a:solidFill>
                <a:effectLst/>
                <a:latin typeface="Aptos" panose="020B0004020202020204" pitchFamily="34" charset="0"/>
              </a:rPr>
              <a:t>Issue access tokens to paying customers and subscribers for MCP server access.</a:t>
            </a:r>
          </a:p>
          <a:p>
            <a:pPr marL="685800" indent="-228600" algn="l" rtl="0" eaLnBrk="1" latinLnBrk="0" hangingPunct="1">
              <a:lnSpc>
                <a:spcPct val="90000"/>
              </a:lnSpc>
              <a:spcBef>
                <a:spcPts val="500"/>
              </a:spcBef>
              <a:buFont typeface="Arial" panose="020B0604020202020204" pitchFamily="34" charset="0"/>
              <a:buChar char="•"/>
            </a:pPr>
            <a:r>
              <a:rPr lang="en-US" sz="2000" dirty="0">
                <a:solidFill>
                  <a:srgbClr val="000000"/>
                </a:solidFill>
                <a:effectLst/>
                <a:latin typeface="Aptos" panose="020B0004020202020204" pitchFamily="34" charset="0"/>
              </a:rPr>
              <a:t>Implement support for multiple versions to maintain backward compatibility and accommodate potential changes in the MCP environment.</a:t>
            </a:r>
            <a:endParaRPr lang="en-CA" sz="2000" dirty="0"/>
          </a:p>
        </p:txBody>
      </p:sp>
      <p:sp>
        <p:nvSpPr>
          <p:cNvPr id="6" name="TextBox 5">
            <a:extLst>
              <a:ext uri="{FF2B5EF4-FFF2-40B4-BE49-F238E27FC236}">
                <a16:creationId xmlns:a16="http://schemas.microsoft.com/office/drawing/2014/main" id="{0EF783EC-7164-C597-BC7D-CE425BED1FBD}"/>
              </a:ext>
            </a:extLst>
          </p:cNvPr>
          <p:cNvSpPr txBox="1"/>
          <p:nvPr/>
        </p:nvSpPr>
        <p:spPr>
          <a:xfrm>
            <a:off x="50800" y="6446747"/>
            <a:ext cx="6118086" cy="369332"/>
          </a:xfrm>
          <a:prstGeom prst="rect">
            <a:avLst/>
          </a:prstGeom>
          <a:noFill/>
        </p:spPr>
        <p:txBody>
          <a:bodyPr wrap="square">
            <a:spAutoFit/>
          </a:bodyPr>
          <a:lstStyle/>
          <a:p>
            <a:r>
              <a:rPr lang="en-US" sz="1800" i="1" dirty="0">
                <a:solidFill>
                  <a:srgbClr val="000000"/>
                </a:solidFill>
                <a:effectLst/>
                <a:latin typeface="Aptos" panose="020B0004020202020204" pitchFamily="34" charset="0"/>
              </a:rPr>
              <a:t>*Currently theoretical and unconfirmed</a:t>
            </a:r>
            <a:endParaRPr lang="en-CA" i="1" dirty="0"/>
          </a:p>
        </p:txBody>
      </p:sp>
    </p:spTree>
    <p:extLst>
      <p:ext uri="{BB962C8B-B14F-4D97-AF65-F5344CB8AC3E}">
        <p14:creationId xmlns:p14="http://schemas.microsoft.com/office/powerpoint/2010/main" val="167831817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DF6326-F5D6-CB23-223B-2B15AA309A6B}"/>
              </a:ext>
            </a:extLst>
          </p:cNvPr>
          <p:cNvSpPr>
            <a:spLocks noGrp="1"/>
          </p:cNvSpPr>
          <p:nvPr>
            <p:ph type="title"/>
          </p:nvPr>
        </p:nvSpPr>
        <p:spPr>
          <a:xfrm>
            <a:off x="0" y="0"/>
            <a:ext cx="10515600" cy="932329"/>
          </a:xfrm>
        </p:spPr>
        <p:txBody>
          <a:bodyPr/>
          <a:lstStyle/>
          <a:p>
            <a:r>
              <a:rPr lang="en-CA" dirty="0"/>
              <a:t>Proposed Architecture</a:t>
            </a:r>
          </a:p>
        </p:txBody>
      </p:sp>
      <p:pic>
        <p:nvPicPr>
          <p:cNvPr id="9" name="Picture 8">
            <a:extLst>
              <a:ext uri="{FF2B5EF4-FFF2-40B4-BE49-F238E27FC236}">
                <a16:creationId xmlns:a16="http://schemas.microsoft.com/office/drawing/2014/main" id="{F1AFF4C8-533C-F23F-4B3B-8A6F9888FD2C}"/>
              </a:ext>
            </a:extLst>
          </p:cNvPr>
          <p:cNvPicPr>
            <a:picLocks noChangeAspect="1"/>
          </p:cNvPicPr>
          <p:nvPr/>
        </p:nvPicPr>
        <p:blipFill>
          <a:blip r:embed="rId2"/>
          <a:stretch>
            <a:fillRect/>
          </a:stretch>
        </p:blipFill>
        <p:spPr>
          <a:xfrm>
            <a:off x="1207048" y="329244"/>
            <a:ext cx="10027009" cy="6528756"/>
          </a:xfrm>
          <a:prstGeom prst="rect">
            <a:avLst/>
          </a:prstGeom>
        </p:spPr>
      </p:pic>
    </p:spTree>
    <p:extLst>
      <p:ext uri="{BB962C8B-B14F-4D97-AF65-F5344CB8AC3E}">
        <p14:creationId xmlns:p14="http://schemas.microsoft.com/office/powerpoint/2010/main" val="108728867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4" name="Rectangle 23">
            <a:extLst>
              <a:ext uri="{FF2B5EF4-FFF2-40B4-BE49-F238E27FC236}">
                <a16:creationId xmlns:a16="http://schemas.microsoft.com/office/drawing/2014/main" id="{7D9D36D6-2AC5-46A1-A849-4C82D5264A3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3">
            <a:extLst>
              <a:ext uri="{FF2B5EF4-FFF2-40B4-BE49-F238E27FC236}">
                <a16:creationId xmlns:a16="http://schemas.microsoft.com/office/drawing/2014/main" id="{7B6C04BF-2357-AFB3-302E-D9BA61E53DD0}"/>
              </a:ext>
            </a:extLst>
          </p:cNvPr>
          <p:cNvSpPr>
            <a:spLocks noGrp="1"/>
          </p:cNvSpPr>
          <p:nvPr>
            <p:ph type="title"/>
          </p:nvPr>
        </p:nvSpPr>
        <p:spPr>
          <a:xfrm>
            <a:off x="5354955" y="552182"/>
            <a:ext cx="5998840" cy="3343135"/>
          </a:xfrm>
          <a:noFill/>
        </p:spPr>
        <p:txBody>
          <a:bodyPr vert="horz" lIns="91440" tIns="45720" rIns="91440" bIns="45720" rtlCol="0" anchor="b">
            <a:normAutofit/>
          </a:bodyPr>
          <a:lstStyle/>
          <a:p>
            <a:r>
              <a:rPr lang="en-US" sz="5200" dirty="0"/>
              <a:t>Workflows</a:t>
            </a:r>
          </a:p>
        </p:txBody>
      </p:sp>
      <p:sp>
        <p:nvSpPr>
          <p:cNvPr id="5" name="Text Placeholder 4">
            <a:extLst>
              <a:ext uri="{FF2B5EF4-FFF2-40B4-BE49-F238E27FC236}">
                <a16:creationId xmlns:a16="http://schemas.microsoft.com/office/drawing/2014/main" id="{0622F39C-ED1A-1946-423B-42C533C7EB6B}"/>
              </a:ext>
            </a:extLst>
          </p:cNvPr>
          <p:cNvSpPr>
            <a:spLocks noGrp="1"/>
          </p:cNvSpPr>
          <p:nvPr>
            <p:ph type="body" idx="1"/>
          </p:nvPr>
        </p:nvSpPr>
        <p:spPr>
          <a:xfrm>
            <a:off x="5354955" y="4067032"/>
            <a:ext cx="5998840" cy="2067068"/>
          </a:xfrm>
          <a:noFill/>
        </p:spPr>
        <p:txBody>
          <a:bodyPr vert="horz" lIns="91440" tIns="45720" rIns="91440" bIns="45720" rtlCol="0">
            <a:normAutofit/>
          </a:bodyPr>
          <a:lstStyle/>
          <a:p>
            <a:endParaRPr lang="en-US">
              <a:solidFill>
                <a:schemeClr val="tx1"/>
              </a:solidFill>
            </a:endParaRPr>
          </a:p>
        </p:txBody>
      </p:sp>
      <p:pic>
        <p:nvPicPr>
          <p:cNvPr id="20" name="Picture 19" descr="Different colored organizers">
            <a:extLst>
              <a:ext uri="{FF2B5EF4-FFF2-40B4-BE49-F238E27FC236}">
                <a16:creationId xmlns:a16="http://schemas.microsoft.com/office/drawing/2014/main" id="{51818EA9-8AAD-81D4-15EA-0ACA0B00B8AE}"/>
              </a:ext>
            </a:extLst>
          </p:cNvPr>
          <p:cNvPicPr>
            <a:picLocks noChangeAspect="1"/>
          </p:cNvPicPr>
          <p:nvPr/>
        </p:nvPicPr>
        <p:blipFill>
          <a:blip r:embed="rId3"/>
          <a:srcRect l="28030" r="27923" b="1"/>
          <a:stretch>
            <a:fillRect/>
          </a:stretch>
        </p:blipFill>
        <p:spPr>
          <a:xfrm>
            <a:off x="20" y="10"/>
            <a:ext cx="4992985" cy="6857990"/>
          </a:xfrm>
          <a:prstGeom prst="rect">
            <a:avLst/>
          </a:prstGeom>
        </p:spPr>
      </p:pic>
    </p:spTree>
    <p:extLst>
      <p:ext uri="{BB962C8B-B14F-4D97-AF65-F5344CB8AC3E}">
        <p14:creationId xmlns:p14="http://schemas.microsoft.com/office/powerpoint/2010/main" val="39860063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DC4C52B-E03F-87E9-E766-774F3F791643}"/>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79BB35BC-D5C2-4C8B-A22A-A71E619191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A4998D9-2631-8552-7089-101DFC27EAF6}"/>
              </a:ext>
            </a:extLst>
          </p:cNvPr>
          <p:cNvSpPr>
            <a:spLocks noGrp="1"/>
          </p:cNvSpPr>
          <p:nvPr>
            <p:ph type="title"/>
          </p:nvPr>
        </p:nvSpPr>
        <p:spPr>
          <a:xfrm>
            <a:off x="6513788" y="365125"/>
            <a:ext cx="4840010" cy="1807305"/>
          </a:xfrm>
        </p:spPr>
        <p:txBody>
          <a:bodyPr>
            <a:normAutofit/>
          </a:bodyPr>
          <a:lstStyle/>
          <a:p>
            <a:r>
              <a:rPr lang="en-CA" dirty="0"/>
              <a:t>Planning Workflow</a:t>
            </a:r>
          </a:p>
        </p:txBody>
      </p:sp>
      <p:pic>
        <p:nvPicPr>
          <p:cNvPr id="5" name="Picture 4" descr="A person reaching for a paper on a table full of paper and sticky notes">
            <a:extLst>
              <a:ext uri="{FF2B5EF4-FFF2-40B4-BE49-F238E27FC236}">
                <a16:creationId xmlns:a16="http://schemas.microsoft.com/office/drawing/2014/main" id="{F6578DA4-E9BD-1DAB-8F43-82FD1A61775D}"/>
              </a:ext>
            </a:extLst>
          </p:cNvPr>
          <p:cNvPicPr>
            <a:picLocks noChangeAspect="1"/>
          </p:cNvPicPr>
          <p:nvPr/>
        </p:nvPicPr>
        <p:blipFill>
          <a:blip r:embed="rId2"/>
          <a:srcRect l="19737" r="20729" b="-1"/>
          <a:stretch>
            <a:fillRect/>
          </a:stretch>
        </p:blipFill>
        <p:spPr>
          <a:xfrm>
            <a:off x="20" y="10"/>
            <a:ext cx="6116549" cy="6857990"/>
          </a:xfrm>
          <a:custGeom>
            <a:avLst/>
            <a:gdLst/>
            <a:ahLst/>
            <a:cxnLst/>
            <a:rect l="l" t="t" r="r" b="b"/>
            <a:pathLst>
              <a:path w="6116569" h="6879321">
                <a:moveTo>
                  <a:pt x="0" y="0"/>
                </a:moveTo>
                <a:lnTo>
                  <a:pt x="2935851" y="0"/>
                </a:lnTo>
                <a:cubicBezTo>
                  <a:pt x="3035710" y="10660"/>
                  <a:pt x="3138421" y="17767"/>
                  <a:pt x="3238280" y="31980"/>
                </a:cubicBezTo>
                <a:cubicBezTo>
                  <a:pt x="3817462" y="106602"/>
                  <a:pt x="3127009" y="277163"/>
                  <a:pt x="3660541" y="550772"/>
                </a:cubicBezTo>
                <a:cubicBezTo>
                  <a:pt x="3706191" y="575645"/>
                  <a:pt x="3757546" y="579199"/>
                  <a:pt x="3808902" y="589860"/>
                </a:cubicBezTo>
                <a:cubicBezTo>
                  <a:pt x="4008620" y="625393"/>
                  <a:pt x="4211192" y="618286"/>
                  <a:pt x="4413762" y="625393"/>
                </a:cubicBezTo>
                <a:cubicBezTo>
                  <a:pt x="4465118" y="628946"/>
                  <a:pt x="4525033" y="625393"/>
                  <a:pt x="4567830" y="721333"/>
                </a:cubicBezTo>
                <a:cubicBezTo>
                  <a:pt x="4425175" y="724888"/>
                  <a:pt x="4305344" y="731994"/>
                  <a:pt x="4171247" y="792401"/>
                </a:cubicBezTo>
                <a:cubicBezTo>
                  <a:pt x="4239722" y="859916"/>
                  <a:pt x="4322462" y="795955"/>
                  <a:pt x="4376671" y="842148"/>
                </a:cubicBezTo>
                <a:cubicBezTo>
                  <a:pt x="4428027" y="888342"/>
                  <a:pt x="4470824" y="891896"/>
                  <a:pt x="4527887" y="813722"/>
                </a:cubicBezTo>
                <a:cubicBezTo>
                  <a:pt x="4556417" y="774634"/>
                  <a:pt x="4604920" y="778187"/>
                  <a:pt x="4633452" y="799508"/>
                </a:cubicBezTo>
                <a:cubicBezTo>
                  <a:pt x="4781813" y="913216"/>
                  <a:pt x="4778960" y="909662"/>
                  <a:pt x="4947293" y="870576"/>
                </a:cubicBezTo>
                <a:cubicBezTo>
                  <a:pt x="5055712" y="845701"/>
                  <a:pt x="5166983" y="806615"/>
                  <a:pt x="5263988" y="820828"/>
                </a:cubicBezTo>
                <a:cubicBezTo>
                  <a:pt x="5275401" y="867022"/>
                  <a:pt x="5263988" y="888342"/>
                  <a:pt x="5249723" y="895449"/>
                </a:cubicBezTo>
                <a:cubicBezTo>
                  <a:pt x="5021475" y="1005604"/>
                  <a:pt x="4975825" y="1122864"/>
                  <a:pt x="4744723" y="1197485"/>
                </a:cubicBezTo>
                <a:cubicBezTo>
                  <a:pt x="4724751" y="1268552"/>
                  <a:pt x="4807491" y="1275660"/>
                  <a:pt x="4767548" y="1346727"/>
                </a:cubicBezTo>
                <a:cubicBezTo>
                  <a:pt x="4693367" y="1407134"/>
                  <a:pt x="4610627" y="1346727"/>
                  <a:pt x="4539299" y="1421348"/>
                </a:cubicBezTo>
                <a:cubicBezTo>
                  <a:pt x="4550712" y="1471094"/>
                  <a:pt x="4610627" y="1432008"/>
                  <a:pt x="4607773" y="1485309"/>
                </a:cubicBezTo>
                <a:cubicBezTo>
                  <a:pt x="4604920" y="1517288"/>
                  <a:pt x="4593508" y="1527948"/>
                  <a:pt x="4579242" y="1535055"/>
                </a:cubicBezTo>
                <a:cubicBezTo>
                  <a:pt x="4776107" y="1538608"/>
                  <a:pt x="5383820" y="1574142"/>
                  <a:pt x="5278255" y="1609676"/>
                </a:cubicBezTo>
                <a:cubicBezTo>
                  <a:pt x="5418057" y="1698511"/>
                  <a:pt x="5623481" y="1609676"/>
                  <a:pt x="5771843" y="1630997"/>
                </a:cubicBezTo>
                <a:cubicBezTo>
                  <a:pt x="5925911" y="1652316"/>
                  <a:pt x="6171278" y="1719830"/>
                  <a:pt x="6105656" y="1748257"/>
                </a:cubicBezTo>
                <a:cubicBezTo>
                  <a:pt x="6031475" y="1780238"/>
                  <a:pt x="5766136" y="2146235"/>
                  <a:pt x="5691955" y="2167555"/>
                </a:cubicBezTo>
                <a:cubicBezTo>
                  <a:pt x="5606362" y="2188875"/>
                  <a:pt x="5589243" y="2217302"/>
                  <a:pt x="5475118" y="2348776"/>
                </a:cubicBezTo>
                <a:cubicBezTo>
                  <a:pt x="5398085" y="2437610"/>
                  <a:pt x="5709074" y="2238623"/>
                  <a:pt x="5826051" y="2291922"/>
                </a:cubicBezTo>
                <a:cubicBezTo>
                  <a:pt x="5868848" y="2309690"/>
                  <a:pt x="5552153" y="2554872"/>
                  <a:pt x="5552153" y="2597513"/>
                </a:cubicBezTo>
                <a:cubicBezTo>
                  <a:pt x="5549300" y="2640153"/>
                  <a:pt x="5577831" y="2647260"/>
                  <a:pt x="5603508" y="2647260"/>
                </a:cubicBezTo>
                <a:cubicBezTo>
                  <a:pt x="5660571" y="2647260"/>
                  <a:pt x="5640599" y="2686346"/>
                  <a:pt x="5700515" y="2679240"/>
                </a:cubicBezTo>
                <a:cubicBezTo>
                  <a:pt x="5523622" y="2800055"/>
                  <a:pt x="5418057" y="2778734"/>
                  <a:pt x="5246870" y="2888889"/>
                </a:cubicBezTo>
                <a:cubicBezTo>
                  <a:pt x="5164130" y="2942189"/>
                  <a:pt x="4921615" y="3119857"/>
                  <a:pt x="4836022" y="3169605"/>
                </a:cubicBezTo>
                <a:cubicBezTo>
                  <a:pt x="4801785" y="3187371"/>
                  <a:pt x="4758988" y="3173158"/>
                  <a:pt x="4736163" y="3233565"/>
                </a:cubicBezTo>
                <a:cubicBezTo>
                  <a:pt x="4770400" y="3279759"/>
                  <a:pt x="4816050" y="3254885"/>
                  <a:pt x="4853141" y="3233565"/>
                </a:cubicBezTo>
                <a:cubicBezTo>
                  <a:pt x="4944440" y="3176711"/>
                  <a:pt x="4935881" y="3190925"/>
                  <a:pt x="4944440" y="3226459"/>
                </a:cubicBezTo>
                <a:cubicBezTo>
                  <a:pt x="4972972" y="3350827"/>
                  <a:pt x="5044300" y="3308186"/>
                  <a:pt x="5109921" y="3283313"/>
                </a:cubicBezTo>
                <a:cubicBezTo>
                  <a:pt x="5303932" y="3208692"/>
                  <a:pt x="5500797" y="3215799"/>
                  <a:pt x="5694809" y="3141178"/>
                </a:cubicBezTo>
                <a:cubicBezTo>
                  <a:pt x="5714781" y="3134070"/>
                  <a:pt x="5612068" y="3283313"/>
                  <a:pt x="5566419" y="3301079"/>
                </a:cubicBezTo>
                <a:cubicBezTo>
                  <a:pt x="5515063" y="3322399"/>
                  <a:pt x="5452294" y="3311739"/>
                  <a:pt x="5415203" y="3397020"/>
                </a:cubicBezTo>
                <a:cubicBezTo>
                  <a:pt x="5477972" y="3414787"/>
                  <a:pt x="5552153" y="3372147"/>
                  <a:pt x="5612068" y="3432554"/>
                </a:cubicBezTo>
                <a:cubicBezTo>
                  <a:pt x="5469413" y="3528494"/>
                  <a:pt x="5329610" y="3535601"/>
                  <a:pt x="5206927" y="3599562"/>
                </a:cubicBezTo>
                <a:cubicBezTo>
                  <a:pt x="5192661" y="3706163"/>
                  <a:pt x="5272548" y="3663523"/>
                  <a:pt x="5301079" y="3723930"/>
                </a:cubicBezTo>
                <a:cubicBezTo>
                  <a:pt x="5072830" y="3844745"/>
                  <a:pt x="4564977" y="4232062"/>
                  <a:pt x="4507915" y="4306683"/>
                </a:cubicBezTo>
                <a:cubicBezTo>
                  <a:pt x="4390937" y="4463031"/>
                  <a:pt x="3900202" y="4562525"/>
                  <a:pt x="3982942" y="4587399"/>
                </a:cubicBezTo>
                <a:cubicBezTo>
                  <a:pt x="4051417" y="4608719"/>
                  <a:pt x="4119891" y="4587399"/>
                  <a:pt x="4185513" y="4541205"/>
                </a:cubicBezTo>
                <a:cubicBezTo>
                  <a:pt x="4291078" y="4466584"/>
                  <a:pt x="5010062" y="4523438"/>
                  <a:pt x="5212633" y="4455924"/>
                </a:cubicBezTo>
                <a:cubicBezTo>
                  <a:pt x="5241164" y="4445264"/>
                  <a:pt x="5283960" y="4409730"/>
                  <a:pt x="5312492" y="4473691"/>
                </a:cubicBezTo>
                <a:cubicBezTo>
                  <a:pt x="5098508" y="4704659"/>
                  <a:pt x="4833169" y="4654913"/>
                  <a:pt x="4596361" y="4818368"/>
                </a:cubicBezTo>
                <a:cubicBezTo>
                  <a:pt x="4684807" y="4917861"/>
                  <a:pt x="4776107" y="4907202"/>
                  <a:pt x="4873113" y="4885882"/>
                </a:cubicBezTo>
                <a:cubicBezTo>
                  <a:pt x="4895938" y="4878775"/>
                  <a:pt x="4930175" y="4871668"/>
                  <a:pt x="4935881" y="4914309"/>
                </a:cubicBezTo>
                <a:cubicBezTo>
                  <a:pt x="4941587" y="4967609"/>
                  <a:pt x="4898790" y="4978270"/>
                  <a:pt x="4873113" y="5003143"/>
                </a:cubicBezTo>
                <a:cubicBezTo>
                  <a:pt x="4833169" y="5038676"/>
                  <a:pt x="4773254" y="4999590"/>
                  <a:pt x="4721898" y="5095530"/>
                </a:cubicBezTo>
                <a:cubicBezTo>
                  <a:pt x="4873113" y="5067104"/>
                  <a:pt x="4998650" y="5020910"/>
                  <a:pt x="5132745" y="4949842"/>
                </a:cubicBezTo>
                <a:cubicBezTo>
                  <a:pt x="5121333" y="5006696"/>
                  <a:pt x="5081390" y="5035123"/>
                  <a:pt x="5101362" y="5081317"/>
                </a:cubicBezTo>
                <a:cubicBezTo>
                  <a:pt x="5118480" y="5116850"/>
                  <a:pt x="5164130" y="5131063"/>
                  <a:pt x="5138452" y="5198578"/>
                </a:cubicBezTo>
                <a:cubicBezTo>
                  <a:pt x="5067125" y="5273199"/>
                  <a:pt x="4967265" y="5258986"/>
                  <a:pt x="4904497" y="5362033"/>
                </a:cubicBezTo>
                <a:cubicBezTo>
                  <a:pt x="4818903" y="5507721"/>
                  <a:pt x="4684807" y="5564575"/>
                  <a:pt x="4579242" y="5674729"/>
                </a:cubicBezTo>
                <a:cubicBezTo>
                  <a:pt x="4545005" y="5713816"/>
                  <a:pt x="4313903" y="5841738"/>
                  <a:pt x="4253988" y="5884379"/>
                </a:cubicBezTo>
                <a:cubicBezTo>
                  <a:pt x="4168395" y="5944786"/>
                  <a:pt x="4071389" y="5966106"/>
                  <a:pt x="3985795" y="6069153"/>
                </a:cubicBezTo>
                <a:cubicBezTo>
                  <a:pt x="4065682" y="6086921"/>
                  <a:pt x="4134157" y="5990979"/>
                  <a:pt x="4231163" y="6030066"/>
                </a:cubicBezTo>
                <a:cubicBezTo>
                  <a:pt x="4074242" y="6133114"/>
                  <a:pt x="3931586" y="6182861"/>
                  <a:pt x="3814609" y="6317889"/>
                </a:cubicBezTo>
                <a:cubicBezTo>
                  <a:pt x="3800343" y="6335656"/>
                  <a:pt x="3771812" y="6332102"/>
                  <a:pt x="3751840" y="6339209"/>
                </a:cubicBezTo>
                <a:cubicBezTo>
                  <a:pt x="3529298" y="6406723"/>
                  <a:pt x="3309608" y="6467130"/>
                  <a:pt x="3089919" y="6563071"/>
                </a:cubicBezTo>
                <a:cubicBezTo>
                  <a:pt x="3041416" y="6584392"/>
                  <a:pt x="2955823" y="6595052"/>
                  <a:pt x="2961529" y="6662566"/>
                </a:cubicBezTo>
                <a:cubicBezTo>
                  <a:pt x="2972941" y="6765613"/>
                  <a:pt x="3055681" y="6687439"/>
                  <a:pt x="3107038" y="6673226"/>
                </a:cubicBezTo>
                <a:cubicBezTo>
                  <a:pt x="3269664" y="6634138"/>
                  <a:pt x="3432292" y="6570178"/>
                  <a:pt x="3594919" y="6591499"/>
                </a:cubicBezTo>
                <a:cubicBezTo>
                  <a:pt x="3483648" y="6637693"/>
                  <a:pt x="3372376" y="6680332"/>
                  <a:pt x="3261106" y="6726527"/>
                </a:cubicBezTo>
                <a:cubicBezTo>
                  <a:pt x="3386642" y="6705206"/>
                  <a:pt x="3495061" y="6786934"/>
                  <a:pt x="3620597" y="6740740"/>
                </a:cubicBezTo>
                <a:cubicBezTo>
                  <a:pt x="3660541" y="6726527"/>
                  <a:pt x="3700484" y="6765613"/>
                  <a:pt x="3703337" y="6826020"/>
                </a:cubicBezTo>
                <a:cubicBezTo>
                  <a:pt x="3706191" y="6847340"/>
                  <a:pt x="3700484" y="6865108"/>
                  <a:pt x="3689072" y="6879321"/>
                </a:cubicBezTo>
                <a:lnTo>
                  <a:pt x="0" y="6879321"/>
                </a:lnTo>
                <a:close/>
              </a:path>
            </a:pathLst>
          </a:custGeom>
        </p:spPr>
      </p:pic>
      <p:sp>
        <p:nvSpPr>
          <p:cNvPr id="3" name="Content Placeholder 2">
            <a:extLst>
              <a:ext uri="{FF2B5EF4-FFF2-40B4-BE49-F238E27FC236}">
                <a16:creationId xmlns:a16="http://schemas.microsoft.com/office/drawing/2014/main" id="{1202436A-A0EA-7563-93CB-FB1641CF018F}"/>
              </a:ext>
            </a:extLst>
          </p:cNvPr>
          <p:cNvSpPr>
            <a:spLocks noGrp="1"/>
          </p:cNvSpPr>
          <p:nvPr>
            <p:ph idx="1"/>
          </p:nvPr>
        </p:nvSpPr>
        <p:spPr>
          <a:xfrm>
            <a:off x="6513788" y="1813496"/>
            <a:ext cx="4840010" cy="4363467"/>
          </a:xfrm>
        </p:spPr>
        <p:txBody>
          <a:bodyPr>
            <a:noAutofit/>
          </a:bodyPr>
          <a:lstStyle/>
          <a:p>
            <a:pPr>
              <a:lnSpc>
                <a:spcPct val="100000"/>
              </a:lnSpc>
              <a:spcBef>
                <a:spcPts val="600"/>
              </a:spcBef>
            </a:pPr>
            <a:r>
              <a:rPr lang="en-CA" sz="1800" dirty="0"/>
              <a:t>The planning workflow uses the [planning-agent] to ensure work is well defined and has acceptance criteria.</a:t>
            </a:r>
          </a:p>
          <a:p>
            <a:pPr>
              <a:lnSpc>
                <a:spcPct val="100000"/>
              </a:lnSpc>
              <a:spcBef>
                <a:spcPts val="600"/>
              </a:spcBef>
            </a:pPr>
            <a:r>
              <a:rPr lang="en-CA" sz="1800" dirty="0"/>
              <a:t>The [planning-agent] can ask questions, update work items, and split large items into multiple sub-items and tasks.</a:t>
            </a:r>
          </a:p>
          <a:p>
            <a:pPr>
              <a:lnSpc>
                <a:spcPct val="100000"/>
              </a:lnSpc>
              <a:spcBef>
                <a:spcPts val="600"/>
              </a:spcBef>
            </a:pPr>
            <a:r>
              <a:rPr lang="en-CA" sz="1800" dirty="0"/>
              <a:t>It can recommend next steps by analyzing what needs to be completed. IE: understanding the task is to create a user interface and recommending the [UI Design Workflow]</a:t>
            </a:r>
          </a:p>
          <a:p>
            <a:pPr>
              <a:lnSpc>
                <a:spcPct val="100000"/>
              </a:lnSpc>
              <a:spcBef>
                <a:spcPts val="600"/>
              </a:spcBef>
            </a:pPr>
            <a:r>
              <a:rPr lang="en-CA" sz="1800" dirty="0"/>
              <a:t>A planning conversation is a quick way to build up the backlog.</a:t>
            </a:r>
          </a:p>
        </p:txBody>
      </p:sp>
    </p:spTree>
    <p:extLst>
      <p:ext uri="{BB962C8B-B14F-4D97-AF65-F5344CB8AC3E}">
        <p14:creationId xmlns:p14="http://schemas.microsoft.com/office/powerpoint/2010/main" val="3486969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8AB32F3-6121-461A-A58F-39197D1CB139}"/>
            </a:ext>
          </a:extLst>
        </p:cNvPr>
        <p:cNvGrpSpPr/>
        <p:nvPr/>
      </p:nvGrpSpPr>
      <p:grpSpPr>
        <a:xfrm>
          <a:off x="0" y="0"/>
          <a:ext cx="0" cy="0"/>
          <a:chOff x="0" y="0"/>
          <a:chExt cx="0" cy="0"/>
        </a:xfrm>
      </p:grpSpPr>
      <p:sp useBgFill="1">
        <p:nvSpPr>
          <p:cNvPr id="31" name="Rectangle 30">
            <a:extLst>
              <a:ext uri="{FF2B5EF4-FFF2-40B4-BE49-F238E27FC236}">
                <a16:creationId xmlns:a16="http://schemas.microsoft.com/office/drawing/2014/main" id="{79BB35BC-D5C2-4C8B-A22A-A71E619191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3DBD97F-062C-504C-AEEF-B4381F1354FC}"/>
              </a:ext>
            </a:extLst>
          </p:cNvPr>
          <p:cNvSpPr>
            <a:spLocks noGrp="1"/>
          </p:cNvSpPr>
          <p:nvPr>
            <p:ph type="title"/>
          </p:nvPr>
        </p:nvSpPr>
        <p:spPr>
          <a:xfrm>
            <a:off x="6513788" y="365125"/>
            <a:ext cx="4840010" cy="1807305"/>
          </a:xfrm>
        </p:spPr>
        <p:txBody>
          <a:bodyPr>
            <a:normAutofit/>
          </a:bodyPr>
          <a:lstStyle/>
          <a:p>
            <a:r>
              <a:rPr lang="en-CA" dirty="0"/>
              <a:t>Suggestion Workflow</a:t>
            </a:r>
          </a:p>
        </p:txBody>
      </p:sp>
      <p:pic>
        <p:nvPicPr>
          <p:cNvPr id="27" name="Picture 26" descr="A person reaching for a paper on a table full of paper and sticky notes">
            <a:extLst>
              <a:ext uri="{FF2B5EF4-FFF2-40B4-BE49-F238E27FC236}">
                <a16:creationId xmlns:a16="http://schemas.microsoft.com/office/drawing/2014/main" id="{0C868E36-0E5E-B6BF-432C-CC91D0CB7E6E}"/>
              </a:ext>
            </a:extLst>
          </p:cNvPr>
          <p:cNvPicPr>
            <a:picLocks noChangeAspect="1"/>
          </p:cNvPicPr>
          <p:nvPr/>
        </p:nvPicPr>
        <p:blipFill>
          <a:blip r:embed="rId2"/>
          <a:srcRect l="19737" r="20729" b="-1"/>
          <a:stretch>
            <a:fillRect/>
          </a:stretch>
        </p:blipFill>
        <p:spPr>
          <a:xfrm>
            <a:off x="20" y="10"/>
            <a:ext cx="6116549" cy="6857990"/>
          </a:xfrm>
          <a:custGeom>
            <a:avLst/>
            <a:gdLst/>
            <a:ahLst/>
            <a:cxnLst/>
            <a:rect l="l" t="t" r="r" b="b"/>
            <a:pathLst>
              <a:path w="6116569" h="6879321">
                <a:moveTo>
                  <a:pt x="0" y="0"/>
                </a:moveTo>
                <a:lnTo>
                  <a:pt x="2935851" y="0"/>
                </a:lnTo>
                <a:cubicBezTo>
                  <a:pt x="3035710" y="10660"/>
                  <a:pt x="3138421" y="17767"/>
                  <a:pt x="3238280" y="31980"/>
                </a:cubicBezTo>
                <a:cubicBezTo>
                  <a:pt x="3817462" y="106602"/>
                  <a:pt x="3127009" y="277163"/>
                  <a:pt x="3660541" y="550772"/>
                </a:cubicBezTo>
                <a:cubicBezTo>
                  <a:pt x="3706191" y="575645"/>
                  <a:pt x="3757546" y="579199"/>
                  <a:pt x="3808902" y="589860"/>
                </a:cubicBezTo>
                <a:cubicBezTo>
                  <a:pt x="4008620" y="625393"/>
                  <a:pt x="4211192" y="618286"/>
                  <a:pt x="4413762" y="625393"/>
                </a:cubicBezTo>
                <a:cubicBezTo>
                  <a:pt x="4465118" y="628946"/>
                  <a:pt x="4525033" y="625393"/>
                  <a:pt x="4567830" y="721333"/>
                </a:cubicBezTo>
                <a:cubicBezTo>
                  <a:pt x="4425175" y="724888"/>
                  <a:pt x="4305344" y="731994"/>
                  <a:pt x="4171247" y="792401"/>
                </a:cubicBezTo>
                <a:cubicBezTo>
                  <a:pt x="4239722" y="859916"/>
                  <a:pt x="4322462" y="795955"/>
                  <a:pt x="4376671" y="842148"/>
                </a:cubicBezTo>
                <a:cubicBezTo>
                  <a:pt x="4428027" y="888342"/>
                  <a:pt x="4470824" y="891896"/>
                  <a:pt x="4527887" y="813722"/>
                </a:cubicBezTo>
                <a:cubicBezTo>
                  <a:pt x="4556417" y="774634"/>
                  <a:pt x="4604920" y="778187"/>
                  <a:pt x="4633452" y="799508"/>
                </a:cubicBezTo>
                <a:cubicBezTo>
                  <a:pt x="4781813" y="913216"/>
                  <a:pt x="4778960" y="909662"/>
                  <a:pt x="4947293" y="870576"/>
                </a:cubicBezTo>
                <a:cubicBezTo>
                  <a:pt x="5055712" y="845701"/>
                  <a:pt x="5166983" y="806615"/>
                  <a:pt x="5263988" y="820828"/>
                </a:cubicBezTo>
                <a:cubicBezTo>
                  <a:pt x="5275401" y="867022"/>
                  <a:pt x="5263988" y="888342"/>
                  <a:pt x="5249723" y="895449"/>
                </a:cubicBezTo>
                <a:cubicBezTo>
                  <a:pt x="5021475" y="1005604"/>
                  <a:pt x="4975825" y="1122864"/>
                  <a:pt x="4744723" y="1197485"/>
                </a:cubicBezTo>
                <a:cubicBezTo>
                  <a:pt x="4724751" y="1268552"/>
                  <a:pt x="4807491" y="1275660"/>
                  <a:pt x="4767548" y="1346727"/>
                </a:cubicBezTo>
                <a:cubicBezTo>
                  <a:pt x="4693367" y="1407134"/>
                  <a:pt x="4610627" y="1346727"/>
                  <a:pt x="4539299" y="1421348"/>
                </a:cubicBezTo>
                <a:cubicBezTo>
                  <a:pt x="4550712" y="1471094"/>
                  <a:pt x="4610627" y="1432008"/>
                  <a:pt x="4607773" y="1485309"/>
                </a:cubicBezTo>
                <a:cubicBezTo>
                  <a:pt x="4604920" y="1517288"/>
                  <a:pt x="4593508" y="1527948"/>
                  <a:pt x="4579242" y="1535055"/>
                </a:cubicBezTo>
                <a:cubicBezTo>
                  <a:pt x="4776107" y="1538608"/>
                  <a:pt x="5383820" y="1574142"/>
                  <a:pt x="5278255" y="1609676"/>
                </a:cubicBezTo>
                <a:cubicBezTo>
                  <a:pt x="5418057" y="1698511"/>
                  <a:pt x="5623481" y="1609676"/>
                  <a:pt x="5771843" y="1630997"/>
                </a:cubicBezTo>
                <a:cubicBezTo>
                  <a:pt x="5925911" y="1652316"/>
                  <a:pt x="6171278" y="1719830"/>
                  <a:pt x="6105656" y="1748257"/>
                </a:cubicBezTo>
                <a:cubicBezTo>
                  <a:pt x="6031475" y="1780238"/>
                  <a:pt x="5766136" y="2146235"/>
                  <a:pt x="5691955" y="2167555"/>
                </a:cubicBezTo>
                <a:cubicBezTo>
                  <a:pt x="5606362" y="2188875"/>
                  <a:pt x="5589243" y="2217302"/>
                  <a:pt x="5475118" y="2348776"/>
                </a:cubicBezTo>
                <a:cubicBezTo>
                  <a:pt x="5398085" y="2437610"/>
                  <a:pt x="5709074" y="2238623"/>
                  <a:pt x="5826051" y="2291922"/>
                </a:cubicBezTo>
                <a:cubicBezTo>
                  <a:pt x="5868848" y="2309690"/>
                  <a:pt x="5552153" y="2554872"/>
                  <a:pt x="5552153" y="2597513"/>
                </a:cubicBezTo>
                <a:cubicBezTo>
                  <a:pt x="5549300" y="2640153"/>
                  <a:pt x="5577831" y="2647260"/>
                  <a:pt x="5603508" y="2647260"/>
                </a:cubicBezTo>
                <a:cubicBezTo>
                  <a:pt x="5660571" y="2647260"/>
                  <a:pt x="5640599" y="2686346"/>
                  <a:pt x="5700515" y="2679240"/>
                </a:cubicBezTo>
                <a:cubicBezTo>
                  <a:pt x="5523622" y="2800055"/>
                  <a:pt x="5418057" y="2778734"/>
                  <a:pt x="5246870" y="2888889"/>
                </a:cubicBezTo>
                <a:cubicBezTo>
                  <a:pt x="5164130" y="2942189"/>
                  <a:pt x="4921615" y="3119857"/>
                  <a:pt x="4836022" y="3169605"/>
                </a:cubicBezTo>
                <a:cubicBezTo>
                  <a:pt x="4801785" y="3187371"/>
                  <a:pt x="4758988" y="3173158"/>
                  <a:pt x="4736163" y="3233565"/>
                </a:cubicBezTo>
                <a:cubicBezTo>
                  <a:pt x="4770400" y="3279759"/>
                  <a:pt x="4816050" y="3254885"/>
                  <a:pt x="4853141" y="3233565"/>
                </a:cubicBezTo>
                <a:cubicBezTo>
                  <a:pt x="4944440" y="3176711"/>
                  <a:pt x="4935881" y="3190925"/>
                  <a:pt x="4944440" y="3226459"/>
                </a:cubicBezTo>
                <a:cubicBezTo>
                  <a:pt x="4972972" y="3350827"/>
                  <a:pt x="5044300" y="3308186"/>
                  <a:pt x="5109921" y="3283313"/>
                </a:cubicBezTo>
                <a:cubicBezTo>
                  <a:pt x="5303932" y="3208692"/>
                  <a:pt x="5500797" y="3215799"/>
                  <a:pt x="5694809" y="3141178"/>
                </a:cubicBezTo>
                <a:cubicBezTo>
                  <a:pt x="5714781" y="3134070"/>
                  <a:pt x="5612068" y="3283313"/>
                  <a:pt x="5566419" y="3301079"/>
                </a:cubicBezTo>
                <a:cubicBezTo>
                  <a:pt x="5515063" y="3322399"/>
                  <a:pt x="5452294" y="3311739"/>
                  <a:pt x="5415203" y="3397020"/>
                </a:cubicBezTo>
                <a:cubicBezTo>
                  <a:pt x="5477972" y="3414787"/>
                  <a:pt x="5552153" y="3372147"/>
                  <a:pt x="5612068" y="3432554"/>
                </a:cubicBezTo>
                <a:cubicBezTo>
                  <a:pt x="5469413" y="3528494"/>
                  <a:pt x="5329610" y="3535601"/>
                  <a:pt x="5206927" y="3599562"/>
                </a:cubicBezTo>
                <a:cubicBezTo>
                  <a:pt x="5192661" y="3706163"/>
                  <a:pt x="5272548" y="3663523"/>
                  <a:pt x="5301079" y="3723930"/>
                </a:cubicBezTo>
                <a:cubicBezTo>
                  <a:pt x="5072830" y="3844745"/>
                  <a:pt x="4564977" y="4232062"/>
                  <a:pt x="4507915" y="4306683"/>
                </a:cubicBezTo>
                <a:cubicBezTo>
                  <a:pt x="4390937" y="4463031"/>
                  <a:pt x="3900202" y="4562525"/>
                  <a:pt x="3982942" y="4587399"/>
                </a:cubicBezTo>
                <a:cubicBezTo>
                  <a:pt x="4051417" y="4608719"/>
                  <a:pt x="4119891" y="4587399"/>
                  <a:pt x="4185513" y="4541205"/>
                </a:cubicBezTo>
                <a:cubicBezTo>
                  <a:pt x="4291078" y="4466584"/>
                  <a:pt x="5010062" y="4523438"/>
                  <a:pt x="5212633" y="4455924"/>
                </a:cubicBezTo>
                <a:cubicBezTo>
                  <a:pt x="5241164" y="4445264"/>
                  <a:pt x="5283960" y="4409730"/>
                  <a:pt x="5312492" y="4473691"/>
                </a:cubicBezTo>
                <a:cubicBezTo>
                  <a:pt x="5098508" y="4704659"/>
                  <a:pt x="4833169" y="4654913"/>
                  <a:pt x="4596361" y="4818368"/>
                </a:cubicBezTo>
                <a:cubicBezTo>
                  <a:pt x="4684807" y="4917861"/>
                  <a:pt x="4776107" y="4907202"/>
                  <a:pt x="4873113" y="4885882"/>
                </a:cubicBezTo>
                <a:cubicBezTo>
                  <a:pt x="4895938" y="4878775"/>
                  <a:pt x="4930175" y="4871668"/>
                  <a:pt x="4935881" y="4914309"/>
                </a:cubicBezTo>
                <a:cubicBezTo>
                  <a:pt x="4941587" y="4967609"/>
                  <a:pt x="4898790" y="4978270"/>
                  <a:pt x="4873113" y="5003143"/>
                </a:cubicBezTo>
                <a:cubicBezTo>
                  <a:pt x="4833169" y="5038676"/>
                  <a:pt x="4773254" y="4999590"/>
                  <a:pt x="4721898" y="5095530"/>
                </a:cubicBezTo>
                <a:cubicBezTo>
                  <a:pt x="4873113" y="5067104"/>
                  <a:pt x="4998650" y="5020910"/>
                  <a:pt x="5132745" y="4949842"/>
                </a:cubicBezTo>
                <a:cubicBezTo>
                  <a:pt x="5121333" y="5006696"/>
                  <a:pt x="5081390" y="5035123"/>
                  <a:pt x="5101362" y="5081317"/>
                </a:cubicBezTo>
                <a:cubicBezTo>
                  <a:pt x="5118480" y="5116850"/>
                  <a:pt x="5164130" y="5131063"/>
                  <a:pt x="5138452" y="5198578"/>
                </a:cubicBezTo>
                <a:cubicBezTo>
                  <a:pt x="5067125" y="5273199"/>
                  <a:pt x="4967265" y="5258986"/>
                  <a:pt x="4904497" y="5362033"/>
                </a:cubicBezTo>
                <a:cubicBezTo>
                  <a:pt x="4818903" y="5507721"/>
                  <a:pt x="4684807" y="5564575"/>
                  <a:pt x="4579242" y="5674729"/>
                </a:cubicBezTo>
                <a:cubicBezTo>
                  <a:pt x="4545005" y="5713816"/>
                  <a:pt x="4313903" y="5841738"/>
                  <a:pt x="4253988" y="5884379"/>
                </a:cubicBezTo>
                <a:cubicBezTo>
                  <a:pt x="4168395" y="5944786"/>
                  <a:pt x="4071389" y="5966106"/>
                  <a:pt x="3985795" y="6069153"/>
                </a:cubicBezTo>
                <a:cubicBezTo>
                  <a:pt x="4065682" y="6086921"/>
                  <a:pt x="4134157" y="5990979"/>
                  <a:pt x="4231163" y="6030066"/>
                </a:cubicBezTo>
                <a:cubicBezTo>
                  <a:pt x="4074242" y="6133114"/>
                  <a:pt x="3931586" y="6182861"/>
                  <a:pt x="3814609" y="6317889"/>
                </a:cubicBezTo>
                <a:cubicBezTo>
                  <a:pt x="3800343" y="6335656"/>
                  <a:pt x="3771812" y="6332102"/>
                  <a:pt x="3751840" y="6339209"/>
                </a:cubicBezTo>
                <a:cubicBezTo>
                  <a:pt x="3529298" y="6406723"/>
                  <a:pt x="3309608" y="6467130"/>
                  <a:pt x="3089919" y="6563071"/>
                </a:cubicBezTo>
                <a:cubicBezTo>
                  <a:pt x="3041416" y="6584392"/>
                  <a:pt x="2955823" y="6595052"/>
                  <a:pt x="2961529" y="6662566"/>
                </a:cubicBezTo>
                <a:cubicBezTo>
                  <a:pt x="2972941" y="6765613"/>
                  <a:pt x="3055681" y="6687439"/>
                  <a:pt x="3107038" y="6673226"/>
                </a:cubicBezTo>
                <a:cubicBezTo>
                  <a:pt x="3269664" y="6634138"/>
                  <a:pt x="3432292" y="6570178"/>
                  <a:pt x="3594919" y="6591499"/>
                </a:cubicBezTo>
                <a:cubicBezTo>
                  <a:pt x="3483648" y="6637693"/>
                  <a:pt x="3372376" y="6680332"/>
                  <a:pt x="3261106" y="6726527"/>
                </a:cubicBezTo>
                <a:cubicBezTo>
                  <a:pt x="3386642" y="6705206"/>
                  <a:pt x="3495061" y="6786934"/>
                  <a:pt x="3620597" y="6740740"/>
                </a:cubicBezTo>
                <a:cubicBezTo>
                  <a:pt x="3660541" y="6726527"/>
                  <a:pt x="3700484" y="6765613"/>
                  <a:pt x="3703337" y="6826020"/>
                </a:cubicBezTo>
                <a:cubicBezTo>
                  <a:pt x="3706191" y="6847340"/>
                  <a:pt x="3700484" y="6865108"/>
                  <a:pt x="3689072" y="6879321"/>
                </a:cubicBezTo>
                <a:lnTo>
                  <a:pt x="0" y="6879321"/>
                </a:lnTo>
                <a:close/>
              </a:path>
            </a:pathLst>
          </a:custGeom>
        </p:spPr>
      </p:pic>
      <p:sp>
        <p:nvSpPr>
          <p:cNvPr id="3" name="Content Placeholder 2">
            <a:extLst>
              <a:ext uri="{FF2B5EF4-FFF2-40B4-BE49-F238E27FC236}">
                <a16:creationId xmlns:a16="http://schemas.microsoft.com/office/drawing/2014/main" id="{461ECF50-5B5E-AA74-3424-8607211EB40B}"/>
              </a:ext>
            </a:extLst>
          </p:cNvPr>
          <p:cNvSpPr>
            <a:spLocks noGrp="1"/>
          </p:cNvSpPr>
          <p:nvPr>
            <p:ph idx="1"/>
          </p:nvPr>
        </p:nvSpPr>
        <p:spPr>
          <a:xfrm>
            <a:off x="6513788" y="2333297"/>
            <a:ext cx="4840010" cy="3843666"/>
          </a:xfrm>
        </p:spPr>
        <p:txBody>
          <a:bodyPr>
            <a:normAutofit/>
          </a:bodyPr>
          <a:lstStyle/>
          <a:p>
            <a:r>
              <a:rPr lang="en-CA" sz="2000" dirty="0"/>
              <a:t>Scan the current set of issues and make a simple work item describing what the team should work on next.</a:t>
            </a:r>
          </a:p>
          <a:p>
            <a:r>
              <a:rPr lang="en-CA" sz="2000" dirty="0"/>
              <a:t>Used by product owner and architect</a:t>
            </a:r>
          </a:p>
          <a:p>
            <a:r>
              <a:rPr lang="en-CA" sz="2000" dirty="0"/>
              <a:t>Uses [planning-agent]</a:t>
            </a:r>
          </a:p>
          <a:p>
            <a:r>
              <a:rPr lang="en-CA" sz="2000" dirty="0"/>
              <a:t>Ability to create work items on the board with thoughtful next steps</a:t>
            </a:r>
          </a:p>
          <a:p>
            <a:r>
              <a:rPr lang="en-CA" sz="2000" dirty="0"/>
              <a:t>It can look at comments, markdown file checklists and gaps in coverage to suggest what should be worked on next.</a:t>
            </a:r>
          </a:p>
        </p:txBody>
      </p:sp>
    </p:spTree>
    <p:extLst>
      <p:ext uri="{BB962C8B-B14F-4D97-AF65-F5344CB8AC3E}">
        <p14:creationId xmlns:p14="http://schemas.microsoft.com/office/powerpoint/2010/main" val="18606143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D373968-C949-980D-397A-605806324F4E}"/>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79BB35BC-D5C2-4C8B-A22A-A71E619191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E3D299C-2F3F-CD52-A5FC-C6099719A3D1}"/>
              </a:ext>
            </a:extLst>
          </p:cNvPr>
          <p:cNvSpPr>
            <a:spLocks noGrp="1"/>
          </p:cNvSpPr>
          <p:nvPr>
            <p:ph type="title"/>
          </p:nvPr>
        </p:nvSpPr>
        <p:spPr>
          <a:xfrm>
            <a:off x="6513788" y="365125"/>
            <a:ext cx="4840010" cy="1807305"/>
          </a:xfrm>
        </p:spPr>
        <p:txBody>
          <a:bodyPr>
            <a:normAutofit/>
          </a:bodyPr>
          <a:lstStyle/>
          <a:p>
            <a:r>
              <a:rPr lang="en-CA" sz="4100"/>
              <a:t>User Interface Design Workflow (future)</a:t>
            </a:r>
          </a:p>
        </p:txBody>
      </p:sp>
      <p:pic>
        <p:nvPicPr>
          <p:cNvPr id="5" name="Picture 4" descr="Person watching empty phone">
            <a:extLst>
              <a:ext uri="{FF2B5EF4-FFF2-40B4-BE49-F238E27FC236}">
                <a16:creationId xmlns:a16="http://schemas.microsoft.com/office/drawing/2014/main" id="{55E58B48-A448-B08E-0C01-7D6A20F7676E}"/>
              </a:ext>
            </a:extLst>
          </p:cNvPr>
          <p:cNvPicPr>
            <a:picLocks noChangeAspect="1"/>
          </p:cNvPicPr>
          <p:nvPr/>
        </p:nvPicPr>
        <p:blipFill>
          <a:blip r:embed="rId2"/>
          <a:srcRect l="35813" r="4653" b="-1"/>
          <a:stretch>
            <a:fillRect/>
          </a:stretch>
        </p:blipFill>
        <p:spPr>
          <a:xfrm>
            <a:off x="20" y="10"/>
            <a:ext cx="6116549" cy="6857990"/>
          </a:xfrm>
          <a:custGeom>
            <a:avLst/>
            <a:gdLst/>
            <a:ahLst/>
            <a:cxnLst/>
            <a:rect l="l" t="t" r="r" b="b"/>
            <a:pathLst>
              <a:path w="6116569" h="6879321">
                <a:moveTo>
                  <a:pt x="0" y="0"/>
                </a:moveTo>
                <a:lnTo>
                  <a:pt x="2935851" y="0"/>
                </a:lnTo>
                <a:cubicBezTo>
                  <a:pt x="3035710" y="10660"/>
                  <a:pt x="3138421" y="17767"/>
                  <a:pt x="3238280" y="31980"/>
                </a:cubicBezTo>
                <a:cubicBezTo>
                  <a:pt x="3817462" y="106602"/>
                  <a:pt x="3127009" y="277163"/>
                  <a:pt x="3660541" y="550772"/>
                </a:cubicBezTo>
                <a:cubicBezTo>
                  <a:pt x="3706191" y="575645"/>
                  <a:pt x="3757546" y="579199"/>
                  <a:pt x="3808902" y="589860"/>
                </a:cubicBezTo>
                <a:cubicBezTo>
                  <a:pt x="4008620" y="625393"/>
                  <a:pt x="4211192" y="618286"/>
                  <a:pt x="4413762" y="625393"/>
                </a:cubicBezTo>
                <a:cubicBezTo>
                  <a:pt x="4465118" y="628946"/>
                  <a:pt x="4525033" y="625393"/>
                  <a:pt x="4567830" y="721333"/>
                </a:cubicBezTo>
                <a:cubicBezTo>
                  <a:pt x="4425175" y="724888"/>
                  <a:pt x="4305344" y="731994"/>
                  <a:pt x="4171247" y="792401"/>
                </a:cubicBezTo>
                <a:cubicBezTo>
                  <a:pt x="4239722" y="859916"/>
                  <a:pt x="4322462" y="795955"/>
                  <a:pt x="4376671" y="842148"/>
                </a:cubicBezTo>
                <a:cubicBezTo>
                  <a:pt x="4428027" y="888342"/>
                  <a:pt x="4470824" y="891896"/>
                  <a:pt x="4527887" y="813722"/>
                </a:cubicBezTo>
                <a:cubicBezTo>
                  <a:pt x="4556417" y="774634"/>
                  <a:pt x="4604920" y="778187"/>
                  <a:pt x="4633452" y="799508"/>
                </a:cubicBezTo>
                <a:cubicBezTo>
                  <a:pt x="4781813" y="913216"/>
                  <a:pt x="4778960" y="909662"/>
                  <a:pt x="4947293" y="870576"/>
                </a:cubicBezTo>
                <a:cubicBezTo>
                  <a:pt x="5055712" y="845701"/>
                  <a:pt x="5166983" y="806615"/>
                  <a:pt x="5263988" y="820828"/>
                </a:cubicBezTo>
                <a:cubicBezTo>
                  <a:pt x="5275401" y="867022"/>
                  <a:pt x="5263988" y="888342"/>
                  <a:pt x="5249723" y="895449"/>
                </a:cubicBezTo>
                <a:cubicBezTo>
                  <a:pt x="5021475" y="1005604"/>
                  <a:pt x="4975825" y="1122864"/>
                  <a:pt x="4744723" y="1197485"/>
                </a:cubicBezTo>
                <a:cubicBezTo>
                  <a:pt x="4724751" y="1268552"/>
                  <a:pt x="4807491" y="1275660"/>
                  <a:pt x="4767548" y="1346727"/>
                </a:cubicBezTo>
                <a:cubicBezTo>
                  <a:pt x="4693367" y="1407134"/>
                  <a:pt x="4610627" y="1346727"/>
                  <a:pt x="4539299" y="1421348"/>
                </a:cubicBezTo>
                <a:cubicBezTo>
                  <a:pt x="4550712" y="1471094"/>
                  <a:pt x="4610627" y="1432008"/>
                  <a:pt x="4607773" y="1485309"/>
                </a:cubicBezTo>
                <a:cubicBezTo>
                  <a:pt x="4604920" y="1517288"/>
                  <a:pt x="4593508" y="1527948"/>
                  <a:pt x="4579242" y="1535055"/>
                </a:cubicBezTo>
                <a:cubicBezTo>
                  <a:pt x="4776107" y="1538608"/>
                  <a:pt x="5383820" y="1574142"/>
                  <a:pt x="5278255" y="1609676"/>
                </a:cubicBezTo>
                <a:cubicBezTo>
                  <a:pt x="5418057" y="1698511"/>
                  <a:pt x="5623481" y="1609676"/>
                  <a:pt x="5771843" y="1630997"/>
                </a:cubicBezTo>
                <a:cubicBezTo>
                  <a:pt x="5925911" y="1652316"/>
                  <a:pt x="6171278" y="1719830"/>
                  <a:pt x="6105656" y="1748257"/>
                </a:cubicBezTo>
                <a:cubicBezTo>
                  <a:pt x="6031475" y="1780238"/>
                  <a:pt x="5766136" y="2146235"/>
                  <a:pt x="5691955" y="2167555"/>
                </a:cubicBezTo>
                <a:cubicBezTo>
                  <a:pt x="5606362" y="2188875"/>
                  <a:pt x="5589243" y="2217302"/>
                  <a:pt x="5475118" y="2348776"/>
                </a:cubicBezTo>
                <a:cubicBezTo>
                  <a:pt x="5398085" y="2437610"/>
                  <a:pt x="5709074" y="2238623"/>
                  <a:pt x="5826051" y="2291922"/>
                </a:cubicBezTo>
                <a:cubicBezTo>
                  <a:pt x="5868848" y="2309690"/>
                  <a:pt x="5552153" y="2554872"/>
                  <a:pt x="5552153" y="2597513"/>
                </a:cubicBezTo>
                <a:cubicBezTo>
                  <a:pt x="5549300" y="2640153"/>
                  <a:pt x="5577831" y="2647260"/>
                  <a:pt x="5603508" y="2647260"/>
                </a:cubicBezTo>
                <a:cubicBezTo>
                  <a:pt x="5660571" y="2647260"/>
                  <a:pt x="5640599" y="2686346"/>
                  <a:pt x="5700515" y="2679240"/>
                </a:cubicBezTo>
                <a:cubicBezTo>
                  <a:pt x="5523622" y="2800055"/>
                  <a:pt x="5418057" y="2778734"/>
                  <a:pt x="5246870" y="2888889"/>
                </a:cubicBezTo>
                <a:cubicBezTo>
                  <a:pt x="5164130" y="2942189"/>
                  <a:pt x="4921615" y="3119857"/>
                  <a:pt x="4836022" y="3169605"/>
                </a:cubicBezTo>
                <a:cubicBezTo>
                  <a:pt x="4801785" y="3187371"/>
                  <a:pt x="4758988" y="3173158"/>
                  <a:pt x="4736163" y="3233565"/>
                </a:cubicBezTo>
                <a:cubicBezTo>
                  <a:pt x="4770400" y="3279759"/>
                  <a:pt x="4816050" y="3254885"/>
                  <a:pt x="4853141" y="3233565"/>
                </a:cubicBezTo>
                <a:cubicBezTo>
                  <a:pt x="4944440" y="3176711"/>
                  <a:pt x="4935881" y="3190925"/>
                  <a:pt x="4944440" y="3226459"/>
                </a:cubicBezTo>
                <a:cubicBezTo>
                  <a:pt x="4972972" y="3350827"/>
                  <a:pt x="5044300" y="3308186"/>
                  <a:pt x="5109921" y="3283313"/>
                </a:cubicBezTo>
                <a:cubicBezTo>
                  <a:pt x="5303932" y="3208692"/>
                  <a:pt x="5500797" y="3215799"/>
                  <a:pt x="5694809" y="3141178"/>
                </a:cubicBezTo>
                <a:cubicBezTo>
                  <a:pt x="5714781" y="3134070"/>
                  <a:pt x="5612068" y="3283313"/>
                  <a:pt x="5566419" y="3301079"/>
                </a:cubicBezTo>
                <a:cubicBezTo>
                  <a:pt x="5515063" y="3322399"/>
                  <a:pt x="5452294" y="3311739"/>
                  <a:pt x="5415203" y="3397020"/>
                </a:cubicBezTo>
                <a:cubicBezTo>
                  <a:pt x="5477972" y="3414787"/>
                  <a:pt x="5552153" y="3372147"/>
                  <a:pt x="5612068" y="3432554"/>
                </a:cubicBezTo>
                <a:cubicBezTo>
                  <a:pt x="5469413" y="3528494"/>
                  <a:pt x="5329610" y="3535601"/>
                  <a:pt x="5206927" y="3599562"/>
                </a:cubicBezTo>
                <a:cubicBezTo>
                  <a:pt x="5192661" y="3706163"/>
                  <a:pt x="5272548" y="3663523"/>
                  <a:pt x="5301079" y="3723930"/>
                </a:cubicBezTo>
                <a:cubicBezTo>
                  <a:pt x="5072830" y="3844745"/>
                  <a:pt x="4564977" y="4232062"/>
                  <a:pt x="4507915" y="4306683"/>
                </a:cubicBezTo>
                <a:cubicBezTo>
                  <a:pt x="4390937" y="4463031"/>
                  <a:pt x="3900202" y="4562525"/>
                  <a:pt x="3982942" y="4587399"/>
                </a:cubicBezTo>
                <a:cubicBezTo>
                  <a:pt x="4051417" y="4608719"/>
                  <a:pt x="4119891" y="4587399"/>
                  <a:pt x="4185513" y="4541205"/>
                </a:cubicBezTo>
                <a:cubicBezTo>
                  <a:pt x="4291078" y="4466584"/>
                  <a:pt x="5010062" y="4523438"/>
                  <a:pt x="5212633" y="4455924"/>
                </a:cubicBezTo>
                <a:cubicBezTo>
                  <a:pt x="5241164" y="4445264"/>
                  <a:pt x="5283960" y="4409730"/>
                  <a:pt x="5312492" y="4473691"/>
                </a:cubicBezTo>
                <a:cubicBezTo>
                  <a:pt x="5098508" y="4704659"/>
                  <a:pt x="4833169" y="4654913"/>
                  <a:pt x="4596361" y="4818368"/>
                </a:cubicBezTo>
                <a:cubicBezTo>
                  <a:pt x="4684807" y="4917861"/>
                  <a:pt x="4776107" y="4907202"/>
                  <a:pt x="4873113" y="4885882"/>
                </a:cubicBezTo>
                <a:cubicBezTo>
                  <a:pt x="4895938" y="4878775"/>
                  <a:pt x="4930175" y="4871668"/>
                  <a:pt x="4935881" y="4914309"/>
                </a:cubicBezTo>
                <a:cubicBezTo>
                  <a:pt x="4941587" y="4967609"/>
                  <a:pt x="4898790" y="4978270"/>
                  <a:pt x="4873113" y="5003143"/>
                </a:cubicBezTo>
                <a:cubicBezTo>
                  <a:pt x="4833169" y="5038676"/>
                  <a:pt x="4773254" y="4999590"/>
                  <a:pt x="4721898" y="5095530"/>
                </a:cubicBezTo>
                <a:cubicBezTo>
                  <a:pt x="4873113" y="5067104"/>
                  <a:pt x="4998650" y="5020910"/>
                  <a:pt x="5132745" y="4949842"/>
                </a:cubicBezTo>
                <a:cubicBezTo>
                  <a:pt x="5121333" y="5006696"/>
                  <a:pt x="5081390" y="5035123"/>
                  <a:pt x="5101362" y="5081317"/>
                </a:cubicBezTo>
                <a:cubicBezTo>
                  <a:pt x="5118480" y="5116850"/>
                  <a:pt x="5164130" y="5131063"/>
                  <a:pt x="5138452" y="5198578"/>
                </a:cubicBezTo>
                <a:cubicBezTo>
                  <a:pt x="5067125" y="5273199"/>
                  <a:pt x="4967265" y="5258986"/>
                  <a:pt x="4904497" y="5362033"/>
                </a:cubicBezTo>
                <a:cubicBezTo>
                  <a:pt x="4818903" y="5507721"/>
                  <a:pt x="4684807" y="5564575"/>
                  <a:pt x="4579242" y="5674729"/>
                </a:cubicBezTo>
                <a:cubicBezTo>
                  <a:pt x="4545005" y="5713816"/>
                  <a:pt x="4313903" y="5841738"/>
                  <a:pt x="4253988" y="5884379"/>
                </a:cubicBezTo>
                <a:cubicBezTo>
                  <a:pt x="4168395" y="5944786"/>
                  <a:pt x="4071389" y="5966106"/>
                  <a:pt x="3985795" y="6069153"/>
                </a:cubicBezTo>
                <a:cubicBezTo>
                  <a:pt x="4065682" y="6086921"/>
                  <a:pt x="4134157" y="5990979"/>
                  <a:pt x="4231163" y="6030066"/>
                </a:cubicBezTo>
                <a:cubicBezTo>
                  <a:pt x="4074242" y="6133114"/>
                  <a:pt x="3931586" y="6182861"/>
                  <a:pt x="3814609" y="6317889"/>
                </a:cubicBezTo>
                <a:cubicBezTo>
                  <a:pt x="3800343" y="6335656"/>
                  <a:pt x="3771812" y="6332102"/>
                  <a:pt x="3751840" y="6339209"/>
                </a:cubicBezTo>
                <a:cubicBezTo>
                  <a:pt x="3529298" y="6406723"/>
                  <a:pt x="3309608" y="6467130"/>
                  <a:pt x="3089919" y="6563071"/>
                </a:cubicBezTo>
                <a:cubicBezTo>
                  <a:pt x="3041416" y="6584392"/>
                  <a:pt x="2955823" y="6595052"/>
                  <a:pt x="2961529" y="6662566"/>
                </a:cubicBezTo>
                <a:cubicBezTo>
                  <a:pt x="2972941" y="6765613"/>
                  <a:pt x="3055681" y="6687439"/>
                  <a:pt x="3107038" y="6673226"/>
                </a:cubicBezTo>
                <a:cubicBezTo>
                  <a:pt x="3269664" y="6634138"/>
                  <a:pt x="3432292" y="6570178"/>
                  <a:pt x="3594919" y="6591499"/>
                </a:cubicBezTo>
                <a:cubicBezTo>
                  <a:pt x="3483648" y="6637693"/>
                  <a:pt x="3372376" y="6680332"/>
                  <a:pt x="3261106" y="6726527"/>
                </a:cubicBezTo>
                <a:cubicBezTo>
                  <a:pt x="3386642" y="6705206"/>
                  <a:pt x="3495061" y="6786934"/>
                  <a:pt x="3620597" y="6740740"/>
                </a:cubicBezTo>
                <a:cubicBezTo>
                  <a:pt x="3660541" y="6726527"/>
                  <a:pt x="3700484" y="6765613"/>
                  <a:pt x="3703337" y="6826020"/>
                </a:cubicBezTo>
                <a:cubicBezTo>
                  <a:pt x="3706191" y="6847340"/>
                  <a:pt x="3700484" y="6865108"/>
                  <a:pt x="3689072" y="6879321"/>
                </a:cubicBezTo>
                <a:lnTo>
                  <a:pt x="0" y="6879321"/>
                </a:lnTo>
                <a:close/>
              </a:path>
            </a:pathLst>
          </a:custGeom>
        </p:spPr>
      </p:pic>
      <p:sp>
        <p:nvSpPr>
          <p:cNvPr id="3" name="Content Placeholder 2">
            <a:extLst>
              <a:ext uri="{FF2B5EF4-FFF2-40B4-BE49-F238E27FC236}">
                <a16:creationId xmlns:a16="http://schemas.microsoft.com/office/drawing/2014/main" id="{06D24490-AABA-377C-DC78-C01B074389F0}"/>
              </a:ext>
            </a:extLst>
          </p:cNvPr>
          <p:cNvSpPr>
            <a:spLocks noGrp="1"/>
          </p:cNvSpPr>
          <p:nvPr>
            <p:ph idx="1"/>
          </p:nvPr>
        </p:nvSpPr>
        <p:spPr>
          <a:xfrm>
            <a:off x="6513788" y="2333297"/>
            <a:ext cx="4840010" cy="3843666"/>
          </a:xfrm>
        </p:spPr>
        <p:txBody>
          <a:bodyPr>
            <a:normAutofit/>
          </a:bodyPr>
          <a:lstStyle/>
          <a:p>
            <a:r>
              <a:rPr lang="en-CA" sz="2000"/>
              <a:t>Describe the interface that needs to be built</a:t>
            </a:r>
          </a:p>
          <a:p>
            <a:r>
              <a:rPr lang="en-CA" sz="2000"/>
              <a:t>Generate potential UI options using archetypes defined for the current project (Material Design, MudBlazor, Tailwind)</a:t>
            </a:r>
          </a:p>
          <a:p>
            <a:r>
              <a:rPr lang="en-CA" sz="2000"/>
              <a:t>Present and Refine</a:t>
            </a:r>
          </a:p>
          <a:p>
            <a:r>
              <a:rPr lang="en-CA" sz="2000"/>
              <a:t>Attach to new work item for implementation</a:t>
            </a:r>
          </a:p>
        </p:txBody>
      </p:sp>
    </p:spTree>
    <p:extLst>
      <p:ext uri="{BB962C8B-B14F-4D97-AF65-F5344CB8AC3E}">
        <p14:creationId xmlns:p14="http://schemas.microsoft.com/office/powerpoint/2010/main" val="116168730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7284ACD-E54D-A8E4-CF10-2766C5E01ACE}"/>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79BB35BC-D5C2-4C8B-A22A-A71E619191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CD8BF96-B23C-A643-4463-8879C3BE8894}"/>
              </a:ext>
            </a:extLst>
          </p:cNvPr>
          <p:cNvSpPr>
            <a:spLocks noGrp="1"/>
          </p:cNvSpPr>
          <p:nvPr>
            <p:ph type="title"/>
          </p:nvPr>
        </p:nvSpPr>
        <p:spPr>
          <a:xfrm>
            <a:off x="6513788" y="365125"/>
            <a:ext cx="4840010" cy="1807305"/>
          </a:xfrm>
        </p:spPr>
        <p:txBody>
          <a:bodyPr>
            <a:normAutofit/>
          </a:bodyPr>
          <a:lstStyle/>
          <a:p>
            <a:r>
              <a:rPr lang="en-CA" dirty="0"/>
              <a:t>Solution Design and Analysis Workflow</a:t>
            </a:r>
          </a:p>
        </p:txBody>
      </p:sp>
      <p:pic>
        <p:nvPicPr>
          <p:cNvPr id="5" name="Picture 4" descr="Magnifying glass showing decling performance">
            <a:extLst>
              <a:ext uri="{FF2B5EF4-FFF2-40B4-BE49-F238E27FC236}">
                <a16:creationId xmlns:a16="http://schemas.microsoft.com/office/drawing/2014/main" id="{604B843F-F009-C9C7-5B71-CCF39F78CDF1}"/>
              </a:ext>
            </a:extLst>
          </p:cNvPr>
          <p:cNvPicPr>
            <a:picLocks noChangeAspect="1"/>
          </p:cNvPicPr>
          <p:nvPr/>
        </p:nvPicPr>
        <p:blipFill>
          <a:blip r:embed="rId2"/>
          <a:srcRect l="13673" r="26793" b="-1"/>
          <a:stretch>
            <a:fillRect/>
          </a:stretch>
        </p:blipFill>
        <p:spPr>
          <a:xfrm>
            <a:off x="20" y="10"/>
            <a:ext cx="6116549" cy="6857990"/>
          </a:xfrm>
          <a:custGeom>
            <a:avLst/>
            <a:gdLst/>
            <a:ahLst/>
            <a:cxnLst/>
            <a:rect l="l" t="t" r="r" b="b"/>
            <a:pathLst>
              <a:path w="6116569" h="6879321">
                <a:moveTo>
                  <a:pt x="0" y="0"/>
                </a:moveTo>
                <a:lnTo>
                  <a:pt x="2935851" y="0"/>
                </a:lnTo>
                <a:cubicBezTo>
                  <a:pt x="3035710" y="10660"/>
                  <a:pt x="3138421" y="17767"/>
                  <a:pt x="3238280" y="31980"/>
                </a:cubicBezTo>
                <a:cubicBezTo>
                  <a:pt x="3817462" y="106602"/>
                  <a:pt x="3127009" y="277163"/>
                  <a:pt x="3660541" y="550772"/>
                </a:cubicBezTo>
                <a:cubicBezTo>
                  <a:pt x="3706191" y="575645"/>
                  <a:pt x="3757546" y="579199"/>
                  <a:pt x="3808902" y="589860"/>
                </a:cubicBezTo>
                <a:cubicBezTo>
                  <a:pt x="4008620" y="625393"/>
                  <a:pt x="4211192" y="618286"/>
                  <a:pt x="4413762" y="625393"/>
                </a:cubicBezTo>
                <a:cubicBezTo>
                  <a:pt x="4465118" y="628946"/>
                  <a:pt x="4525033" y="625393"/>
                  <a:pt x="4567830" y="721333"/>
                </a:cubicBezTo>
                <a:cubicBezTo>
                  <a:pt x="4425175" y="724888"/>
                  <a:pt x="4305344" y="731994"/>
                  <a:pt x="4171247" y="792401"/>
                </a:cubicBezTo>
                <a:cubicBezTo>
                  <a:pt x="4239722" y="859916"/>
                  <a:pt x="4322462" y="795955"/>
                  <a:pt x="4376671" y="842148"/>
                </a:cubicBezTo>
                <a:cubicBezTo>
                  <a:pt x="4428027" y="888342"/>
                  <a:pt x="4470824" y="891896"/>
                  <a:pt x="4527887" y="813722"/>
                </a:cubicBezTo>
                <a:cubicBezTo>
                  <a:pt x="4556417" y="774634"/>
                  <a:pt x="4604920" y="778187"/>
                  <a:pt x="4633452" y="799508"/>
                </a:cubicBezTo>
                <a:cubicBezTo>
                  <a:pt x="4781813" y="913216"/>
                  <a:pt x="4778960" y="909662"/>
                  <a:pt x="4947293" y="870576"/>
                </a:cubicBezTo>
                <a:cubicBezTo>
                  <a:pt x="5055712" y="845701"/>
                  <a:pt x="5166983" y="806615"/>
                  <a:pt x="5263988" y="820828"/>
                </a:cubicBezTo>
                <a:cubicBezTo>
                  <a:pt x="5275401" y="867022"/>
                  <a:pt x="5263988" y="888342"/>
                  <a:pt x="5249723" y="895449"/>
                </a:cubicBezTo>
                <a:cubicBezTo>
                  <a:pt x="5021475" y="1005604"/>
                  <a:pt x="4975825" y="1122864"/>
                  <a:pt x="4744723" y="1197485"/>
                </a:cubicBezTo>
                <a:cubicBezTo>
                  <a:pt x="4724751" y="1268552"/>
                  <a:pt x="4807491" y="1275660"/>
                  <a:pt x="4767548" y="1346727"/>
                </a:cubicBezTo>
                <a:cubicBezTo>
                  <a:pt x="4693367" y="1407134"/>
                  <a:pt x="4610627" y="1346727"/>
                  <a:pt x="4539299" y="1421348"/>
                </a:cubicBezTo>
                <a:cubicBezTo>
                  <a:pt x="4550712" y="1471094"/>
                  <a:pt x="4610627" y="1432008"/>
                  <a:pt x="4607773" y="1485309"/>
                </a:cubicBezTo>
                <a:cubicBezTo>
                  <a:pt x="4604920" y="1517288"/>
                  <a:pt x="4593508" y="1527948"/>
                  <a:pt x="4579242" y="1535055"/>
                </a:cubicBezTo>
                <a:cubicBezTo>
                  <a:pt x="4776107" y="1538608"/>
                  <a:pt x="5383820" y="1574142"/>
                  <a:pt x="5278255" y="1609676"/>
                </a:cubicBezTo>
                <a:cubicBezTo>
                  <a:pt x="5418057" y="1698511"/>
                  <a:pt x="5623481" y="1609676"/>
                  <a:pt x="5771843" y="1630997"/>
                </a:cubicBezTo>
                <a:cubicBezTo>
                  <a:pt x="5925911" y="1652316"/>
                  <a:pt x="6171278" y="1719830"/>
                  <a:pt x="6105656" y="1748257"/>
                </a:cubicBezTo>
                <a:cubicBezTo>
                  <a:pt x="6031475" y="1780238"/>
                  <a:pt x="5766136" y="2146235"/>
                  <a:pt x="5691955" y="2167555"/>
                </a:cubicBezTo>
                <a:cubicBezTo>
                  <a:pt x="5606362" y="2188875"/>
                  <a:pt x="5589243" y="2217302"/>
                  <a:pt x="5475118" y="2348776"/>
                </a:cubicBezTo>
                <a:cubicBezTo>
                  <a:pt x="5398085" y="2437610"/>
                  <a:pt x="5709074" y="2238623"/>
                  <a:pt x="5826051" y="2291922"/>
                </a:cubicBezTo>
                <a:cubicBezTo>
                  <a:pt x="5868848" y="2309690"/>
                  <a:pt x="5552153" y="2554872"/>
                  <a:pt x="5552153" y="2597513"/>
                </a:cubicBezTo>
                <a:cubicBezTo>
                  <a:pt x="5549300" y="2640153"/>
                  <a:pt x="5577831" y="2647260"/>
                  <a:pt x="5603508" y="2647260"/>
                </a:cubicBezTo>
                <a:cubicBezTo>
                  <a:pt x="5660571" y="2647260"/>
                  <a:pt x="5640599" y="2686346"/>
                  <a:pt x="5700515" y="2679240"/>
                </a:cubicBezTo>
                <a:cubicBezTo>
                  <a:pt x="5523622" y="2800055"/>
                  <a:pt x="5418057" y="2778734"/>
                  <a:pt x="5246870" y="2888889"/>
                </a:cubicBezTo>
                <a:cubicBezTo>
                  <a:pt x="5164130" y="2942189"/>
                  <a:pt x="4921615" y="3119857"/>
                  <a:pt x="4836022" y="3169605"/>
                </a:cubicBezTo>
                <a:cubicBezTo>
                  <a:pt x="4801785" y="3187371"/>
                  <a:pt x="4758988" y="3173158"/>
                  <a:pt x="4736163" y="3233565"/>
                </a:cubicBezTo>
                <a:cubicBezTo>
                  <a:pt x="4770400" y="3279759"/>
                  <a:pt x="4816050" y="3254885"/>
                  <a:pt x="4853141" y="3233565"/>
                </a:cubicBezTo>
                <a:cubicBezTo>
                  <a:pt x="4944440" y="3176711"/>
                  <a:pt x="4935881" y="3190925"/>
                  <a:pt x="4944440" y="3226459"/>
                </a:cubicBezTo>
                <a:cubicBezTo>
                  <a:pt x="4972972" y="3350827"/>
                  <a:pt x="5044300" y="3308186"/>
                  <a:pt x="5109921" y="3283313"/>
                </a:cubicBezTo>
                <a:cubicBezTo>
                  <a:pt x="5303932" y="3208692"/>
                  <a:pt x="5500797" y="3215799"/>
                  <a:pt x="5694809" y="3141178"/>
                </a:cubicBezTo>
                <a:cubicBezTo>
                  <a:pt x="5714781" y="3134070"/>
                  <a:pt x="5612068" y="3283313"/>
                  <a:pt x="5566419" y="3301079"/>
                </a:cubicBezTo>
                <a:cubicBezTo>
                  <a:pt x="5515063" y="3322399"/>
                  <a:pt x="5452294" y="3311739"/>
                  <a:pt x="5415203" y="3397020"/>
                </a:cubicBezTo>
                <a:cubicBezTo>
                  <a:pt x="5477972" y="3414787"/>
                  <a:pt x="5552153" y="3372147"/>
                  <a:pt x="5612068" y="3432554"/>
                </a:cubicBezTo>
                <a:cubicBezTo>
                  <a:pt x="5469413" y="3528494"/>
                  <a:pt x="5329610" y="3535601"/>
                  <a:pt x="5206927" y="3599562"/>
                </a:cubicBezTo>
                <a:cubicBezTo>
                  <a:pt x="5192661" y="3706163"/>
                  <a:pt x="5272548" y="3663523"/>
                  <a:pt x="5301079" y="3723930"/>
                </a:cubicBezTo>
                <a:cubicBezTo>
                  <a:pt x="5072830" y="3844745"/>
                  <a:pt x="4564977" y="4232062"/>
                  <a:pt x="4507915" y="4306683"/>
                </a:cubicBezTo>
                <a:cubicBezTo>
                  <a:pt x="4390937" y="4463031"/>
                  <a:pt x="3900202" y="4562525"/>
                  <a:pt x="3982942" y="4587399"/>
                </a:cubicBezTo>
                <a:cubicBezTo>
                  <a:pt x="4051417" y="4608719"/>
                  <a:pt x="4119891" y="4587399"/>
                  <a:pt x="4185513" y="4541205"/>
                </a:cubicBezTo>
                <a:cubicBezTo>
                  <a:pt x="4291078" y="4466584"/>
                  <a:pt x="5010062" y="4523438"/>
                  <a:pt x="5212633" y="4455924"/>
                </a:cubicBezTo>
                <a:cubicBezTo>
                  <a:pt x="5241164" y="4445264"/>
                  <a:pt x="5283960" y="4409730"/>
                  <a:pt x="5312492" y="4473691"/>
                </a:cubicBezTo>
                <a:cubicBezTo>
                  <a:pt x="5098508" y="4704659"/>
                  <a:pt x="4833169" y="4654913"/>
                  <a:pt x="4596361" y="4818368"/>
                </a:cubicBezTo>
                <a:cubicBezTo>
                  <a:pt x="4684807" y="4917861"/>
                  <a:pt x="4776107" y="4907202"/>
                  <a:pt x="4873113" y="4885882"/>
                </a:cubicBezTo>
                <a:cubicBezTo>
                  <a:pt x="4895938" y="4878775"/>
                  <a:pt x="4930175" y="4871668"/>
                  <a:pt x="4935881" y="4914309"/>
                </a:cubicBezTo>
                <a:cubicBezTo>
                  <a:pt x="4941587" y="4967609"/>
                  <a:pt x="4898790" y="4978270"/>
                  <a:pt x="4873113" y="5003143"/>
                </a:cubicBezTo>
                <a:cubicBezTo>
                  <a:pt x="4833169" y="5038676"/>
                  <a:pt x="4773254" y="4999590"/>
                  <a:pt x="4721898" y="5095530"/>
                </a:cubicBezTo>
                <a:cubicBezTo>
                  <a:pt x="4873113" y="5067104"/>
                  <a:pt x="4998650" y="5020910"/>
                  <a:pt x="5132745" y="4949842"/>
                </a:cubicBezTo>
                <a:cubicBezTo>
                  <a:pt x="5121333" y="5006696"/>
                  <a:pt x="5081390" y="5035123"/>
                  <a:pt x="5101362" y="5081317"/>
                </a:cubicBezTo>
                <a:cubicBezTo>
                  <a:pt x="5118480" y="5116850"/>
                  <a:pt x="5164130" y="5131063"/>
                  <a:pt x="5138452" y="5198578"/>
                </a:cubicBezTo>
                <a:cubicBezTo>
                  <a:pt x="5067125" y="5273199"/>
                  <a:pt x="4967265" y="5258986"/>
                  <a:pt x="4904497" y="5362033"/>
                </a:cubicBezTo>
                <a:cubicBezTo>
                  <a:pt x="4818903" y="5507721"/>
                  <a:pt x="4684807" y="5564575"/>
                  <a:pt x="4579242" y="5674729"/>
                </a:cubicBezTo>
                <a:cubicBezTo>
                  <a:pt x="4545005" y="5713816"/>
                  <a:pt x="4313903" y="5841738"/>
                  <a:pt x="4253988" y="5884379"/>
                </a:cubicBezTo>
                <a:cubicBezTo>
                  <a:pt x="4168395" y="5944786"/>
                  <a:pt x="4071389" y="5966106"/>
                  <a:pt x="3985795" y="6069153"/>
                </a:cubicBezTo>
                <a:cubicBezTo>
                  <a:pt x="4065682" y="6086921"/>
                  <a:pt x="4134157" y="5990979"/>
                  <a:pt x="4231163" y="6030066"/>
                </a:cubicBezTo>
                <a:cubicBezTo>
                  <a:pt x="4074242" y="6133114"/>
                  <a:pt x="3931586" y="6182861"/>
                  <a:pt x="3814609" y="6317889"/>
                </a:cubicBezTo>
                <a:cubicBezTo>
                  <a:pt x="3800343" y="6335656"/>
                  <a:pt x="3771812" y="6332102"/>
                  <a:pt x="3751840" y="6339209"/>
                </a:cubicBezTo>
                <a:cubicBezTo>
                  <a:pt x="3529298" y="6406723"/>
                  <a:pt x="3309608" y="6467130"/>
                  <a:pt x="3089919" y="6563071"/>
                </a:cubicBezTo>
                <a:cubicBezTo>
                  <a:pt x="3041416" y="6584392"/>
                  <a:pt x="2955823" y="6595052"/>
                  <a:pt x="2961529" y="6662566"/>
                </a:cubicBezTo>
                <a:cubicBezTo>
                  <a:pt x="2972941" y="6765613"/>
                  <a:pt x="3055681" y="6687439"/>
                  <a:pt x="3107038" y="6673226"/>
                </a:cubicBezTo>
                <a:cubicBezTo>
                  <a:pt x="3269664" y="6634138"/>
                  <a:pt x="3432292" y="6570178"/>
                  <a:pt x="3594919" y="6591499"/>
                </a:cubicBezTo>
                <a:cubicBezTo>
                  <a:pt x="3483648" y="6637693"/>
                  <a:pt x="3372376" y="6680332"/>
                  <a:pt x="3261106" y="6726527"/>
                </a:cubicBezTo>
                <a:cubicBezTo>
                  <a:pt x="3386642" y="6705206"/>
                  <a:pt x="3495061" y="6786934"/>
                  <a:pt x="3620597" y="6740740"/>
                </a:cubicBezTo>
                <a:cubicBezTo>
                  <a:pt x="3660541" y="6726527"/>
                  <a:pt x="3700484" y="6765613"/>
                  <a:pt x="3703337" y="6826020"/>
                </a:cubicBezTo>
                <a:cubicBezTo>
                  <a:pt x="3706191" y="6847340"/>
                  <a:pt x="3700484" y="6865108"/>
                  <a:pt x="3689072" y="6879321"/>
                </a:cubicBezTo>
                <a:lnTo>
                  <a:pt x="0" y="6879321"/>
                </a:lnTo>
                <a:close/>
              </a:path>
            </a:pathLst>
          </a:custGeom>
        </p:spPr>
      </p:pic>
      <p:sp>
        <p:nvSpPr>
          <p:cNvPr id="3" name="Content Placeholder 2">
            <a:extLst>
              <a:ext uri="{FF2B5EF4-FFF2-40B4-BE49-F238E27FC236}">
                <a16:creationId xmlns:a16="http://schemas.microsoft.com/office/drawing/2014/main" id="{DA0A936B-71F2-0D84-834C-7027E361EED6}"/>
              </a:ext>
            </a:extLst>
          </p:cNvPr>
          <p:cNvSpPr>
            <a:spLocks noGrp="1"/>
          </p:cNvSpPr>
          <p:nvPr>
            <p:ph idx="1"/>
          </p:nvPr>
        </p:nvSpPr>
        <p:spPr>
          <a:xfrm>
            <a:off x="6513788" y="2333297"/>
            <a:ext cx="4840010" cy="3843666"/>
          </a:xfrm>
        </p:spPr>
        <p:txBody>
          <a:bodyPr>
            <a:normAutofit lnSpcReduction="10000"/>
          </a:bodyPr>
          <a:lstStyle/>
          <a:p>
            <a:r>
              <a:rPr lang="en-CA" sz="1600" dirty="0"/>
              <a:t>Deep analysis looking through archetypes, current repository, and similar problem statements</a:t>
            </a:r>
          </a:p>
          <a:p>
            <a:r>
              <a:rPr lang="en-CA" sz="1600" dirty="0"/>
              <a:t>Presents back 2-3 options with detailed approach, code samples, and documentation in markdown format</a:t>
            </a:r>
          </a:p>
          <a:p>
            <a:r>
              <a:rPr lang="en-CA" sz="1600" dirty="0"/>
              <a:t>Score the options and make a recommendation</a:t>
            </a:r>
          </a:p>
          <a:p>
            <a:r>
              <a:rPr lang="en-CA" sz="1600" dirty="0"/>
              <a:t>Also provide insight as to whether this should be done now or can wait until later</a:t>
            </a:r>
          </a:p>
          <a:p>
            <a:r>
              <a:rPr lang="en-CA" sz="1600" dirty="0"/>
              <a:t>Examples: </a:t>
            </a:r>
          </a:p>
          <a:p>
            <a:pPr lvl="1"/>
            <a:r>
              <a:rPr lang="en-CA" sz="1600" dirty="0"/>
              <a:t>Should we refactor the app to use a shared caching model?</a:t>
            </a:r>
          </a:p>
          <a:p>
            <a:pPr lvl="1"/>
            <a:r>
              <a:rPr lang="en-CA" sz="1600" dirty="0"/>
              <a:t>Should we implement the </a:t>
            </a:r>
            <a:r>
              <a:rPr lang="en-CA" sz="1600" dirty="0" err="1"/>
              <a:t>bUnit</a:t>
            </a:r>
            <a:r>
              <a:rPr lang="en-CA" sz="1600" dirty="0"/>
              <a:t> testing framework?</a:t>
            </a:r>
          </a:p>
          <a:p>
            <a:pPr lvl="1"/>
            <a:r>
              <a:rPr lang="en-CA" sz="1600" dirty="0"/>
              <a:t>Should we refactor the frontend to use React instead of Blazor?</a:t>
            </a:r>
          </a:p>
          <a:p>
            <a:pPr lvl="1"/>
            <a:endParaRPr lang="en-CA" sz="1600" dirty="0"/>
          </a:p>
        </p:txBody>
      </p:sp>
    </p:spTree>
    <p:extLst>
      <p:ext uri="{BB962C8B-B14F-4D97-AF65-F5344CB8AC3E}">
        <p14:creationId xmlns:p14="http://schemas.microsoft.com/office/powerpoint/2010/main" val="257914173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EA57BB8-13D6-EBF8-4512-0D2B22C7460C}"/>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460B0EFB-53ED-4F35-B05D-F658EA021C6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6" name="Picture 5">
            <a:extLst>
              <a:ext uri="{FF2B5EF4-FFF2-40B4-BE49-F238E27FC236}">
                <a16:creationId xmlns:a16="http://schemas.microsoft.com/office/drawing/2014/main" id="{7C45903E-E5F1-AA40-FADE-92974D79A00F}"/>
              </a:ext>
            </a:extLst>
          </p:cNvPr>
          <p:cNvPicPr>
            <a:picLocks noChangeAspect="1"/>
          </p:cNvPicPr>
          <p:nvPr/>
        </p:nvPicPr>
        <p:blipFill>
          <a:blip r:embed="rId2"/>
          <a:srcRect l="36552" r="15126" b="1"/>
          <a:stretch>
            <a:fillRect/>
          </a:stretch>
        </p:blipFill>
        <p:spPr>
          <a:xfrm>
            <a:off x="-7366" y="10"/>
            <a:ext cx="4855591" cy="6857990"/>
          </a:xfrm>
          <a:custGeom>
            <a:avLst/>
            <a:gdLst/>
            <a:ahLst/>
            <a:cxnLst/>
            <a:rect l="l" t="t" r="r" b="b"/>
            <a:pathLst>
              <a:path w="4636517" h="6858000">
                <a:moveTo>
                  <a:pt x="0" y="0"/>
                </a:moveTo>
                <a:lnTo>
                  <a:pt x="4636517" y="0"/>
                </a:lnTo>
                <a:lnTo>
                  <a:pt x="4636517" y="6858000"/>
                </a:lnTo>
                <a:lnTo>
                  <a:pt x="0" y="6858000"/>
                </a:lnTo>
                <a:close/>
              </a:path>
            </a:pathLst>
          </a:custGeom>
        </p:spPr>
      </p:pic>
      <p:sp>
        <p:nvSpPr>
          <p:cNvPr id="12" name="!!Arc">
            <a:extLst>
              <a:ext uri="{FF2B5EF4-FFF2-40B4-BE49-F238E27FC236}">
                <a16:creationId xmlns:a16="http://schemas.microsoft.com/office/drawing/2014/main" id="{835EF3DD-7D43-4A27-8967-A92FD8CC936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73531" y="407987"/>
            <a:ext cx="2987899" cy="2987899"/>
          </a:xfrm>
          <a:prstGeom prst="arc">
            <a:avLst>
              <a:gd name="adj1" fmla="val 16200000"/>
              <a:gd name="adj2" fmla="val 2563720"/>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73FE9FCF-B6F7-30E3-C61E-43A5E31EDC63}"/>
              </a:ext>
            </a:extLst>
          </p:cNvPr>
          <p:cNvSpPr>
            <a:spLocks noGrp="1"/>
          </p:cNvSpPr>
          <p:nvPr>
            <p:ph type="title"/>
          </p:nvPr>
        </p:nvSpPr>
        <p:spPr>
          <a:xfrm>
            <a:off x="5827048" y="407987"/>
            <a:ext cx="5721484" cy="1325563"/>
          </a:xfrm>
        </p:spPr>
        <p:txBody>
          <a:bodyPr>
            <a:normAutofit/>
          </a:bodyPr>
          <a:lstStyle/>
          <a:p>
            <a:r>
              <a:rPr lang="en-CA" dirty="0"/>
              <a:t>Implement Workflow</a:t>
            </a:r>
          </a:p>
        </p:txBody>
      </p:sp>
      <p:graphicFrame>
        <p:nvGraphicFramePr>
          <p:cNvPr id="5" name="Content Placeholder 2">
            <a:extLst>
              <a:ext uri="{FF2B5EF4-FFF2-40B4-BE49-F238E27FC236}">
                <a16:creationId xmlns:a16="http://schemas.microsoft.com/office/drawing/2014/main" id="{397C3290-FDBC-82B6-17A3-DBFC4E64B513}"/>
              </a:ext>
            </a:extLst>
          </p:cNvPr>
          <p:cNvGraphicFramePr>
            <a:graphicFrameLocks noGrp="1"/>
          </p:cNvGraphicFramePr>
          <p:nvPr>
            <p:ph idx="1"/>
            <p:extLst>
              <p:ext uri="{D42A27DB-BD31-4B8C-83A1-F6EECF244321}">
                <p14:modId xmlns:p14="http://schemas.microsoft.com/office/powerpoint/2010/main" val="732634652"/>
              </p:ext>
            </p:extLst>
          </p:nvPr>
        </p:nvGraphicFramePr>
        <p:xfrm>
          <a:off x="5827048" y="1868487"/>
          <a:ext cx="5721484"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6094169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EDDE46A-0B18-866C-3A8F-4B24BC984E1F}"/>
            </a:ext>
          </a:extLst>
        </p:cNvPr>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18873D23-2DCF-4B31-A009-95721C06E8E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C13EF075-D4EF-4929-ADBC-91B27DA1995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grpSp>
        <p:nvGrpSpPr>
          <p:cNvPr id="25" name="Group 24">
            <a:extLst>
              <a:ext uri="{FF2B5EF4-FFF2-40B4-BE49-F238E27FC236}">
                <a16:creationId xmlns:a16="http://schemas.microsoft.com/office/drawing/2014/main" id="{DAA26DFA-AAB2-4973-9C17-16D587C7B19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1863" y="508838"/>
            <a:ext cx="5217958" cy="6239661"/>
            <a:chOff x="-19221" y="251144"/>
            <a:chExt cx="5217958" cy="6239661"/>
          </a:xfrm>
        </p:grpSpPr>
        <p:sp>
          <p:nvSpPr>
            <p:cNvPr id="26" name="Freeform: Shape 25">
              <a:extLst>
                <a:ext uri="{FF2B5EF4-FFF2-40B4-BE49-F238E27FC236}">
                  <a16:creationId xmlns:a16="http://schemas.microsoft.com/office/drawing/2014/main" id="{3F407F11-7321-4BF6-8536-CCE8E34245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1" y="251144"/>
              <a:ext cx="5187198" cy="6239661"/>
            </a:xfrm>
            <a:custGeom>
              <a:avLst/>
              <a:gdLst>
                <a:gd name="connsiteX0" fmla="*/ 2011811 w 5187198"/>
                <a:gd name="connsiteY0" fmla="*/ 4 h 6239661"/>
                <a:gd name="connsiteX1" fmla="*/ 2617011 w 5187198"/>
                <a:gd name="connsiteY1" fmla="*/ 70590 h 6239661"/>
                <a:gd name="connsiteX2" fmla="*/ 2690321 w 5187198"/>
                <a:gd name="connsiteY2" fmla="*/ 88146 h 6239661"/>
                <a:gd name="connsiteX3" fmla="*/ 2726863 w 5187198"/>
                <a:gd name="connsiteY3" fmla="*/ 97127 h 6239661"/>
                <a:gd name="connsiteX4" fmla="*/ 2762951 w 5187198"/>
                <a:gd name="connsiteY4" fmla="*/ 107375 h 6239661"/>
                <a:gd name="connsiteX5" fmla="*/ 2834843 w 5187198"/>
                <a:gd name="connsiteY5" fmla="*/ 128493 h 6239661"/>
                <a:gd name="connsiteX6" fmla="*/ 2906574 w 5187198"/>
                <a:gd name="connsiteY6" fmla="*/ 151076 h 6239661"/>
                <a:gd name="connsiteX7" fmla="*/ 3049504 w 5187198"/>
                <a:gd name="connsiteY7" fmla="*/ 202124 h 6239661"/>
                <a:gd name="connsiteX8" fmla="*/ 3189518 w 5187198"/>
                <a:gd name="connsiteY8" fmla="*/ 260159 h 6239661"/>
                <a:gd name="connsiteX9" fmla="*/ 3326048 w 5187198"/>
                <a:gd name="connsiteY9" fmla="*/ 325143 h 6239661"/>
                <a:gd name="connsiteX10" fmla="*/ 3459166 w 5187198"/>
                <a:gd name="connsiteY10" fmla="*/ 395936 h 6239661"/>
                <a:gd name="connsiteX11" fmla="*/ 3588578 w 5187198"/>
                <a:gd name="connsiteY11" fmla="*/ 472343 h 6239661"/>
                <a:gd name="connsiteX12" fmla="*/ 3651864 w 5187198"/>
                <a:gd name="connsiteY12" fmla="*/ 512600 h 6239661"/>
                <a:gd name="connsiteX13" fmla="*/ 3714514 w 5187198"/>
                <a:gd name="connsiteY13" fmla="*/ 553499 h 6239661"/>
                <a:gd name="connsiteX14" fmla="*/ 4181221 w 5187198"/>
                <a:gd name="connsiteY14" fmla="*/ 922912 h 6239661"/>
                <a:gd name="connsiteX15" fmla="*/ 4582963 w 5187198"/>
                <a:gd name="connsiteY15" fmla="*/ 1358264 h 6239661"/>
                <a:gd name="connsiteX16" fmla="*/ 4670721 w 5187198"/>
                <a:gd name="connsiteY16" fmla="*/ 1477644 h 6239661"/>
                <a:gd name="connsiteX17" fmla="*/ 4752378 w 5187198"/>
                <a:gd name="connsiteY17" fmla="*/ 1601187 h 6239661"/>
                <a:gd name="connsiteX18" fmla="*/ 4772168 w 5187198"/>
                <a:gd name="connsiteY18" fmla="*/ 1632456 h 6239661"/>
                <a:gd name="connsiteX19" fmla="*/ 4782117 w 5187198"/>
                <a:gd name="connsiteY19" fmla="*/ 1648104 h 6239661"/>
                <a:gd name="connsiteX20" fmla="*/ 4791381 w 5187198"/>
                <a:gd name="connsiteY20" fmla="*/ 1664150 h 6239661"/>
                <a:gd name="connsiteX21" fmla="*/ 4828190 w 5187198"/>
                <a:gd name="connsiteY21" fmla="*/ 1728379 h 6239661"/>
                <a:gd name="connsiteX22" fmla="*/ 4864832 w 5187198"/>
                <a:gd name="connsiteY22" fmla="*/ 1792796 h 6239661"/>
                <a:gd name="connsiteX23" fmla="*/ 4899201 w 5187198"/>
                <a:gd name="connsiteY23" fmla="*/ 1858342 h 6239661"/>
                <a:gd name="connsiteX24" fmla="*/ 4933266 w 5187198"/>
                <a:gd name="connsiteY24" fmla="*/ 1924155 h 6239661"/>
                <a:gd name="connsiteX25" fmla="*/ 4964403 w 5187198"/>
                <a:gd name="connsiteY25" fmla="*/ 1991384 h 6239661"/>
                <a:gd name="connsiteX26" fmla="*/ 4995019 w 5187198"/>
                <a:gd name="connsiteY26" fmla="*/ 2058823 h 6239661"/>
                <a:gd name="connsiteX27" fmla="*/ 5021999 w 5187198"/>
                <a:gd name="connsiteY27" fmla="*/ 2127723 h 6239661"/>
                <a:gd name="connsiteX28" fmla="*/ 5048321 w 5187198"/>
                <a:gd name="connsiteY28" fmla="*/ 2196908 h 6239661"/>
                <a:gd name="connsiteX29" fmla="*/ 5070546 w 5187198"/>
                <a:gd name="connsiteY29" fmla="*/ 2267547 h 6239661"/>
                <a:gd name="connsiteX30" fmla="*/ 5092171 w 5187198"/>
                <a:gd name="connsiteY30" fmla="*/ 2338256 h 6239661"/>
                <a:gd name="connsiteX31" fmla="*/ 5110305 w 5187198"/>
                <a:gd name="connsiteY31" fmla="*/ 2409886 h 6239661"/>
                <a:gd name="connsiteX32" fmla="*/ 5186393 w 5187198"/>
                <a:gd name="connsiteY32" fmla="*/ 2992022 h 6239661"/>
                <a:gd name="connsiteX33" fmla="*/ 5149045 w 5187198"/>
                <a:gd name="connsiteY33" fmla="*/ 3571816 h 6239661"/>
                <a:gd name="connsiteX34" fmla="*/ 5126572 w 5187198"/>
                <a:gd name="connsiteY34" fmla="*/ 3714520 h 6239661"/>
                <a:gd name="connsiteX35" fmla="*/ 5099067 w 5187198"/>
                <a:gd name="connsiteY35" fmla="*/ 3856108 h 6239661"/>
                <a:gd name="connsiteX36" fmla="*/ 5095699 w 5187198"/>
                <a:gd name="connsiteY36" fmla="*/ 3873868 h 6239661"/>
                <a:gd name="connsiteX37" fmla="*/ 5091573 w 5187198"/>
                <a:gd name="connsiteY37" fmla="*/ 3891426 h 6239661"/>
                <a:gd name="connsiteX38" fmla="*/ 5083324 w 5187198"/>
                <a:gd name="connsiteY38" fmla="*/ 3926541 h 6239661"/>
                <a:gd name="connsiteX39" fmla="*/ 5067256 w 5187198"/>
                <a:gd name="connsiteY39" fmla="*/ 3996889 h 6239661"/>
                <a:gd name="connsiteX40" fmla="*/ 5059194 w 5187198"/>
                <a:gd name="connsiteY40" fmla="*/ 4032171 h 6239661"/>
                <a:gd name="connsiteX41" fmla="*/ 5049522 w 5187198"/>
                <a:gd name="connsiteY41" fmla="*/ 4067833 h 6239661"/>
                <a:gd name="connsiteX42" fmla="*/ 5040067 w 5187198"/>
                <a:gd name="connsiteY42" fmla="*/ 4103553 h 6239661"/>
                <a:gd name="connsiteX43" fmla="*/ 5028960 w 5187198"/>
                <a:gd name="connsiteY43" fmla="*/ 4138946 h 6239661"/>
                <a:gd name="connsiteX44" fmla="*/ 4917351 w 5187198"/>
                <a:gd name="connsiteY44" fmla="*/ 4417041 h 6239661"/>
                <a:gd name="connsiteX45" fmla="*/ 4756163 w 5187198"/>
                <a:gd name="connsiteY45" fmla="*/ 4676402 h 6239661"/>
                <a:gd name="connsiteX46" fmla="*/ 4322493 w 5187198"/>
                <a:gd name="connsiteY46" fmla="*/ 5105604 h 6239661"/>
                <a:gd name="connsiteX47" fmla="*/ 3840510 w 5187198"/>
                <a:gd name="connsiteY47" fmla="*/ 5429590 h 6239661"/>
                <a:gd name="connsiteX48" fmla="*/ 3606447 w 5187198"/>
                <a:gd name="connsiteY48" fmla="*/ 5572862 h 6239661"/>
                <a:gd name="connsiteX49" fmla="*/ 3488814 w 5187198"/>
                <a:gd name="connsiteY49" fmla="*/ 5647178 h 6239661"/>
                <a:gd name="connsiteX50" fmla="*/ 3365864 w 5187198"/>
                <a:gd name="connsiteY50" fmla="*/ 5722735 h 6239661"/>
                <a:gd name="connsiteX51" fmla="*/ 2839486 w 5187198"/>
                <a:gd name="connsiteY51" fmla="*/ 5999120 h 6239661"/>
                <a:gd name="connsiteX52" fmla="*/ 2242423 w 5187198"/>
                <a:gd name="connsiteY52" fmla="*/ 6192346 h 6239661"/>
                <a:gd name="connsiteX53" fmla="*/ 1589380 w 5187198"/>
                <a:gd name="connsiteY53" fmla="*/ 6230657 h 6239661"/>
                <a:gd name="connsiteX54" fmla="*/ 1548244 w 5187198"/>
                <a:gd name="connsiteY54" fmla="*/ 6226706 h 6239661"/>
                <a:gd name="connsiteX55" fmla="*/ 1507348 w 5187198"/>
                <a:gd name="connsiteY55" fmla="*/ 6221428 h 6239661"/>
                <a:gd name="connsiteX56" fmla="*/ 1466401 w 5187198"/>
                <a:gd name="connsiteY56" fmla="*/ 6215904 h 6239661"/>
                <a:gd name="connsiteX57" fmla="*/ 1425773 w 5187198"/>
                <a:gd name="connsiteY57" fmla="*/ 6209191 h 6239661"/>
                <a:gd name="connsiteX58" fmla="*/ 1344960 w 5187198"/>
                <a:gd name="connsiteY58" fmla="*/ 6193681 h 6239661"/>
                <a:gd name="connsiteX59" fmla="*/ 1265007 w 5187198"/>
                <a:gd name="connsiteY59" fmla="*/ 6175388 h 6239661"/>
                <a:gd name="connsiteX60" fmla="*/ 1225415 w 5187198"/>
                <a:gd name="connsiteY60" fmla="*/ 6165243 h 6239661"/>
                <a:gd name="connsiteX61" fmla="*/ 1186567 w 5187198"/>
                <a:gd name="connsiteY61" fmla="*/ 6154486 h 6239661"/>
                <a:gd name="connsiteX62" fmla="*/ 1111158 w 5187198"/>
                <a:gd name="connsiteY62" fmla="*/ 6130918 h 6239661"/>
                <a:gd name="connsiteX63" fmla="*/ 1035915 w 5187198"/>
                <a:gd name="connsiteY63" fmla="*/ 6107163 h 6239661"/>
                <a:gd name="connsiteX64" fmla="*/ 961579 w 5187198"/>
                <a:gd name="connsiteY64" fmla="*/ 6079594 h 6239661"/>
                <a:gd name="connsiteX65" fmla="*/ 395297 w 5187198"/>
                <a:gd name="connsiteY65" fmla="*/ 5792812 h 6239661"/>
                <a:gd name="connsiteX66" fmla="*/ 265239 w 5187198"/>
                <a:gd name="connsiteY66" fmla="*/ 5701511 h 6239661"/>
                <a:gd name="connsiteX67" fmla="*/ 233756 w 5187198"/>
                <a:gd name="connsiteY67" fmla="*/ 5677542 h 6239661"/>
                <a:gd name="connsiteX68" fmla="*/ 202800 w 5187198"/>
                <a:gd name="connsiteY68" fmla="*/ 5652902 h 6239661"/>
                <a:gd name="connsiteX69" fmla="*/ 140918 w 5187198"/>
                <a:gd name="connsiteY69" fmla="*/ 5603515 h 6239661"/>
                <a:gd name="connsiteX70" fmla="*/ 110625 w 5187198"/>
                <a:gd name="connsiteY70" fmla="*/ 5578127 h 6239661"/>
                <a:gd name="connsiteX71" fmla="*/ 95631 w 5187198"/>
                <a:gd name="connsiteY71" fmla="*/ 5565299 h 6239661"/>
                <a:gd name="connsiteX72" fmla="*/ 81966 w 5187198"/>
                <a:gd name="connsiteY72" fmla="*/ 5550973 h 6239661"/>
                <a:gd name="connsiteX73" fmla="*/ 27991 w 5187198"/>
                <a:gd name="connsiteY73" fmla="*/ 5493272 h 6239661"/>
                <a:gd name="connsiteX74" fmla="*/ 1454 w 5187198"/>
                <a:gd name="connsiteY74" fmla="*/ 5464252 h 6239661"/>
                <a:gd name="connsiteX75" fmla="*/ 0 w 5187198"/>
                <a:gd name="connsiteY75" fmla="*/ 5462518 h 6239661"/>
                <a:gd name="connsiteX76" fmla="*/ 0 w 5187198"/>
                <a:gd name="connsiteY76" fmla="*/ 4720187 h 6239661"/>
                <a:gd name="connsiteX77" fmla="*/ 109684 w 5187198"/>
                <a:gd name="connsiteY77" fmla="*/ 4836724 h 6239661"/>
                <a:gd name="connsiteX78" fmla="*/ 306959 w 5187198"/>
                <a:gd name="connsiteY78" fmla="*/ 5007200 h 6239661"/>
                <a:gd name="connsiteX79" fmla="*/ 358101 w 5187198"/>
                <a:gd name="connsiteY79" fmla="*/ 5046057 h 6239661"/>
                <a:gd name="connsiteX80" fmla="*/ 383328 w 5187198"/>
                <a:gd name="connsiteY80" fmla="*/ 5065684 h 6239661"/>
                <a:gd name="connsiteX81" fmla="*/ 409503 w 5187198"/>
                <a:gd name="connsiteY81" fmla="*/ 5083942 h 6239661"/>
                <a:gd name="connsiteX82" fmla="*/ 461889 w 5187198"/>
                <a:gd name="connsiteY82" fmla="*/ 5119888 h 6239661"/>
                <a:gd name="connsiteX83" fmla="*/ 474883 w 5187198"/>
                <a:gd name="connsiteY83" fmla="*/ 5128933 h 6239661"/>
                <a:gd name="connsiteX84" fmla="*/ 486410 w 5187198"/>
                <a:gd name="connsiteY84" fmla="*/ 5139557 h 6239661"/>
                <a:gd name="connsiteX85" fmla="*/ 510852 w 5187198"/>
                <a:gd name="connsiteY85" fmla="*/ 5159089 h 6239661"/>
                <a:gd name="connsiteX86" fmla="*/ 560653 w 5187198"/>
                <a:gd name="connsiteY86" fmla="*/ 5196893 h 6239661"/>
                <a:gd name="connsiteX87" fmla="*/ 585485 w 5187198"/>
                <a:gd name="connsiteY87" fmla="*/ 5215834 h 6239661"/>
                <a:gd name="connsiteX88" fmla="*/ 610707 w 5187198"/>
                <a:gd name="connsiteY88" fmla="*/ 5234185 h 6239661"/>
                <a:gd name="connsiteX89" fmla="*/ 714768 w 5187198"/>
                <a:gd name="connsiteY89" fmla="*/ 5303103 h 6239661"/>
                <a:gd name="connsiteX90" fmla="*/ 1166634 w 5187198"/>
                <a:gd name="connsiteY90" fmla="*/ 5513322 h 6239661"/>
                <a:gd name="connsiteX91" fmla="*/ 1225991 w 5187198"/>
                <a:gd name="connsiteY91" fmla="*/ 5533632 h 6239661"/>
                <a:gd name="connsiteX92" fmla="*/ 1286680 w 5187198"/>
                <a:gd name="connsiteY92" fmla="*/ 5550705 h 6239661"/>
                <a:gd name="connsiteX93" fmla="*/ 1347310 w 5187198"/>
                <a:gd name="connsiteY93" fmla="*/ 5567995 h 6239661"/>
                <a:gd name="connsiteX94" fmla="*/ 1377002 w 5187198"/>
                <a:gd name="connsiteY94" fmla="*/ 5575719 h 6239661"/>
                <a:gd name="connsiteX95" fmla="*/ 1406328 w 5187198"/>
                <a:gd name="connsiteY95" fmla="*/ 5582649 h 6239661"/>
                <a:gd name="connsiteX96" fmla="*/ 1465060 w 5187198"/>
                <a:gd name="connsiteY96" fmla="*/ 5594909 h 6239661"/>
                <a:gd name="connsiteX97" fmla="*/ 1523881 w 5187198"/>
                <a:gd name="connsiteY97" fmla="*/ 5605105 h 6239661"/>
                <a:gd name="connsiteX98" fmla="*/ 1553325 w 5187198"/>
                <a:gd name="connsiteY98" fmla="*/ 5609865 h 6239661"/>
                <a:gd name="connsiteX99" fmla="*/ 1582813 w 5187198"/>
                <a:gd name="connsiteY99" fmla="*/ 5613593 h 6239661"/>
                <a:gd name="connsiteX100" fmla="*/ 1612301 w 5187198"/>
                <a:gd name="connsiteY100" fmla="*/ 5617321 h 6239661"/>
                <a:gd name="connsiteX101" fmla="*/ 1641863 w 5187198"/>
                <a:gd name="connsiteY101" fmla="*/ 5619910 h 6239661"/>
                <a:gd name="connsiteX102" fmla="*/ 2117508 w 5187198"/>
                <a:gd name="connsiteY102" fmla="*/ 5595156 h 6239661"/>
                <a:gd name="connsiteX103" fmla="*/ 2597368 w 5187198"/>
                <a:gd name="connsiteY103" fmla="*/ 5447381 h 6239661"/>
                <a:gd name="connsiteX104" fmla="*/ 3082968 w 5187198"/>
                <a:gd name="connsiteY104" fmla="*/ 5223245 h 6239661"/>
                <a:gd name="connsiteX105" fmla="*/ 3334855 w 5187198"/>
                <a:gd name="connsiteY105" fmla="*/ 5097383 h 6239661"/>
                <a:gd name="connsiteX106" fmla="*/ 3599509 w 5187198"/>
                <a:gd name="connsiteY106" fmla="*/ 4976217 h 6239661"/>
                <a:gd name="connsiteX107" fmla="*/ 4112002 w 5187198"/>
                <a:gd name="connsiteY107" fmla="*/ 4766359 h 6239661"/>
                <a:gd name="connsiteX108" fmla="*/ 4348983 w 5187198"/>
                <a:gd name="connsiteY108" fmla="*/ 4649833 h 6239661"/>
                <a:gd name="connsiteX109" fmla="*/ 4560505 w 5187198"/>
                <a:gd name="connsiteY109" fmla="*/ 4501564 h 6239661"/>
                <a:gd name="connsiteX110" fmla="*/ 4731963 w 5187198"/>
                <a:gd name="connsiteY110" fmla="*/ 4309870 h 6239661"/>
                <a:gd name="connsiteX111" fmla="*/ 4852344 w 5187198"/>
                <a:gd name="connsiteY111" fmla="*/ 4078640 h 6239661"/>
                <a:gd name="connsiteX112" fmla="*/ 4863972 w 5187198"/>
                <a:gd name="connsiteY112" fmla="*/ 4047790 h 6239661"/>
                <a:gd name="connsiteX113" fmla="*/ 4874144 w 5187198"/>
                <a:gd name="connsiteY113" fmla="*/ 4016320 h 6239661"/>
                <a:gd name="connsiteX114" fmla="*/ 4884127 w 5187198"/>
                <a:gd name="connsiteY114" fmla="*/ 3984682 h 6239661"/>
                <a:gd name="connsiteX115" fmla="*/ 4892800 w 5187198"/>
                <a:gd name="connsiteY115" fmla="*/ 3951883 h 6239661"/>
                <a:gd name="connsiteX116" fmla="*/ 4909526 w 5187198"/>
                <a:gd name="connsiteY116" fmla="*/ 3886001 h 6239661"/>
                <a:gd name="connsiteX117" fmla="*/ 4917687 w 5187198"/>
                <a:gd name="connsiteY117" fmla="*/ 3852948 h 6239661"/>
                <a:gd name="connsiteX118" fmla="*/ 4921768 w 5187198"/>
                <a:gd name="connsiteY118" fmla="*/ 3836422 h 6239661"/>
                <a:gd name="connsiteX119" fmla="*/ 4924845 w 5187198"/>
                <a:gd name="connsiteY119" fmla="*/ 3819742 h 6239661"/>
                <a:gd name="connsiteX120" fmla="*/ 4948230 w 5187198"/>
                <a:gd name="connsiteY120" fmla="*/ 3685744 h 6239661"/>
                <a:gd name="connsiteX121" fmla="*/ 4962782 w 5187198"/>
                <a:gd name="connsiteY121" fmla="*/ 3550540 h 6239661"/>
                <a:gd name="connsiteX122" fmla="*/ 4939468 w 5187198"/>
                <a:gd name="connsiteY122" fmla="*/ 3010249 h 6239661"/>
                <a:gd name="connsiteX123" fmla="*/ 4816901 w 5187198"/>
                <a:gd name="connsiteY123" fmla="*/ 2488224 h 6239661"/>
                <a:gd name="connsiteX124" fmla="*/ 4797005 w 5187198"/>
                <a:gd name="connsiteY124" fmla="*/ 2424470 h 6239661"/>
                <a:gd name="connsiteX125" fmla="*/ 4774433 w 5187198"/>
                <a:gd name="connsiteY125" fmla="*/ 2361620 h 6239661"/>
                <a:gd name="connsiteX126" fmla="*/ 4752459 w 5187198"/>
                <a:gd name="connsiteY126" fmla="*/ 2298700 h 6239661"/>
                <a:gd name="connsiteX127" fmla="*/ 4728083 w 5187198"/>
                <a:gd name="connsiteY127" fmla="*/ 2236526 h 6239661"/>
                <a:gd name="connsiteX128" fmla="*/ 4704471 w 5187198"/>
                <a:gd name="connsiteY128" fmla="*/ 2174095 h 6239661"/>
                <a:gd name="connsiteX129" fmla="*/ 4678399 w 5187198"/>
                <a:gd name="connsiteY129" fmla="*/ 2112626 h 6239661"/>
                <a:gd name="connsiteX130" fmla="*/ 4652601 w 5187198"/>
                <a:gd name="connsiteY130" fmla="*/ 2050999 h 6239661"/>
                <a:gd name="connsiteX131" fmla="*/ 4624205 w 5187198"/>
                <a:gd name="connsiteY131" fmla="*/ 1990415 h 6239661"/>
                <a:gd name="connsiteX132" fmla="*/ 4595398 w 5187198"/>
                <a:gd name="connsiteY132" fmla="*/ 1930069 h 6239661"/>
                <a:gd name="connsiteX133" fmla="*/ 4563827 w 5187198"/>
                <a:gd name="connsiteY133" fmla="*/ 1870952 h 6239661"/>
                <a:gd name="connsiteX134" fmla="*/ 4531433 w 5187198"/>
                <a:gd name="connsiteY134" fmla="*/ 1812311 h 6239661"/>
                <a:gd name="connsiteX135" fmla="*/ 4523315 w 5187198"/>
                <a:gd name="connsiteY135" fmla="*/ 1797616 h 6239661"/>
                <a:gd name="connsiteX136" fmla="*/ 4514482 w 5187198"/>
                <a:gd name="connsiteY136" fmla="*/ 1783425 h 6239661"/>
                <a:gd name="connsiteX137" fmla="*/ 4496845 w 5187198"/>
                <a:gd name="connsiteY137" fmla="*/ 1754936 h 6239661"/>
                <a:gd name="connsiteX138" fmla="*/ 4461463 w 5187198"/>
                <a:gd name="connsiteY138" fmla="*/ 1697929 h 6239661"/>
                <a:gd name="connsiteX139" fmla="*/ 4452660 w 5187198"/>
                <a:gd name="connsiteY139" fmla="*/ 1683629 h 6239661"/>
                <a:gd name="connsiteX140" fmla="*/ 4443141 w 5187198"/>
                <a:gd name="connsiteY140" fmla="*/ 1669834 h 6239661"/>
                <a:gd name="connsiteX141" fmla="*/ 4424241 w 5187198"/>
                <a:gd name="connsiteY141" fmla="*/ 1642166 h 6239661"/>
                <a:gd name="connsiteX142" fmla="*/ 4346886 w 5187198"/>
                <a:gd name="connsiteY142" fmla="*/ 1532412 h 6239661"/>
                <a:gd name="connsiteX143" fmla="*/ 3985497 w 5187198"/>
                <a:gd name="connsiteY143" fmla="*/ 1134649 h 6239661"/>
                <a:gd name="connsiteX144" fmla="*/ 3545665 w 5187198"/>
                <a:gd name="connsiteY144" fmla="*/ 825877 h 6239661"/>
                <a:gd name="connsiteX145" fmla="*/ 3486190 w 5187198"/>
                <a:gd name="connsiteY145" fmla="*/ 794756 h 6239661"/>
                <a:gd name="connsiteX146" fmla="*/ 3426182 w 5187198"/>
                <a:gd name="connsiteY146" fmla="*/ 764765 h 6239661"/>
                <a:gd name="connsiteX147" fmla="*/ 3365044 w 5187198"/>
                <a:gd name="connsiteY147" fmla="*/ 737255 h 6239661"/>
                <a:gd name="connsiteX148" fmla="*/ 3334529 w 5187198"/>
                <a:gd name="connsiteY148" fmla="*/ 723514 h 6239661"/>
                <a:gd name="connsiteX149" fmla="*/ 3303733 w 5187198"/>
                <a:gd name="connsiteY149" fmla="*/ 710395 h 6239661"/>
                <a:gd name="connsiteX150" fmla="*/ 3179033 w 5187198"/>
                <a:gd name="connsiteY150" fmla="*/ 662259 h 6239661"/>
                <a:gd name="connsiteX151" fmla="*/ 3052408 w 5187198"/>
                <a:gd name="connsiteY151" fmla="*/ 620447 h 6239661"/>
                <a:gd name="connsiteX152" fmla="*/ 2924325 w 5187198"/>
                <a:gd name="connsiteY152" fmla="*/ 584505 h 6239661"/>
                <a:gd name="connsiteX153" fmla="*/ 2859667 w 5187198"/>
                <a:gd name="connsiteY153" fmla="*/ 569266 h 6239661"/>
                <a:gd name="connsiteX154" fmla="*/ 2795226 w 5187198"/>
                <a:gd name="connsiteY154" fmla="*/ 554085 h 6239661"/>
                <a:gd name="connsiteX155" fmla="*/ 2729702 w 5187198"/>
                <a:gd name="connsiteY155" fmla="*/ 540354 h 6239661"/>
                <a:gd name="connsiteX156" fmla="*/ 2663758 w 5187198"/>
                <a:gd name="connsiteY156" fmla="*/ 527322 h 6239661"/>
                <a:gd name="connsiteX157" fmla="*/ 2630927 w 5187198"/>
                <a:gd name="connsiteY157" fmla="*/ 520495 h 6239661"/>
                <a:gd name="connsiteX158" fmla="*/ 2597965 w 5187198"/>
                <a:gd name="connsiteY158" fmla="*/ 515024 h 6239661"/>
                <a:gd name="connsiteX159" fmla="*/ 2532205 w 5187198"/>
                <a:gd name="connsiteY159" fmla="*/ 503895 h 6239661"/>
                <a:gd name="connsiteX160" fmla="*/ 2010064 w 5187198"/>
                <a:gd name="connsiteY160" fmla="*/ 452552 h 6239661"/>
                <a:gd name="connsiteX161" fmla="*/ 1494552 w 5187198"/>
                <a:gd name="connsiteY161" fmla="*/ 485055 h 6239661"/>
                <a:gd name="connsiteX162" fmla="*/ 1366896 w 5187198"/>
                <a:gd name="connsiteY162" fmla="*/ 509389 h 6239661"/>
                <a:gd name="connsiteX163" fmla="*/ 1240175 w 5187198"/>
                <a:gd name="connsiteY163" fmla="*/ 541045 h 6239661"/>
                <a:gd name="connsiteX164" fmla="*/ 1177438 w 5187198"/>
                <a:gd name="connsiteY164" fmla="*/ 560170 h 6239661"/>
                <a:gd name="connsiteX165" fmla="*/ 1145987 w 5187198"/>
                <a:gd name="connsiteY165" fmla="*/ 569826 h 6239661"/>
                <a:gd name="connsiteX166" fmla="*/ 1130315 w 5187198"/>
                <a:gd name="connsiteY166" fmla="*/ 574669 h 6239661"/>
                <a:gd name="connsiteX167" fmla="*/ 1114873 w 5187198"/>
                <a:gd name="connsiteY167" fmla="*/ 580384 h 6239661"/>
                <a:gd name="connsiteX168" fmla="*/ 1052839 w 5187198"/>
                <a:gd name="connsiteY168" fmla="*/ 602943 h 6239661"/>
                <a:gd name="connsiteX169" fmla="*/ 991135 w 5187198"/>
                <a:gd name="connsiteY169" fmla="*/ 626866 h 6239661"/>
                <a:gd name="connsiteX170" fmla="*/ 930179 w 5187198"/>
                <a:gd name="connsiteY170" fmla="*/ 653191 h 6239661"/>
                <a:gd name="connsiteX171" fmla="*/ 869768 w 5187198"/>
                <a:gd name="connsiteY171" fmla="*/ 680937 h 6239661"/>
                <a:gd name="connsiteX172" fmla="*/ 810085 w 5187198"/>
                <a:gd name="connsiteY172" fmla="*/ 710734 h 6239661"/>
                <a:gd name="connsiteX173" fmla="*/ 751220 w 5187198"/>
                <a:gd name="connsiteY173" fmla="*/ 741794 h 6239661"/>
                <a:gd name="connsiteX174" fmla="*/ 532669 w 5187198"/>
                <a:gd name="connsiteY174" fmla="*/ 881688 h 6239661"/>
                <a:gd name="connsiteX175" fmla="*/ 354185 w 5187198"/>
                <a:gd name="connsiteY175" fmla="*/ 1050286 h 6239661"/>
                <a:gd name="connsiteX176" fmla="*/ 315980 w 5187198"/>
                <a:gd name="connsiteY176" fmla="*/ 1098125 h 6239661"/>
                <a:gd name="connsiteX177" fmla="*/ 280345 w 5187198"/>
                <a:gd name="connsiteY177" fmla="*/ 1149782 h 6239661"/>
                <a:gd name="connsiteX178" fmla="*/ 245890 w 5187198"/>
                <a:gd name="connsiteY178" fmla="*/ 1203959 h 6239661"/>
                <a:gd name="connsiteX179" fmla="*/ 212162 w 5187198"/>
                <a:gd name="connsiteY179" fmla="*/ 1260184 h 6239661"/>
                <a:gd name="connsiteX180" fmla="*/ 80716 w 5187198"/>
                <a:gd name="connsiteY180" fmla="*/ 1502476 h 6239661"/>
                <a:gd name="connsiteX181" fmla="*/ 0 w 5187198"/>
                <a:gd name="connsiteY181" fmla="*/ 1648841 h 6239661"/>
                <a:gd name="connsiteX182" fmla="*/ 0 w 5187198"/>
                <a:gd name="connsiteY182" fmla="*/ 954863 h 6239661"/>
                <a:gd name="connsiteX183" fmla="*/ 43491 w 5187198"/>
                <a:gd name="connsiteY183" fmla="*/ 895513 h 6239661"/>
                <a:gd name="connsiteX184" fmla="*/ 93923 w 5187198"/>
                <a:gd name="connsiteY184" fmla="*/ 834489 h 6239661"/>
                <a:gd name="connsiteX185" fmla="*/ 323465 w 5187198"/>
                <a:gd name="connsiteY185" fmla="*/ 617671 h 6239661"/>
                <a:gd name="connsiteX186" fmla="*/ 574777 w 5187198"/>
                <a:gd name="connsiteY186" fmla="*/ 446794 h 6239661"/>
                <a:gd name="connsiteX187" fmla="*/ 638943 w 5187198"/>
                <a:gd name="connsiteY187" fmla="*/ 408925 h 6239661"/>
                <a:gd name="connsiteX188" fmla="*/ 703505 w 5187198"/>
                <a:gd name="connsiteY188" fmla="*/ 371742 h 6239661"/>
                <a:gd name="connsiteX189" fmla="*/ 769262 w 5187198"/>
                <a:gd name="connsiteY189" fmla="*/ 336154 h 6239661"/>
                <a:gd name="connsiteX190" fmla="*/ 835552 w 5187198"/>
                <a:gd name="connsiteY190" fmla="*/ 301173 h 6239661"/>
                <a:gd name="connsiteX191" fmla="*/ 902979 w 5187198"/>
                <a:gd name="connsiteY191" fmla="*/ 268004 h 6239661"/>
                <a:gd name="connsiteX192" fmla="*/ 971127 w 5187198"/>
                <a:gd name="connsiteY192" fmla="*/ 235607 h 6239661"/>
                <a:gd name="connsiteX193" fmla="*/ 988238 w 5187198"/>
                <a:gd name="connsiteY193" fmla="*/ 227556 h 6239661"/>
                <a:gd name="connsiteX194" fmla="*/ 1005744 w 5187198"/>
                <a:gd name="connsiteY194" fmla="*/ 220191 h 6239661"/>
                <a:gd name="connsiteX195" fmla="*/ 1040729 w 5187198"/>
                <a:gd name="connsiteY195" fmla="*/ 205569 h 6239661"/>
                <a:gd name="connsiteX196" fmla="*/ 1110835 w 5187198"/>
                <a:gd name="connsiteY196" fmla="*/ 176248 h 6239661"/>
                <a:gd name="connsiteX197" fmla="*/ 1254256 w 5187198"/>
                <a:gd name="connsiteY197" fmla="*/ 123796 h 6239661"/>
                <a:gd name="connsiteX198" fmla="*/ 1401310 w 5187198"/>
                <a:gd name="connsiteY198" fmla="*/ 79852 h 6239661"/>
                <a:gd name="connsiteX199" fmla="*/ 2011811 w 5187198"/>
                <a:gd name="connsiteY199" fmla="*/ 4 h 6239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Lst>
              <a:rect l="l" t="t" r="r" b="b"/>
              <a:pathLst>
                <a:path w="5187198" h="6239661">
                  <a:moveTo>
                    <a:pt x="2011811" y="4"/>
                  </a:moveTo>
                  <a:cubicBezTo>
                    <a:pt x="2217306" y="120"/>
                    <a:pt x="2420903" y="25925"/>
                    <a:pt x="2617011" y="70590"/>
                  </a:cubicBezTo>
                  <a:lnTo>
                    <a:pt x="2690321" y="88146"/>
                  </a:lnTo>
                  <a:lnTo>
                    <a:pt x="2726863" y="97127"/>
                  </a:lnTo>
                  <a:lnTo>
                    <a:pt x="2762951" y="107375"/>
                  </a:lnTo>
                  <a:lnTo>
                    <a:pt x="2834843" y="128493"/>
                  </a:lnTo>
                  <a:cubicBezTo>
                    <a:pt x="2858788" y="135605"/>
                    <a:pt x="2882632" y="142226"/>
                    <a:pt x="2906574" y="151076"/>
                  </a:cubicBezTo>
                  <a:cubicBezTo>
                    <a:pt x="2954475" y="167852"/>
                    <a:pt x="3002363" y="183813"/>
                    <a:pt x="3049504" y="202124"/>
                  </a:cubicBezTo>
                  <a:lnTo>
                    <a:pt x="3189518" y="260159"/>
                  </a:lnTo>
                  <a:lnTo>
                    <a:pt x="3326048" y="325143"/>
                  </a:lnTo>
                  <a:cubicBezTo>
                    <a:pt x="3370687" y="348464"/>
                    <a:pt x="3414908" y="372485"/>
                    <a:pt x="3459166" y="395936"/>
                  </a:cubicBezTo>
                  <a:cubicBezTo>
                    <a:pt x="3502947" y="420302"/>
                    <a:pt x="3545491" y="447118"/>
                    <a:pt x="3588578" y="472343"/>
                  </a:cubicBezTo>
                  <a:cubicBezTo>
                    <a:pt x="3610346" y="484551"/>
                    <a:pt x="3630797" y="499072"/>
                    <a:pt x="3651864" y="512600"/>
                  </a:cubicBezTo>
                  <a:lnTo>
                    <a:pt x="3714514" y="553499"/>
                  </a:lnTo>
                  <a:cubicBezTo>
                    <a:pt x="3880005" y="664844"/>
                    <a:pt x="4036083" y="788388"/>
                    <a:pt x="4181221" y="922912"/>
                  </a:cubicBezTo>
                  <a:cubicBezTo>
                    <a:pt x="4326221" y="1057515"/>
                    <a:pt x="4461955" y="1202038"/>
                    <a:pt x="4582963" y="1358264"/>
                  </a:cubicBezTo>
                  <a:cubicBezTo>
                    <a:pt x="4614206" y="1396543"/>
                    <a:pt x="4642091" y="1437400"/>
                    <a:pt x="4670721" y="1477644"/>
                  </a:cubicBezTo>
                  <a:cubicBezTo>
                    <a:pt x="4700172" y="1517414"/>
                    <a:pt x="4725864" y="1559538"/>
                    <a:pt x="4752378" y="1601187"/>
                  </a:cubicBezTo>
                  <a:lnTo>
                    <a:pt x="4772168" y="1632456"/>
                  </a:lnTo>
                  <a:lnTo>
                    <a:pt x="4782117" y="1648104"/>
                  </a:lnTo>
                  <a:lnTo>
                    <a:pt x="4791381" y="1664150"/>
                  </a:lnTo>
                  <a:lnTo>
                    <a:pt x="4828190" y="1728379"/>
                  </a:lnTo>
                  <a:cubicBezTo>
                    <a:pt x="4840266" y="1749930"/>
                    <a:pt x="4853470" y="1770740"/>
                    <a:pt x="4864832" y="1792796"/>
                  </a:cubicBezTo>
                  <a:lnTo>
                    <a:pt x="4899201" y="1858342"/>
                  </a:lnTo>
                  <a:cubicBezTo>
                    <a:pt x="4910484" y="1880260"/>
                    <a:pt x="4922532" y="1901920"/>
                    <a:pt x="4933266" y="1924155"/>
                  </a:cubicBezTo>
                  <a:lnTo>
                    <a:pt x="4964403" y="1991384"/>
                  </a:lnTo>
                  <a:cubicBezTo>
                    <a:pt x="4974618" y="2013829"/>
                    <a:pt x="4985323" y="2036171"/>
                    <a:pt x="4995019" y="2058823"/>
                  </a:cubicBezTo>
                  <a:lnTo>
                    <a:pt x="5021999" y="2127723"/>
                  </a:lnTo>
                  <a:lnTo>
                    <a:pt x="5048321" y="2196908"/>
                  </a:lnTo>
                  <a:lnTo>
                    <a:pt x="5070546" y="2267547"/>
                  </a:lnTo>
                  <a:cubicBezTo>
                    <a:pt x="5078054" y="2291004"/>
                    <a:pt x="5085044" y="2314670"/>
                    <a:pt x="5092171" y="2338256"/>
                  </a:cubicBezTo>
                  <a:cubicBezTo>
                    <a:pt x="5098670" y="2362023"/>
                    <a:pt x="5104296" y="2386019"/>
                    <a:pt x="5110305" y="2409886"/>
                  </a:cubicBezTo>
                  <a:cubicBezTo>
                    <a:pt x="5158097" y="2600976"/>
                    <a:pt x="5182068" y="2797044"/>
                    <a:pt x="5186393" y="2992022"/>
                  </a:cubicBezTo>
                  <a:cubicBezTo>
                    <a:pt x="5191013" y="3187195"/>
                    <a:pt x="5175397" y="3380886"/>
                    <a:pt x="5149045" y="3571816"/>
                  </a:cubicBezTo>
                  <a:cubicBezTo>
                    <a:pt x="5141154" y="3619431"/>
                    <a:pt x="5133539" y="3666889"/>
                    <a:pt x="5126572" y="3714520"/>
                  </a:cubicBezTo>
                  <a:cubicBezTo>
                    <a:pt x="5117276" y="3761759"/>
                    <a:pt x="5107793" y="3808831"/>
                    <a:pt x="5099067" y="3856108"/>
                  </a:cubicBezTo>
                  <a:lnTo>
                    <a:pt x="5095699" y="3873868"/>
                  </a:lnTo>
                  <a:lnTo>
                    <a:pt x="5091573" y="3891426"/>
                  </a:lnTo>
                  <a:lnTo>
                    <a:pt x="5083324" y="3926541"/>
                  </a:lnTo>
                  <a:lnTo>
                    <a:pt x="5067256" y="3996889"/>
                  </a:lnTo>
                  <a:cubicBezTo>
                    <a:pt x="5064451" y="4008657"/>
                    <a:pt x="5062244" y="4020353"/>
                    <a:pt x="5059194" y="4032171"/>
                  </a:cubicBezTo>
                  <a:lnTo>
                    <a:pt x="5049522" y="4067833"/>
                  </a:lnTo>
                  <a:lnTo>
                    <a:pt x="5040067" y="4103553"/>
                  </a:lnTo>
                  <a:cubicBezTo>
                    <a:pt x="5036554" y="4115363"/>
                    <a:pt x="5032689" y="4127194"/>
                    <a:pt x="5028960" y="4138946"/>
                  </a:cubicBezTo>
                  <a:cubicBezTo>
                    <a:pt x="4999693" y="4233462"/>
                    <a:pt x="4962869" y="4326764"/>
                    <a:pt x="4917351" y="4417041"/>
                  </a:cubicBezTo>
                  <a:cubicBezTo>
                    <a:pt x="4871860" y="4507209"/>
                    <a:pt x="4817597" y="4594215"/>
                    <a:pt x="4756163" y="4676402"/>
                  </a:cubicBezTo>
                  <a:cubicBezTo>
                    <a:pt x="4632803" y="4840875"/>
                    <a:pt x="4480597" y="4982783"/>
                    <a:pt x="4322493" y="5105604"/>
                  </a:cubicBezTo>
                  <a:cubicBezTo>
                    <a:pt x="4163928" y="5228420"/>
                    <a:pt x="3999564" y="5332640"/>
                    <a:pt x="3840510" y="5429590"/>
                  </a:cubicBezTo>
                  <a:cubicBezTo>
                    <a:pt x="3760954" y="5478172"/>
                    <a:pt x="3682353" y="5524924"/>
                    <a:pt x="3606447" y="5572862"/>
                  </a:cubicBezTo>
                  <a:lnTo>
                    <a:pt x="3488814" y="5647178"/>
                  </a:lnTo>
                  <a:cubicBezTo>
                    <a:pt x="3448270" y="5672597"/>
                    <a:pt x="3407323" y="5697792"/>
                    <a:pt x="3365864" y="5722735"/>
                  </a:cubicBezTo>
                  <a:cubicBezTo>
                    <a:pt x="3200163" y="5822424"/>
                    <a:pt x="3026125" y="5917328"/>
                    <a:pt x="2839486" y="5999120"/>
                  </a:cubicBezTo>
                  <a:cubicBezTo>
                    <a:pt x="2653201" y="6080891"/>
                    <a:pt x="2453560" y="6149344"/>
                    <a:pt x="2242423" y="6192346"/>
                  </a:cubicBezTo>
                  <a:cubicBezTo>
                    <a:pt x="2031719" y="6235463"/>
                    <a:pt x="1808952" y="6251353"/>
                    <a:pt x="1589380" y="6230657"/>
                  </a:cubicBezTo>
                  <a:lnTo>
                    <a:pt x="1548244" y="6226706"/>
                  </a:lnTo>
                  <a:cubicBezTo>
                    <a:pt x="1534528" y="6225117"/>
                    <a:pt x="1520898" y="6223203"/>
                    <a:pt x="1507348" y="6221428"/>
                  </a:cubicBezTo>
                  <a:lnTo>
                    <a:pt x="1466401" y="6215904"/>
                  </a:lnTo>
                  <a:cubicBezTo>
                    <a:pt x="1452772" y="6213991"/>
                    <a:pt x="1439316" y="6211428"/>
                    <a:pt x="1425773" y="6209191"/>
                  </a:cubicBezTo>
                  <a:cubicBezTo>
                    <a:pt x="1398775" y="6204391"/>
                    <a:pt x="1371610" y="6199779"/>
                    <a:pt x="1344960" y="6193681"/>
                  </a:cubicBezTo>
                  <a:cubicBezTo>
                    <a:pt x="1318251" y="6187799"/>
                    <a:pt x="1291260" y="6182538"/>
                    <a:pt x="1265007" y="6175388"/>
                  </a:cubicBezTo>
                  <a:lnTo>
                    <a:pt x="1225415" y="6165243"/>
                  </a:lnTo>
                  <a:cubicBezTo>
                    <a:pt x="1212163" y="6161924"/>
                    <a:pt x="1198939" y="6158496"/>
                    <a:pt x="1186567" y="6154486"/>
                  </a:cubicBezTo>
                  <a:lnTo>
                    <a:pt x="1111158" y="6130918"/>
                  </a:lnTo>
                  <a:lnTo>
                    <a:pt x="1035915" y="6107163"/>
                  </a:lnTo>
                  <a:cubicBezTo>
                    <a:pt x="1010846" y="6099055"/>
                    <a:pt x="986357" y="6088784"/>
                    <a:pt x="961579" y="6079594"/>
                  </a:cubicBezTo>
                  <a:cubicBezTo>
                    <a:pt x="763709" y="6005594"/>
                    <a:pt x="572401" y="5909703"/>
                    <a:pt x="395297" y="5792812"/>
                  </a:cubicBezTo>
                  <a:lnTo>
                    <a:pt x="265239" y="5701511"/>
                  </a:lnTo>
                  <a:cubicBezTo>
                    <a:pt x="254227" y="5694155"/>
                    <a:pt x="244103" y="5685646"/>
                    <a:pt x="233756" y="5677542"/>
                  </a:cubicBezTo>
                  <a:lnTo>
                    <a:pt x="202800" y="5652902"/>
                  </a:lnTo>
                  <a:lnTo>
                    <a:pt x="140918" y="5603515"/>
                  </a:lnTo>
                  <a:cubicBezTo>
                    <a:pt x="130598" y="5595302"/>
                    <a:pt x="120280" y="5587089"/>
                    <a:pt x="110625" y="5578127"/>
                  </a:cubicBezTo>
                  <a:cubicBezTo>
                    <a:pt x="105647" y="5573779"/>
                    <a:pt x="100444" y="5569834"/>
                    <a:pt x="95631" y="5565299"/>
                  </a:cubicBezTo>
                  <a:cubicBezTo>
                    <a:pt x="90955" y="5560684"/>
                    <a:pt x="86505" y="5555666"/>
                    <a:pt x="81966" y="5550973"/>
                  </a:cubicBezTo>
                  <a:lnTo>
                    <a:pt x="27991" y="5493272"/>
                  </a:lnTo>
                  <a:cubicBezTo>
                    <a:pt x="19109" y="5483589"/>
                    <a:pt x="9758" y="5474359"/>
                    <a:pt x="1454" y="5464252"/>
                  </a:cubicBezTo>
                  <a:lnTo>
                    <a:pt x="0" y="5462518"/>
                  </a:lnTo>
                  <a:lnTo>
                    <a:pt x="0" y="4720187"/>
                  </a:lnTo>
                  <a:lnTo>
                    <a:pt x="109684" y="4836724"/>
                  </a:lnTo>
                  <a:cubicBezTo>
                    <a:pt x="173316" y="4897375"/>
                    <a:pt x="239447" y="4954160"/>
                    <a:pt x="306959" y="5007200"/>
                  </a:cubicBezTo>
                  <a:lnTo>
                    <a:pt x="358101" y="5046057"/>
                  </a:lnTo>
                  <a:lnTo>
                    <a:pt x="383328" y="5065684"/>
                  </a:lnTo>
                  <a:cubicBezTo>
                    <a:pt x="391637" y="5072316"/>
                    <a:pt x="400805" y="5077902"/>
                    <a:pt x="409503" y="5083942"/>
                  </a:cubicBezTo>
                  <a:lnTo>
                    <a:pt x="461889" y="5119888"/>
                  </a:lnTo>
                  <a:cubicBezTo>
                    <a:pt x="466184" y="5122893"/>
                    <a:pt x="470616" y="5125820"/>
                    <a:pt x="474883" y="5128933"/>
                  </a:cubicBezTo>
                  <a:cubicBezTo>
                    <a:pt x="478982" y="5132235"/>
                    <a:pt x="482476" y="5136069"/>
                    <a:pt x="486410" y="5139557"/>
                  </a:cubicBezTo>
                  <a:cubicBezTo>
                    <a:pt x="494140" y="5146613"/>
                    <a:pt x="502565" y="5152812"/>
                    <a:pt x="510852" y="5159089"/>
                  </a:cubicBezTo>
                  <a:lnTo>
                    <a:pt x="560653" y="5196893"/>
                  </a:lnTo>
                  <a:lnTo>
                    <a:pt x="585485" y="5215834"/>
                  </a:lnTo>
                  <a:cubicBezTo>
                    <a:pt x="593773" y="5222111"/>
                    <a:pt x="601864" y="5228685"/>
                    <a:pt x="610707" y="5234185"/>
                  </a:cubicBezTo>
                  <a:lnTo>
                    <a:pt x="714768" y="5303103"/>
                  </a:lnTo>
                  <a:cubicBezTo>
                    <a:pt x="856162" y="5390603"/>
                    <a:pt x="1008099" y="5459947"/>
                    <a:pt x="1166634" y="5513322"/>
                  </a:cubicBezTo>
                  <a:cubicBezTo>
                    <a:pt x="1186540" y="5519932"/>
                    <a:pt x="1205774" y="5527751"/>
                    <a:pt x="1225991" y="5533632"/>
                  </a:cubicBezTo>
                  <a:lnTo>
                    <a:pt x="1286680" y="5550705"/>
                  </a:lnTo>
                  <a:lnTo>
                    <a:pt x="1347310" y="5567995"/>
                  </a:lnTo>
                  <a:cubicBezTo>
                    <a:pt x="1357469" y="5571180"/>
                    <a:pt x="1367261" y="5573572"/>
                    <a:pt x="1377002" y="5575719"/>
                  </a:cubicBezTo>
                  <a:lnTo>
                    <a:pt x="1406328" y="5582649"/>
                  </a:lnTo>
                  <a:cubicBezTo>
                    <a:pt x="1425825" y="5587757"/>
                    <a:pt x="1445490" y="5590939"/>
                    <a:pt x="1465060" y="5594909"/>
                  </a:cubicBezTo>
                  <a:cubicBezTo>
                    <a:pt x="1484652" y="5599231"/>
                    <a:pt x="1504324" y="5601952"/>
                    <a:pt x="1523881" y="5605105"/>
                  </a:cubicBezTo>
                  <a:cubicBezTo>
                    <a:pt x="1533660" y="5606682"/>
                    <a:pt x="1543460" y="5608613"/>
                    <a:pt x="1553325" y="5609865"/>
                  </a:cubicBezTo>
                  <a:lnTo>
                    <a:pt x="1582813" y="5613593"/>
                  </a:lnTo>
                  <a:lnTo>
                    <a:pt x="1612301" y="5617321"/>
                  </a:lnTo>
                  <a:lnTo>
                    <a:pt x="1641863" y="5619910"/>
                  </a:lnTo>
                  <a:cubicBezTo>
                    <a:pt x="1799348" y="5633940"/>
                    <a:pt x="1957913" y="5625770"/>
                    <a:pt x="2117508" y="5595156"/>
                  </a:cubicBezTo>
                  <a:cubicBezTo>
                    <a:pt x="2277124" y="5564895"/>
                    <a:pt x="2437004" y="5512449"/>
                    <a:pt x="2597368" y="5447381"/>
                  </a:cubicBezTo>
                  <a:cubicBezTo>
                    <a:pt x="2757791" y="5382096"/>
                    <a:pt x="2918855" y="5304464"/>
                    <a:pt x="3082968" y="5223245"/>
                  </a:cubicBezTo>
                  <a:lnTo>
                    <a:pt x="3334855" y="5097383"/>
                  </a:lnTo>
                  <a:cubicBezTo>
                    <a:pt x="3423528" y="5054142"/>
                    <a:pt x="3511773" y="5013798"/>
                    <a:pt x="3599509" y="4976217"/>
                  </a:cubicBezTo>
                  <a:cubicBezTo>
                    <a:pt x="3774960" y="4900701"/>
                    <a:pt x="3948276" y="4837481"/>
                    <a:pt x="4112002" y="4766359"/>
                  </a:cubicBezTo>
                  <a:cubicBezTo>
                    <a:pt x="4193972" y="4730827"/>
                    <a:pt x="4273429" y="4692997"/>
                    <a:pt x="4348983" y="4649833"/>
                  </a:cubicBezTo>
                  <a:cubicBezTo>
                    <a:pt x="4424508" y="4606778"/>
                    <a:pt x="4496050" y="4558250"/>
                    <a:pt x="4560505" y="4501564"/>
                  </a:cubicBezTo>
                  <a:cubicBezTo>
                    <a:pt x="4625198" y="4445289"/>
                    <a:pt x="4682991" y="4381021"/>
                    <a:pt x="4731963" y="4309870"/>
                  </a:cubicBezTo>
                  <a:cubicBezTo>
                    <a:pt x="4781043" y="4238747"/>
                    <a:pt x="4821275" y="4160848"/>
                    <a:pt x="4852344" y="4078640"/>
                  </a:cubicBezTo>
                  <a:lnTo>
                    <a:pt x="4863972" y="4047790"/>
                  </a:lnTo>
                  <a:lnTo>
                    <a:pt x="4874144" y="4016320"/>
                  </a:lnTo>
                  <a:lnTo>
                    <a:pt x="4884127" y="3984682"/>
                  </a:lnTo>
                  <a:cubicBezTo>
                    <a:pt x="4887242" y="3973925"/>
                    <a:pt x="4889981" y="3962835"/>
                    <a:pt x="4892800" y="3951883"/>
                  </a:cubicBezTo>
                  <a:lnTo>
                    <a:pt x="4909526" y="3886001"/>
                  </a:lnTo>
                  <a:lnTo>
                    <a:pt x="4917687" y="3852948"/>
                  </a:lnTo>
                  <a:lnTo>
                    <a:pt x="4921768" y="3836422"/>
                  </a:lnTo>
                  <a:lnTo>
                    <a:pt x="4924845" y="3819742"/>
                  </a:lnTo>
                  <a:cubicBezTo>
                    <a:pt x="4933092" y="3775120"/>
                    <a:pt x="4941231" y="3730469"/>
                    <a:pt x="4948230" y="3685744"/>
                  </a:cubicBezTo>
                  <a:cubicBezTo>
                    <a:pt x="4953579" y="3640694"/>
                    <a:pt x="4958249" y="3595577"/>
                    <a:pt x="4962782" y="3550540"/>
                  </a:cubicBezTo>
                  <a:cubicBezTo>
                    <a:pt x="4976580" y="3369692"/>
                    <a:pt x="4965812" y="3187942"/>
                    <a:pt x="4939468" y="3010249"/>
                  </a:cubicBezTo>
                  <a:cubicBezTo>
                    <a:pt x="4912965" y="2832281"/>
                    <a:pt x="4870237" y="2658196"/>
                    <a:pt x="4816901" y="2488224"/>
                  </a:cubicBezTo>
                  <a:cubicBezTo>
                    <a:pt x="4810197" y="2466954"/>
                    <a:pt x="4803984" y="2445582"/>
                    <a:pt x="4797005" y="2424470"/>
                  </a:cubicBezTo>
                  <a:cubicBezTo>
                    <a:pt x="4789399" y="2403537"/>
                    <a:pt x="4781686" y="2382574"/>
                    <a:pt x="4774433" y="2361620"/>
                  </a:cubicBezTo>
                  <a:lnTo>
                    <a:pt x="4752459" y="2298700"/>
                  </a:lnTo>
                  <a:lnTo>
                    <a:pt x="4728083" y="2236526"/>
                  </a:lnTo>
                  <a:cubicBezTo>
                    <a:pt x="4719957" y="2215802"/>
                    <a:pt x="4712352" y="2194869"/>
                    <a:pt x="4704471" y="2174095"/>
                  </a:cubicBezTo>
                  <a:lnTo>
                    <a:pt x="4678399" y="2112626"/>
                  </a:lnTo>
                  <a:lnTo>
                    <a:pt x="4652601" y="2050999"/>
                  </a:lnTo>
                  <a:cubicBezTo>
                    <a:pt x="4643711" y="2030533"/>
                    <a:pt x="4633616" y="2010672"/>
                    <a:pt x="4624205" y="1990415"/>
                  </a:cubicBezTo>
                  <a:lnTo>
                    <a:pt x="4595398" y="1930069"/>
                  </a:lnTo>
                  <a:cubicBezTo>
                    <a:pt x="4585714" y="1909969"/>
                    <a:pt x="4574413" y="1890713"/>
                    <a:pt x="4563827" y="1870952"/>
                  </a:cubicBezTo>
                  <a:lnTo>
                    <a:pt x="4531433" y="1812311"/>
                  </a:lnTo>
                  <a:lnTo>
                    <a:pt x="4523315" y="1797616"/>
                  </a:lnTo>
                  <a:lnTo>
                    <a:pt x="4514482" y="1783425"/>
                  </a:lnTo>
                  <a:lnTo>
                    <a:pt x="4496845" y="1754936"/>
                  </a:lnTo>
                  <a:lnTo>
                    <a:pt x="4461463" y="1697929"/>
                  </a:lnTo>
                  <a:lnTo>
                    <a:pt x="4452660" y="1683629"/>
                  </a:lnTo>
                  <a:lnTo>
                    <a:pt x="4443141" y="1669834"/>
                  </a:lnTo>
                  <a:lnTo>
                    <a:pt x="4424241" y="1642166"/>
                  </a:lnTo>
                  <a:cubicBezTo>
                    <a:pt x="4399005" y="1605265"/>
                    <a:pt x="4374512" y="1567751"/>
                    <a:pt x="4346886" y="1532412"/>
                  </a:cubicBezTo>
                  <a:cubicBezTo>
                    <a:pt x="4240477" y="1388328"/>
                    <a:pt x="4120362" y="1253437"/>
                    <a:pt x="3985497" y="1134649"/>
                  </a:cubicBezTo>
                  <a:cubicBezTo>
                    <a:pt x="3850799" y="1015675"/>
                    <a:pt x="3702920" y="911715"/>
                    <a:pt x="3545665" y="825877"/>
                  </a:cubicBezTo>
                  <a:lnTo>
                    <a:pt x="3486190" y="794756"/>
                  </a:lnTo>
                  <a:cubicBezTo>
                    <a:pt x="3466181" y="784640"/>
                    <a:pt x="3446893" y="773560"/>
                    <a:pt x="3426182" y="764765"/>
                  </a:cubicBezTo>
                  <a:lnTo>
                    <a:pt x="3365044" y="737255"/>
                  </a:lnTo>
                  <a:lnTo>
                    <a:pt x="3334529" y="723514"/>
                  </a:lnTo>
                  <a:cubicBezTo>
                    <a:pt x="3324394" y="718943"/>
                    <a:pt x="3314287" y="714265"/>
                    <a:pt x="3303733" y="710395"/>
                  </a:cubicBezTo>
                  <a:cubicBezTo>
                    <a:pt x="3262013" y="694346"/>
                    <a:pt x="3220711" y="677599"/>
                    <a:pt x="3179033" y="662259"/>
                  </a:cubicBezTo>
                  <a:lnTo>
                    <a:pt x="3052408" y="620447"/>
                  </a:lnTo>
                  <a:lnTo>
                    <a:pt x="2924325" y="584505"/>
                  </a:lnTo>
                  <a:cubicBezTo>
                    <a:pt x="2903106" y="578471"/>
                    <a:pt x="2881119" y="574434"/>
                    <a:pt x="2859667" y="569266"/>
                  </a:cubicBezTo>
                  <a:lnTo>
                    <a:pt x="2795226" y="554085"/>
                  </a:lnTo>
                  <a:cubicBezTo>
                    <a:pt x="2774078" y="548652"/>
                    <a:pt x="2751709" y="544744"/>
                    <a:pt x="2729702" y="540354"/>
                  </a:cubicBezTo>
                  <a:lnTo>
                    <a:pt x="2663758" y="527322"/>
                  </a:lnTo>
                  <a:lnTo>
                    <a:pt x="2630927" y="520495"/>
                  </a:lnTo>
                  <a:lnTo>
                    <a:pt x="2597965" y="515024"/>
                  </a:lnTo>
                  <a:cubicBezTo>
                    <a:pt x="2575970" y="511449"/>
                    <a:pt x="2554112" y="507795"/>
                    <a:pt x="2532205" y="503895"/>
                  </a:cubicBezTo>
                  <a:cubicBezTo>
                    <a:pt x="2357016" y="475037"/>
                    <a:pt x="2182954" y="456682"/>
                    <a:pt x="2010064" y="452552"/>
                  </a:cubicBezTo>
                  <a:cubicBezTo>
                    <a:pt x="1837255" y="448558"/>
                    <a:pt x="1665388" y="457916"/>
                    <a:pt x="1494552" y="485055"/>
                  </a:cubicBezTo>
                  <a:cubicBezTo>
                    <a:pt x="1452133" y="492816"/>
                    <a:pt x="1409569" y="501117"/>
                    <a:pt x="1366896" y="509389"/>
                  </a:cubicBezTo>
                  <a:cubicBezTo>
                    <a:pt x="1324862" y="520035"/>
                    <a:pt x="1282333" y="529505"/>
                    <a:pt x="1240175" y="541045"/>
                  </a:cubicBezTo>
                  <a:lnTo>
                    <a:pt x="1177438" y="560170"/>
                  </a:lnTo>
                  <a:lnTo>
                    <a:pt x="1145987" y="569826"/>
                  </a:lnTo>
                  <a:lnTo>
                    <a:pt x="1130315" y="574669"/>
                  </a:lnTo>
                  <a:lnTo>
                    <a:pt x="1114873" y="580384"/>
                  </a:lnTo>
                  <a:lnTo>
                    <a:pt x="1052839" y="602943"/>
                  </a:lnTo>
                  <a:cubicBezTo>
                    <a:pt x="1032151" y="610499"/>
                    <a:pt x="1011255" y="617535"/>
                    <a:pt x="991135" y="626866"/>
                  </a:cubicBezTo>
                  <a:lnTo>
                    <a:pt x="930179" y="653191"/>
                  </a:lnTo>
                  <a:cubicBezTo>
                    <a:pt x="909850" y="662002"/>
                    <a:pt x="889443" y="670676"/>
                    <a:pt x="869768" y="680937"/>
                  </a:cubicBezTo>
                  <a:lnTo>
                    <a:pt x="810085" y="710734"/>
                  </a:lnTo>
                  <a:cubicBezTo>
                    <a:pt x="790331" y="720859"/>
                    <a:pt x="770124" y="730514"/>
                    <a:pt x="751220" y="741794"/>
                  </a:cubicBezTo>
                  <a:cubicBezTo>
                    <a:pt x="673929" y="784955"/>
                    <a:pt x="598827" y="830326"/>
                    <a:pt x="532669" y="881688"/>
                  </a:cubicBezTo>
                  <a:cubicBezTo>
                    <a:pt x="464226" y="931625"/>
                    <a:pt x="406969" y="988270"/>
                    <a:pt x="354185" y="1050286"/>
                  </a:cubicBezTo>
                  <a:lnTo>
                    <a:pt x="315980" y="1098125"/>
                  </a:lnTo>
                  <a:lnTo>
                    <a:pt x="280345" y="1149782"/>
                  </a:lnTo>
                  <a:cubicBezTo>
                    <a:pt x="268144" y="1166335"/>
                    <a:pt x="257438" y="1185955"/>
                    <a:pt x="245890" y="1203959"/>
                  </a:cubicBezTo>
                  <a:cubicBezTo>
                    <a:pt x="234552" y="1222481"/>
                    <a:pt x="223171" y="1240298"/>
                    <a:pt x="212162" y="1260184"/>
                  </a:cubicBezTo>
                  <a:cubicBezTo>
                    <a:pt x="168299" y="1337574"/>
                    <a:pt x="125055" y="1419360"/>
                    <a:pt x="80716" y="1502476"/>
                  </a:cubicBezTo>
                  <a:lnTo>
                    <a:pt x="0" y="1648841"/>
                  </a:lnTo>
                  <a:lnTo>
                    <a:pt x="0" y="954863"/>
                  </a:lnTo>
                  <a:lnTo>
                    <a:pt x="43491" y="895513"/>
                  </a:lnTo>
                  <a:cubicBezTo>
                    <a:pt x="59888" y="874984"/>
                    <a:pt x="77014" y="854766"/>
                    <a:pt x="93923" y="834489"/>
                  </a:cubicBezTo>
                  <a:cubicBezTo>
                    <a:pt x="163245" y="754880"/>
                    <a:pt x="240806" y="679565"/>
                    <a:pt x="323465" y="617671"/>
                  </a:cubicBezTo>
                  <a:cubicBezTo>
                    <a:pt x="405002" y="553042"/>
                    <a:pt x="490132" y="499230"/>
                    <a:pt x="574777" y="446794"/>
                  </a:cubicBezTo>
                  <a:cubicBezTo>
                    <a:pt x="595733" y="433050"/>
                    <a:pt x="617442" y="421248"/>
                    <a:pt x="638943" y="408925"/>
                  </a:cubicBezTo>
                  <a:lnTo>
                    <a:pt x="703505" y="371742"/>
                  </a:lnTo>
                  <a:cubicBezTo>
                    <a:pt x="724798" y="358900"/>
                    <a:pt x="747120" y="347842"/>
                    <a:pt x="769262" y="336154"/>
                  </a:cubicBezTo>
                  <a:lnTo>
                    <a:pt x="835552" y="301173"/>
                  </a:lnTo>
                  <a:cubicBezTo>
                    <a:pt x="857427" y="289183"/>
                    <a:pt x="880470" y="278896"/>
                    <a:pt x="902979" y="268004"/>
                  </a:cubicBezTo>
                  <a:lnTo>
                    <a:pt x="971127" y="235607"/>
                  </a:lnTo>
                  <a:lnTo>
                    <a:pt x="988238" y="227556"/>
                  </a:lnTo>
                  <a:lnTo>
                    <a:pt x="1005744" y="220191"/>
                  </a:lnTo>
                  <a:lnTo>
                    <a:pt x="1040729" y="205569"/>
                  </a:lnTo>
                  <a:lnTo>
                    <a:pt x="1110835" y="176248"/>
                  </a:lnTo>
                  <a:cubicBezTo>
                    <a:pt x="1157999" y="157703"/>
                    <a:pt x="1206322" y="141323"/>
                    <a:pt x="1254256" y="123796"/>
                  </a:cubicBezTo>
                  <a:cubicBezTo>
                    <a:pt x="1302938" y="108671"/>
                    <a:pt x="1352074" y="94017"/>
                    <a:pt x="1401310" y="79852"/>
                  </a:cubicBezTo>
                  <a:cubicBezTo>
                    <a:pt x="1599497" y="26774"/>
                    <a:pt x="1806373" y="-329"/>
                    <a:pt x="2011811" y="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7" name="Freeform: Shape 26">
              <a:extLst>
                <a:ext uri="{FF2B5EF4-FFF2-40B4-BE49-F238E27FC236}">
                  <a16:creationId xmlns:a16="http://schemas.microsoft.com/office/drawing/2014/main" id="{06AC5DCC-C3CC-4FD5-AD4E-13A1BE5F7F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0" y="297400"/>
              <a:ext cx="5215811" cy="6107388"/>
            </a:xfrm>
            <a:custGeom>
              <a:avLst/>
              <a:gdLst>
                <a:gd name="connsiteX0" fmla="*/ 1869139 w 5215811"/>
                <a:gd name="connsiteY0" fmla="*/ 9 h 6107388"/>
                <a:gd name="connsiteX1" fmla="*/ 2791149 w 5215811"/>
                <a:gd name="connsiteY1" fmla="*/ 130229 h 6107388"/>
                <a:gd name="connsiteX2" fmla="*/ 4760307 w 5215811"/>
                <a:gd name="connsiteY2" fmla="*/ 1608408 h 6107388"/>
                <a:gd name="connsiteX3" fmla="*/ 5108574 w 5215811"/>
                <a:gd name="connsiteY3" fmla="*/ 4050383 h 6107388"/>
                <a:gd name="connsiteX4" fmla="*/ 3434916 w 5215811"/>
                <a:gd name="connsiteY4" fmla="*/ 5503134 h 6107388"/>
                <a:gd name="connsiteX5" fmla="*/ 1137841 w 5215811"/>
                <a:gd name="connsiteY5" fmla="*/ 6033968 h 6107388"/>
                <a:gd name="connsiteX6" fmla="*/ 217555 w 5215811"/>
                <a:gd name="connsiteY6" fmla="*/ 5598945 h 6107388"/>
                <a:gd name="connsiteX7" fmla="*/ 0 w 5215811"/>
                <a:gd name="connsiteY7" fmla="*/ 5419622 h 6107388"/>
                <a:gd name="connsiteX8" fmla="*/ 0 w 5215811"/>
                <a:gd name="connsiteY8" fmla="*/ 4571683 h 6107388"/>
                <a:gd name="connsiteX9" fmla="*/ 18056 w 5215811"/>
                <a:gd name="connsiteY9" fmla="*/ 4599282 h 6107388"/>
                <a:gd name="connsiteX10" fmla="*/ 358324 w 5215811"/>
                <a:gd name="connsiteY10" fmla="*/ 4988154 h 6107388"/>
                <a:gd name="connsiteX11" fmla="*/ 1282741 w 5215811"/>
                <a:gd name="connsiteY11" fmla="*/ 5493193 h 6107388"/>
                <a:gd name="connsiteX12" fmla="*/ 2172794 w 5215811"/>
                <a:gd name="connsiteY12" fmla="*/ 5470630 h 6107388"/>
                <a:gd name="connsiteX13" fmla="*/ 3146893 w 5215811"/>
                <a:gd name="connsiteY13" fmla="*/ 5016296 h 6107388"/>
                <a:gd name="connsiteX14" fmla="*/ 3574114 w 5215811"/>
                <a:gd name="connsiteY14" fmla="*/ 4791124 h 6107388"/>
                <a:gd name="connsiteX15" fmla="*/ 4244948 w 5215811"/>
                <a:gd name="connsiteY15" fmla="*/ 4392664 h 6107388"/>
                <a:gd name="connsiteX16" fmla="*/ 4556385 w 5215811"/>
                <a:gd name="connsiteY16" fmla="*/ 3902656 h 6107388"/>
                <a:gd name="connsiteX17" fmla="*/ 4616354 w 5215811"/>
                <a:gd name="connsiteY17" fmla="*/ 2851680 h 6107388"/>
                <a:gd name="connsiteX18" fmla="*/ 4269266 w 5215811"/>
                <a:gd name="connsiteY18" fmla="*/ 1889625 h 6107388"/>
                <a:gd name="connsiteX19" fmla="*/ 2645976 w 5215811"/>
                <a:gd name="connsiteY19" fmla="*/ 671162 h 6107388"/>
                <a:gd name="connsiteX20" fmla="*/ 1648930 w 5215811"/>
                <a:gd name="connsiteY20" fmla="*/ 573017 h 6107388"/>
                <a:gd name="connsiteX21" fmla="*/ 771768 w 5215811"/>
                <a:gd name="connsiteY21" fmla="*/ 865882 h 6107388"/>
                <a:gd name="connsiteX22" fmla="*/ 433617 w 5215811"/>
                <a:gd name="connsiteY22" fmla="*/ 1119441 h 6107388"/>
                <a:gd name="connsiteX23" fmla="*/ 200571 w 5215811"/>
                <a:gd name="connsiteY23" fmla="*/ 1486480 h 6107388"/>
                <a:gd name="connsiteX24" fmla="*/ 47077 w 5215811"/>
                <a:gd name="connsiteY24" fmla="*/ 1753604 h 6107388"/>
                <a:gd name="connsiteX25" fmla="*/ 0 w 5215811"/>
                <a:gd name="connsiteY25" fmla="*/ 1831655 h 6107388"/>
                <a:gd name="connsiteX26" fmla="*/ 0 w 5215811"/>
                <a:gd name="connsiteY26" fmla="*/ 751112 h 6107388"/>
                <a:gd name="connsiteX27" fmla="*/ 6994 w 5215811"/>
                <a:gd name="connsiteY27" fmla="*/ 742614 h 6107388"/>
                <a:gd name="connsiteX28" fmla="*/ 484047 w 5215811"/>
                <a:gd name="connsiteY28" fmla="*/ 378777 h 6107388"/>
                <a:gd name="connsiteX29" fmla="*/ 1869139 w 5215811"/>
                <a:gd name="connsiteY29" fmla="*/ 9 h 61073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215811" h="6107388">
                  <a:moveTo>
                    <a:pt x="1869139" y="9"/>
                  </a:moveTo>
                  <a:cubicBezTo>
                    <a:pt x="2160924" y="-706"/>
                    <a:pt x="2465752" y="43039"/>
                    <a:pt x="2791149" y="130229"/>
                  </a:cubicBezTo>
                  <a:cubicBezTo>
                    <a:pt x="3651198" y="360678"/>
                    <a:pt x="4339884" y="907924"/>
                    <a:pt x="4760307" y="1608408"/>
                  </a:cubicBezTo>
                  <a:cubicBezTo>
                    <a:pt x="5188180" y="2321320"/>
                    <a:pt x="5338357" y="3192822"/>
                    <a:pt x="5108574" y="4050383"/>
                  </a:cubicBezTo>
                  <a:cubicBezTo>
                    <a:pt x="4880820" y="4900373"/>
                    <a:pt x="4152841" y="5098512"/>
                    <a:pt x="3434916" y="5503134"/>
                  </a:cubicBezTo>
                  <a:cubicBezTo>
                    <a:pt x="2717099" y="5907783"/>
                    <a:pt x="2005568" y="6266474"/>
                    <a:pt x="1137841" y="6033968"/>
                  </a:cubicBezTo>
                  <a:cubicBezTo>
                    <a:pt x="783079" y="5938910"/>
                    <a:pt x="479573" y="5790114"/>
                    <a:pt x="217555" y="5598945"/>
                  </a:cubicBezTo>
                  <a:lnTo>
                    <a:pt x="0" y="5419622"/>
                  </a:lnTo>
                  <a:lnTo>
                    <a:pt x="0" y="4571683"/>
                  </a:lnTo>
                  <a:lnTo>
                    <a:pt x="18056" y="4599282"/>
                  </a:lnTo>
                  <a:cubicBezTo>
                    <a:pt x="124071" y="4746782"/>
                    <a:pt x="237002" y="4875718"/>
                    <a:pt x="358324" y="4988154"/>
                  </a:cubicBezTo>
                  <a:cubicBezTo>
                    <a:pt x="621323" y="5231809"/>
                    <a:pt x="923667" y="5396979"/>
                    <a:pt x="1282741" y="5493193"/>
                  </a:cubicBezTo>
                  <a:cubicBezTo>
                    <a:pt x="1573894" y="5571207"/>
                    <a:pt x="1856732" y="5563878"/>
                    <a:pt x="2172794" y="5470630"/>
                  </a:cubicBezTo>
                  <a:cubicBezTo>
                    <a:pt x="2498985" y="5374183"/>
                    <a:pt x="2832844" y="5193315"/>
                    <a:pt x="3146893" y="5016296"/>
                  </a:cubicBezTo>
                  <a:cubicBezTo>
                    <a:pt x="3293538" y="4933641"/>
                    <a:pt x="3436182" y="4861160"/>
                    <a:pt x="3574114" y="4791124"/>
                  </a:cubicBezTo>
                  <a:cubicBezTo>
                    <a:pt x="3841238" y="4655550"/>
                    <a:pt x="4071901" y="4538375"/>
                    <a:pt x="4244948" y="4392664"/>
                  </a:cubicBezTo>
                  <a:cubicBezTo>
                    <a:pt x="4405844" y="4257259"/>
                    <a:pt x="4501845" y="4106204"/>
                    <a:pt x="4556385" y="3902656"/>
                  </a:cubicBezTo>
                  <a:cubicBezTo>
                    <a:pt x="4649063" y="3556776"/>
                    <a:pt x="4669271" y="3203187"/>
                    <a:pt x="4616354" y="2851680"/>
                  </a:cubicBezTo>
                  <a:cubicBezTo>
                    <a:pt x="4565198" y="2511774"/>
                    <a:pt x="4448474" y="2188147"/>
                    <a:pt x="4269266" y="1889625"/>
                  </a:cubicBezTo>
                  <a:cubicBezTo>
                    <a:pt x="3907781" y="1287586"/>
                    <a:pt x="3331245" y="854780"/>
                    <a:pt x="2645976" y="671162"/>
                  </a:cubicBezTo>
                  <a:cubicBezTo>
                    <a:pt x="2278249" y="572630"/>
                    <a:pt x="1952074" y="540526"/>
                    <a:pt x="1648930" y="573017"/>
                  </a:cubicBezTo>
                  <a:cubicBezTo>
                    <a:pt x="1351746" y="604901"/>
                    <a:pt x="1064785" y="700731"/>
                    <a:pt x="771768" y="865882"/>
                  </a:cubicBezTo>
                  <a:cubicBezTo>
                    <a:pt x="568061" y="980657"/>
                    <a:pt x="486465" y="1058486"/>
                    <a:pt x="433617" y="1119441"/>
                  </a:cubicBezTo>
                  <a:cubicBezTo>
                    <a:pt x="358307" y="1206256"/>
                    <a:pt x="292149" y="1323808"/>
                    <a:pt x="200571" y="1486480"/>
                  </a:cubicBezTo>
                  <a:cubicBezTo>
                    <a:pt x="156644" y="1564432"/>
                    <a:pt x="106654" y="1653214"/>
                    <a:pt x="47077" y="1753604"/>
                  </a:cubicBezTo>
                  <a:lnTo>
                    <a:pt x="0" y="1831655"/>
                  </a:lnTo>
                  <a:lnTo>
                    <a:pt x="0" y="751112"/>
                  </a:lnTo>
                  <a:lnTo>
                    <a:pt x="6994" y="742614"/>
                  </a:lnTo>
                  <a:cubicBezTo>
                    <a:pt x="117721" y="617683"/>
                    <a:pt x="259696" y="505222"/>
                    <a:pt x="484047" y="378777"/>
                  </a:cubicBezTo>
                  <a:cubicBezTo>
                    <a:pt x="932751" y="125890"/>
                    <a:pt x="1382831" y="1200"/>
                    <a:pt x="1869139" y="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8" name="Freeform: Shape 27">
              <a:extLst>
                <a:ext uri="{FF2B5EF4-FFF2-40B4-BE49-F238E27FC236}">
                  <a16:creationId xmlns:a16="http://schemas.microsoft.com/office/drawing/2014/main" id="{4BBCC2F4-EFA7-4AF4-B538-AC4022D90F4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1" y="319367"/>
              <a:ext cx="5217956" cy="6100079"/>
            </a:xfrm>
            <a:custGeom>
              <a:avLst/>
              <a:gdLst>
                <a:gd name="connsiteX0" fmla="*/ 1951393 w 5217956"/>
                <a:gd name="connsiteY0" fmla="*/ 82 h 6100079"/>
                <a:gd name="connsiteX1" fmla="*/ 2855177 w 5217956"/>
                <a:gd name="connsiteY1" fmla="*/ 125419 h 6100079"/>
                <a:gd name="connsiteX2" fmla="*/ 4779341 w 5217956"/>
                <a:gd name="connsiteY2" fmla="*/ 1591542 h 6100079"/>
                <a:gd name="connsiteX3" fmla="*/ 5108573 w 5217956"/>
                <a:gd name="connsiteY3" fmla="*/ 4028416 h 6100079"/>
                <a:gd name="connsiteX4" fmla="*/ 3459358 w 5217956"/>
                <a:gd name="connsiteY4" fmla="*/ 5487716 h 6100079"/>
                <a:gd name="connsiteX5" fmla="*/ 1203274 w 5217956"/>
                <a:gd name="connsiteY5" fmla="*/ 6029534 h 6100079"/>
                <a:gd name="connsiteX6" fmla="*/ 59920 w 5217956"/>
                <a:gd name="connsiteY6" fmla="*/ 5396467 h 6100079"/>
                <a:gd name="connsiteX7" fmla="*/ 0 w 5217956"/>
                <a:gd name="connsiteY7" fmla="*/ 5333382 h 6100079"/>
                <a:gd name="connsiteX8" fmla="*/ 0 w 5217956"/>
                <a:gd name="connsiteY8" fmla="*/ 4205833 h 6100079"/>
                <a:gd name="connsiteX9" fmla="*/ 58036 w 5217956"/>
                <a:gd name="connsiteY9" fmla="*/ 4310048 h 6100079"/>
                <a:gd name="connsiteX10" fmla="*/ 520779 w 5217956"/>
                <a:gd name="connsiteY10" fmla="*/ 4907591 h 6100079"/>
                <a:gd name="connsiteX11" fmla="*/ 1377154 w 5217956"/>
                <a:gd name="connsiteY11" fmla="*/ 5380604 h 6100079"/>
                <a:gd name="connsiteX12" fmla="*/ 3123340 w 5217956"/>
                <a:gd name="connsiteY12" fmla="*/ 4905715 h 6100079"/>
                <a:gd name="connsiteX13" fmla="*/ 3547863 w 5217956"/>
                <a:gd name="connsiteY13" fmla="*/ 4676342 h 6100079"/>
                <a:gd name="connsiteX14" fmla="*/ 4186753 w 5217956"/>
                <a:gd name="connsiteY14" fmla="*/ 4289376 h 6100079"/>
                <a:gd name="connsiteX15" fmla="*/ 4459565 w 5217956"/>
                <a:gd name="connsiteY15" fmla="*/ 3854399 h 6100079"/>
                <a:gd name="connsiteX16" fmla="*/ 4521015 w 5217956"/>
                <a:gd name="connsiteY16" fmla="*/ 2849377 h 6100079"/>
                <a:gd name="connsiteX17" fmla="*/ 4199723 w 5217956"/>
                <a:gd name="connsiteY17" fmla="*/ 1931213 h 6100079"/>
                <a:gd name="connsiteX18" fmla="*/ 2681217 w 5217956"/>
                <a:gd name="connsiteY18" fmla="*/ 774211 h 6100079"/>
                <a:gd name="connsiteX19" fmla="*/ 926547 w 5217956"/>
                <a:gd name="connsiteY19" fmla="*/ 967112 h 6100079"/>
                <a:gd name="connsiteX20" fmla="*/ 622677 w 5217956"/>
                <a:gd name="connsiteY20" fmla="*/ 1197863 h 6100079"/>
                <a:gd name="connsiteX21" fmla="*/ 404892 w 5217956"/>
                <a:gd name="connsiteY21" fmla="*/ 1547314 h 6100079"/>
                <a:gd name="connsiteX22" fmla="*/ 40135 w 5217956"/>
                <a:gd name="connsiteY22" fmla="*/ 2159090 h 6100079"/>
                <a:gd name="connsiteX23" fmla="*/ 0 w 5217956"/>
                <a:gd name="connsiteY23" fmla="*/ 2219367 h 6100079"/>
                <a:gd name="connsiteX24" fmla="*/ 0 w 5217956"/>
                <a:gd name="connsiteY24" fmla="*/ 915659 h 6100079"/>
                <a:gd name="connsiteX25" fmla="*/ 58609 w 5217956"/>
                <a:gd name="connsiteY25" fmla="*/ 828051 h 6100079"/>
                <a:gd name="connsiteX26" fmla="*/ 590688 w 5217956"/>
                <a:gd name="connsiteY26" fmla="*/ 385385 h 6100079"/>
                <a:gd name="connsiteX27" fmla="*/ 1951393 w 5217956"/>
                <a:gd name="connsiteY27" fmla="*/ 82 h 6100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5217956" h="6100079">
                  <a:moveTo>
                    <a:pt x="1951393" y="82"/>
                  </a:moveTo>
                  <a:cubicBezTo>
                    <a:pt x="2237631" y="-2119"/>
                    <a:pt x="2536431" y="40011"/>
                    <a:pt x="2855177" y="125419"/>
                  </a:cubicBezTo>
                  <a:cubicBezTo>
                    <a:pt x="3697704" y="351173"/>
                    <a:pt x="4370490" y="894159"/>
                    <a:pt x="4779341" y="1591542"/>
                  </a:cubicBezTo>
                  <a:cubicBezTo>
                    <a:pt x="5195534" y="2301324"/>
                    <a:pt x="5338356" y="3170855"/>
                    <a:pt x="5108573" y="4028416"/>
                  </a:cubicBezTo>
                  <a:cubicBezTo>
                    <a:pt x="4880819" y="4878406"/>
                    <a:pt x="4165603" y="5079965"/>
                    <a:pt x="3459358" y="5487716"/>
                  </a:cubicBezTo>
                  <a:cubicBezTo>
                    <a:pt x="2753114" y="5895466"/>
                    <a:pt x="2053264" y="6257288"/>
                    <a:pt x="1203274" y="6029534"/>
                  </a:cubicBezTo>
                  <a:cubicBezTo>
                    <a:pt x="739884" y="5905369"/>
                    <a:pt x="366399" y="5685345"/>
                    <a:pt x="59920" y="5396467"/>
                  </a:cubicBezTo>
                  <a:lnTo>
                    <a:pt x="0" y="5333382"/>
                  </a:lnTo>
                  <a:lnTo>
                    <a:pt x="0" y="4205833"/>
                  </a:lnTo>
                  <a:lnTo>
                    <a:pt x="58036" y="4310048"/>
                  </a:lnTo>
                  <a:cubicBezTo>
                    <a:pt x="197935" y="4550245"/>
                    <a:pt x="350594" y="4747142"/>
                    <a:pt x="520779" y="4907591"/>
                  </a:cubicBezTo>
                  <a:cubicBezTo>
                    <a:pt x="763600" y="5136565"/>
                    <a:pt x="1043821" y="5291288"/>
                    <a:pt x="1377154" y="5380604"/>
                  </a:cubicBezTo>
                  <a:cubicBezTo>
                    <a:pt x="1963029" y="5537589"/>
                    <a:pt x="2470519" y="5282804"/>
                    <a:pt x="3123340" y="4905715"/>
                  </a:cubicBezTo>
                  <a:cubicBezTo>
                    <a:pt x="3269800" y="4821157"/>
                    <a:pt x="3411134" y="4747512"/>
                    <a:pt x="3547863" y="4676342"/>
                  </a:cubicBezTo>
                  <a:cubicBezTo>
                    <a:pt x="3804497" y="4542710"/>
                    <a:pt x="4026085" y="4427393"/>
                    <a:pt x="4186753" y="4289376"/>
                  </a:cubicBezTo>
                  <a:cubicBezTo>
                    <a:pt x="4329009" y="4167293"/>
                    <a:pt x="4410589" y="4037181"/>
                    <a:pt x="4459565" y="3854399"/>
                  </a:cubicBezTo>
                  <a:cubicBezTo>
                    <a:pt x="4548302" y="3523229"/>
                    <a:pt x="4568981" y="3185183"/>
                    <a:pt x="4521015" y="2849377"/>
                  </a:cubicBezTo>
                  <a:cubicBezTo>
                    <a:pt x="4474709" y="2524680"/>
                    <a:pt x="4366564" y="2215756"/>
                    <a:pt x="4199723" y="1931213"/>
                  </a:cubicBezTo>
                  <a:cubicBezTo>
                    <a:pt x="3863270" y="1357325"/>
                    <a:pt x="3323982" y="946439"/>
                    <a:pt x="2681217" y="774211"/>
                  </a:cubicBezTo>
                  <a:cubicBezTo>
                    <a:pt x="2001139" y="591984"/>
                    <a:pt x="1476322" y="649699"/>
                    <a:pt x="926547" y="967112"/>
                  </a:cubicBezTo>
                  <a:cubicBezTo>
                    <a:pt x="740730" y="1074393"/>
                    <a:pt x="668642" y="1143989"/>
                    <a:pt x="622677" y="1197863"/>
                  </a:cubicBezTo>
                  <a:cubicBezTo>
                    <a:pt x="555599" y="1276450"/>
                    <a:pt x="492360" y="1390031"/>
                    <a:pt x="404892" y="1547314"/>
                  </a:cubicBezTo>
                  <a:cubicBezTo>
                    <a:pt x="317047" y="1705133"/>
                    <a:pt x="204816" y="1906756"/>
                    <a:pt x="40135" y="2159090"/>
                  </a:cubicBezTo>
                  <a:lnTo>
                    <a:pt x="0" y="2219367"/>
                  </a:lnTo>
                  <a:lnTo>
                    <a:pt x="0" y="915659"/>
                  </a:lnTo>
                  <a:lnTo>
                    <a:pt x="58609" y="828051"/>
                  </a:lnTo>
                  <a:cubicBezTo>
                    <a:pt x="177453" y="670481"/>
                    <a:pt x="325846" y="538291"/>
                    <a:pt x="590688" y="385385"/>
                  </a:cubicBezTo>
                  <a:cubicBezTo>
                    <a:pt x="1032158" y="130559"/>
                    <a:pt x="1474329" y="3750"/>
                    <a:pt x="1951393" y="8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9" name="Freeform: Shape 28">
              <a:extLst>
                <a:ext uri="{FF2B5EF4-FFF2-40B4-BE49-F238E27FC236}">
                  <a16:creationId xmlns:a16="http://schemas.microsoft.com/office/drawing/2014/main" id="{2A9D1364-B6A3-44CB-9FBA-C528F0CE90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0" y="319367"/>
              <a:ext cx="5217957" cy="6100079"/>
            </a:xfrm>
            <a:custGeom>
              <a:avLst/>
              <a:gdLst>
                <a:gd name="connsiteX0" fmla="*/ 1951394 w 5217957"/>
                <a:gd name="connsiteY0" fmla="*/ 82 h 6100079"/>
                <a:gd name="connsiteX1" fmla="*/ 2855178 w 5217957"/>
                <a:gd name="connsiteY1" fmla="*/ 125419 h 6100079"/>
                <a:gd name="connsiteX2" fmla="*/ 4779341 w 5217957"/>
                <a:gd name="connsiteY2" fmla="*/ 1591542 h 6100079"/>
                <a:gd name="connsiteX3" fmla="*/ 5108574 w 5217957"/>
                <a:gd name="connsiteY3" fmla="*/ 4028416 h 6100079"/>
                <a:gd name="connsiteX4" fmla="*/ 3459359 w 5217957"/>
                <a:gd name="connsiteY4" fmla="*/ 5487716 h 6100079"/>
                <a:gd name="connsiteX5" fmla="*/ 1203275 w 5217957"/>
                <a:gd name="connsiteY5" fmla="*/ 6029534 h 6100079"/>
                <a:gd name="connsiteX6" fmla="*/ 59921 w 5217957"/>
                <a:gd name="connsiteY6" fmla="*/ 5396467 h 6100079"/>
                <a:gd name="connsiteX7" fmla="*/ 0 w 5217957"/>
                <a:gd name="connsiteY7" fmla="*/ 5333381 h 6100079"/>
                <a:gd name="connsiteX8" fmla="*/ 0 w 5217957"/>
                <a:gd name="connsiteY8" fmla="*/ 4427327 h 6100079"/>
                <a:gd name="connsiteX9" fmla="*/ 112056 w 5217957"/>
                <a:gd name="connsiteY9" fmla="*/ 4602502 h 6100079"/>
                <a:gd name="connsiteX10" fmla="*/ 443875 w 5217957"/>
                <a:gd name="connsiteY10" fmla="*/ 4989110 h 6100079"/>
                <a:gd name="connsiteX11" fmla="*/ 1348175 w 5217957"/>
                <a:gd name="connsiteY11" fmla="*/ 5488759 h 6100079"/>
                <a:gd name="connsiteX12" fmla="*/ 2221463 w 5217957"/>
                <a:gd name="connsiteY12" fmla="*/ 5461704 h 6100079"/>
                <a:gd name="connsiteX13" fmla="*/ 3179339 w 5217957"/>
                <a:gd name="connsiteY13" fmla="*/ 5003023 h 6100079"/>
                <a:gd name="connsiteX14" fmla="*/ 3599638 w 5217957"/>
                <a:gd name="connsiteY14" fmla="*/ 4775996 h 6100079"/>
                <a:gd name="connsiteX15" fmla="*/ 4259765 w 5217957"/>
                <a:gd name="connsiteY15" fmla="*/ 4374667 h 6100079"/>
                <a:gd name="connsiteX16" fmla="*/ 4567742 w 5217957"/>
                <a:gd name="connsiteY16" fmla="*/ 3883732 h 6100079"/>
                <a:gd name="connsiteX17" fmla="*/ 4631929 w 5217957"/>
                <a:gd name="connsiteY17" fmla="*/ 2833886 h 6100079"/>
                <a:gd name="connsiteX18" fmla="*/ 4296412 w 5217957"/>
                <a:gd name="connsiteY18" fmla="*/ 1874932 h 6100079"/>
                <a:gd name="connsiteX19" fmla="*/ 2710219 w 5217957"/>
                <a:gd name="connsiteY19" fmla="*/ 666410 h 6100079"/>
                <a:gd name="connsiteX20" fmla="*/ 1732642 w 5217957"/>
                <a:gd name="connsiteY20" fmla="*/ 573480 h 6100079"/>
                <a:gd name="connsiteX21" fmla="*/ 870621 w 5217957"/>
                <a:gd name="connsiteY21" fmla="*/ 870402 h 6100079"/>
                <a:gd name="connsiteX22" fmla="*/ 537555 w 5217957"/>
                <a:gd name="connsiteY22" fmla="*/ 1125324 h 6100079"/>
                <a:gd name="connsiteX23" fmla="*/ 306995 w 5217957"/>
                <a:gd name="connsiteY23" fmla="*/ 1493030 h 6100079"/>
                <a:gd name="connsiteX24" fmla="*/ 23579 w 5217957"/>
                <a:gd name="connsiteY24" fmla="*/ 1977465 h 6100079"/>
                <a:gd name="connsiteX25" fmla="*/ 0 w 5217957"/>
                <a:gd name="connsiteY25" fmla="*/ 2014291 h 6100079"/>
                <a:gd name="connsiteX26" fmla="*/ 0 w 5217957"/>
                <a:gd name="connsiteY26" fmla="*/ 915660 h 6100079"/>
                <a:gd name="connsiteX27" fmla="*/ 58609 w 5217957"/>
                <a:gd name="connsiteY27" fmla="*/ 828051 h 6100079"/>
                <a:gd name="connsiteX28" fmla="*/ 590689 w 5217957"/>
                <a:gd name="connsiteY28" fmla="*/ 385385 h 6100079"/>
                <a:gd name="connsiteX29" fmla="*/ 1951394 w 5217957"/>
                <a:gd name="connsiteY29" fmla="*/ 82 h 6100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217957" h="6100079">
                  <a:moveTo>
                    <a:pt x="1951394" y="82"/>
                  </a:moveTo>
                  <a:cubicBezTo>
                    <a:pt x="2237632" y="-2119"/>
                    <a:pt x="2536431" y="40011"/>
                    <a:pt x="2855178" y="125419"/>
                  </a:cubicBezTo>
                  <a:cubicBezTo>
                    <a:pt x="3697704" y="351173"/>
                    <a:pt x="4370491" y="894159"/>
                    <a:pt x="4779341" y="1591542"/>
                  </a:cubicBezTo>
                  <a:cubicBezTo>
                    <a:pt x="5195535" y="2301324"/>
                    <a:pt x="5338357" y="3170855"/>
                    <a:pt x="5108574" y="4028416"/>
                  </a:cubicBezTo>
                  <a:cubicBezTo>
                    <a:pt x="4880820" y="4878406"/>
                    <a:pt x="4165604" y="5079965"/>
                    <a:pt x="3459359" y="5487716"/>
                  </a:cubicBezTo>
                  <a:cubicBezTo>
                    <a:pt x="2753115" y="5895466"/>
                    <a:pt x="2053265" y="6257288"/>
                    <a:pt x="1203275" y="6029534"/>
                  </a:cubicBezTo>
                  <a:cubicBezTo>
                    <a:pt x="739885" y="5905369"/>
                    <a:pt x="366400" y="5685345"/>
                    <a:pt x="59921" y="5396467"/>
                  </a:cubicBezTo>
                  <a:lnTo>
                    <a:pt x="0" y="5333381"/>
                  </a:lnTo>
                  <a:lnTo>
                    <a:pt x="0" y="4427327"/>
                  </a:lnTo>
                  <a:lnTo>
                    <a:pt x="112056" y="4602502"/>
                  </a:lnTo>
                  <a:cubicBezTo>
                    <a:pt x="215300" y="4749260"/>
                    <a:pt x="325419" y="4877443"/>
                    <a:pt x="443875" y="4989110"/>
                  </a:cubicBezTo>
                  <a:cubicBezTo>
                    <a:pt x="700709" y="5231113"/>
                    <a:pt x="996455" y="5394516"/>
                    <a:pt x="1348175" y="5488759"/>
                  </a:cubicBezTo>
                  <a:cubicBezTo>
                    <a:pt x="1633379" y="5565179"/>
                    <a:pt x="1910917" y="5556430"/>
                    <a:pt x="2221463" y="5461704"/>
                  </a:cubicBezTo>
                  <a:cubicBezTo>
                    <a:pt x="2541923" y="5363721"/>
                    <a:pt x="2870374" y="5181404"/>
                    <a:pt x="3179339" y="5003023"/>
                  </a:cubicBezTo>
                  <a:cubicBezTo>
                    <a:pt x="3323713" y="4919760"/>
                    <a:pt x="3463978" y="4846641"/>
                    <a:pt x="3599638" y="4775996"/>
                  </a:cubicBezTo>
                  <a:cubicBezTo>
                    <a:pt x="3862436" y="4639263"/>
                    <a:pt x="4089314" y="4521074"/>
                    <a:pt x="4259765" y="4374667"/>
                  </a:cubicBezTo>
                  <a:cubicBezTo>
                    <a:pt x="4418282" y="4238625"/>
                    <a:pt x="4513201" y="4087280"/>
                    <a:pt x="4567742" y="3883732"/>
                  </a:cubicBezTo>
                  <a:cubicBezTo>
                    <a:pt x="4660420" y="3537853"/>
                    <a:pt x="4682033" y="3184640"/>
                    <a:pt x="4631929" y="2833886"/>
                  </a:cubicBezTo>
                  <a:cubicBezTo>
                    <a:pt x="4583584" y="2494734"/>
                    <a:pt x="4470646" y="2172121"/>
                    <a:pt x="4296412" y="1874932"/>
                  </a:cubicBezTo>
                  <a:cubicBezTo>
                    <a:pt x="3944879" y="1275559"/>
                    <a:pt x="3381537" y="846289"/>
                    <a:pt x="2710219" y="666410"/>
                  </a:cubicBezTo>
                  <a:cubicBezTo>
                    <a:pt x="2349955" y="569877"/>
                    <a:pt x="2030161" y="539483"/>
                    <a:pt x="1732642" y="573480"/>
                  </a:cubicBezTo>
                  <a:cubicBezTo>
                    <a:pt x="1440866" y="606814"/>
                    <a:pt x="1158880" y="703976"/>
                    <a:pt x="870621" y="870402"/>
                  </a:cubicBezTo>
                  <a:cubicBezTo>
                    <a:pt x="670160" y="986048"/>
                    <a:pt x="589753" y="1064195"/>
                    <a:pt x="537555" y="1125324"/>
                  </a:cubicBezTo>
                  <a:cubicBezTo>
                    <a:pt x="463218" y="1212400"/>
                    <a:pt x="397708" y="1330125"/>
                    <a:pt x="306995" y="1493030"/>
                  </a:cubicBezTo>
                  <a:cubicBezTo>
                    <a:pt x="234596" y="1623167"/>
                    <a:pt x="145436" y="1783409"/>
                    <a:pt x="23579" y="1977465"/>
                  </a:cubicBezTo>
                  <a:lnTo>
                    <a:pt x="0" y="2014291"/>
                  </a:lnTo>
                  <a:lnTo>
                    <a:pt x="0" y="915660"/>
                  </a:lnTo>
                  <a:lnTo>
                    <a:pt x="58609" y="828051"/>
                  </a:lnTo>
                  <a:cubicBezTo>
                    <a:pt x="177453" y="670481"/>
                    <a:pt x="325847" y="538291"/>
                    <a:pt x="590689" y="385385"/>
                  </a:cubicBezTo>
                  <a:cubicBezTo>
                    <a:pt x="1032159" y="130559"/>
                    <a:pt x="1474330" y="3750"/>
                    <a:pt x="1951394" y="8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 name="Title 1">
            <a:extLst>
              <a:ext uri="{FF2B5EF4-FFF2-40B4-BE49-F238E27FC236}">
                <a16:creationId xmlns:a16="http://schemas.microsoft.com/office/drawing/2014/main" id="{0EE4CA6A-10B4-4CC3-C0D5-CADA5DEFBDBD}"/>
              </a:ext>
            </a:extLst>
          </p:cNvPr>
          <p:cNvSpPr>
            <a:spLocks noGrp="1"/>
          </p:cNvSpPr>
          <p:nvPr>
            <p:ph type="title"/>
          </p:nvPr>
        </p:nvSpPr>
        <p:spPr>
          <a:xfrm>
            <a:off x="640080" y="1243013"/>
            <a:ext cx="3855720" cy="4371974"/>
          </a:xfrm>
        </p:spPr>
        <p:txBody>
          <a:bodyPr>
            <a:normAutofit/>
          </a:bodyPr>
          <a:lstStyle/>
          <a:p>
            <a:r>
              <a:rPr lang="en-CA" sz="3600">
                <a:solidFill>
                  <a:schemeClr val="tx2"/>
                </a:solidFill>
              </a:rPr>
              <a:t>Deployment Workflow</a:t>
            </a:r>
          </a:p>
        </p:txBody>
      </p:sp>
      <p:sp>
        <p:nvSpPr>
          <p:cNvPr id="3" name="Content Placeholder 2">
            <a:extLst>
              <a:ext uri="{FF2B5EF4-FFF2-40B4-BE49-F238E27FC236}">
                <a16:creationId xmlns:a16="http://schemas.microsoft.com/office/drawing/2014/main" id="{2CE629F2-CF58-13EC-1A52-26F7206BADB8}"/>
              </a:ext>
            </a:extLst>
          </p:cNvPr>
          <p:cNvSpPr>
            <a:spLocks noGrp="1"/>
          </p:cNvSpPr>
          <p:nvPr>
            <p:ph idx="1"/>
          </p:nvPr>
        </p:nvSpPr>
        <p:spPr>
          <a:xfrm>
            <a:off x="6172200" y="804672"/>
            <a:ext cx="5221224" cy="5230368"/>
          </a:xfrm>
        </p:spPr>
        <p:txBody>
          <a:bodyPr anchor="ctr">
            <a:normAutofit/>
          </a:bodyPr>
          <a:lstStyle/>
          <a:p>
            <a:r>
              <a:rPr lang="en-CA" sz="2400" dirty="0">
                <a:solidFill>
                  <a:schemeClr val="tx2"/>
                </a:solidFill>
              </a:rPr>
              <a:t>Uses [deployment] agent who will have expertise and knowledge of Terraform, Azure CLI, YAML, GitHub actions.</a:t>
            </a:r>
          </a:p>
          <a:p>
            <a:r>
              <a:rPr lang="en-CA" sz="2400" dirty="0">
                <a:solidFill>
                  <a:schemeClr val="tx2"/>
                </a:solidFill>
              </a:rPr>
              <a:t>Inspect solution to ensure components support automated deployment</a:t>
            </a:r>
          </a:p>
          <a:p>
            <a:r>
              <a:rPr lang="en-CA" sz="2400" dirty="0">
                <a:solidFill>
                  <a:schemeClr val="tx2"/>
                </a:solidFill>
              </a:rPr>
              <a:t>Create terraform and scripts for deployment</a:t>
            </a:r>
          </a:p>
          <a:p>
            <a:r>
              <a:rPr lang="en-CA" sz="2400" dirty="0">
                <a:solidFill>
                  <a:schemeClr val="tx2"/>
                </a:solidFill>
              </a:rPr>
              <a:t>Ensure environment consistency</a:t>
            </a:r>
          </a:p>
          <a:p>
            <a:r>
              <a:rPr lang="en-CA" sz="2400" dirty="0">
                <a:solidFill>
                  <a:schemeClr val="tx2"/>
                </a:solidFill>
              </a:rPr>
              <a:t>Ensure secrets remain secret</a:t>
            </a:r>
          </a:p>
          <a:p>
            <a:r>
              <a:rPr lang="en-CA" sz="2400" dirty="0">
                <a:solidFill>
                  <a:schemeClr val="tx2"/>
                </a:solidFill>
              </a:rPr>
              <a:t>Ensure code can be deployed to an environment</a:t>
            </a:r>
          </a:p>
        </p:txBody>
      </p:sp>
    </p:spTree>
    <p:extLst>
      <p:ext uri="{BB962C8B-B14F-4D97-AF65-F5344CB8AC3E}">
        <p14:creationId xmlns:p14="http://schemas.microsoft.com/office/powerpoint/2010/main" val="243176565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3" name="Rectangle 22">
            <a:extLst>
              <a:ext uri="{FF2B5EF4-FFF2-40B4-BE49-F238E27FC236}">
                <a16:creationId xmlns:a16="http://schemas.microsoft.com/office/drawing/2014/main" id="{08953E74-D241-4DDF-8508-F0365EA13A9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Freeform: Shape 23">
            <a:extLst>
              <a:ext uri="{FF2B5EF4-FFF2-40B4-BE49-F238E27FC236}">
                <a16:creationId xmlns:a16="http://schemas.microsoft.com/office/drawing/2014/main" id="{5C3C901A-B2F4-4A3C-BCDD-7C8D587ECA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0" y="0"/>
            <a:ext cx="12192000" cy="2371134"/>
          </a:xfrm>
          <a:custGeom>
            <a:avLst/>
            <a:gdLst>
              <a:gd name="connsiteX0" fmla="*/ 0 w 12192000"/>
              <a:gd name="connsiteY0" fmla="*/ 0 h 2515690"/>
              <a:gd name="connsiteX1" fmla="*/ 170442 w 12192000"/>
              <a:gd name="connsiteY1" fmla="*/ 96074 h 2515690"/>
              <a:gd name="connsiteX2" fmla="*/ 424739 w 12192000"/>
              <a:gd name="connsiteY2" fmla="*/ 224865 h 2515690"/>
              <a:gd name="connsiteX3" fmla="*/ 748273 w 12192000"/>
              <a:gd name="connsiteY3" fmla="*/ 373939 h 2515690"/>
              <a:gd name="connsiteX4" fmla="*/ 1037058 w 12192000"/>
              <a:gd name="connsiteY4" fmla="*/ 499994 h 2515690"/>
              <a:gd name="connsiteX5" fmla="*/ 1101312 w 12192000"/>
              <a:gd name="connsiteY5" fmla="*/ 428540 h 2515690"/>
              <a:gd name="connsiteX6" fmla="*/ 1367071 w 12192000"/>
              <a:gd name="connsiteY6" fmla="*/ 516118 h 2515690"/>
              <a:gd name="connsiteX7" fmla="*/ 2189943 w 12192000"/>
              <a:gd name="connsiteY7" fmla="*/ 794533 h 2515690"/>
              <a:gd name="connsiteX8" fmla="*/ 2390329 w 12192000"/>
              <a:gd name="connsiteY8" fmla="*/ 920897 h 2515690"/>
              <a:gd name="connsiteX9" fmla="*/ 2459570 w 12192000"/>
              <a:gd name="connsiteY9" fmla="*/ 983740 h 2515690"/>
              <a:gd name="connsiteX10" fmla="*/ 2503252 w 12192000"/>
              <a:gd name="connsiteY10" fmla="*/ 1000151 h 2515690"/>
              <a:gd name="connsiteX11" fmla="*/ 2503252 w 12192000"/>
              <a:gd name="connsiteY11" fmla="*/ 1008273 h 2515690"/>
              <a:gd name="connsiteX12" fmla="*/ 2511191 w 12192000"/>
              <a:gd name="connsiteY12" fmla="*/ 1009499 h 2515690"/>
              <a:gd name="connsiteX13" fmla="*/ 2565029 w 12192000"/>
              <a:gd name="connsiteY13" fmla="*/ 1015977 h 2515690"/>
              <a:gd name="connsiteX14" fmla="*/ 2593745 w 12192000"/>
              <a:gd name="connsiteY14" fmla="*/ 1019963 h 2515690"/>
              <a:gd name="connsiteX15" fmla="*/ 2591015 w 12192000"/>
              <a:gd name="connsiteY15" fmla="*/ 1019651 h 2515690"/>
              <a:gd name="connsiteX16" fmla="*/ 2590137 w 12192000"/>
              <a:gd name="connsiteY16" fmla="*/ 1019549 h 2515690"/>
              <a:gd name="connsiteX17" fmla="*/ 2589021 w 12192000"/>
              <a:gd name="connsiteY17" fmla="*/ 1019424 h 2515690"/>
              <a:gd name="connsiteX18" fmla="*/ 2591015 w 12192000"/>
              <a:gd name="connsiteY18" fmla="*/ 1019651 h 2515690"/>
              <a:gd name="connsiteX19" fmla="*/ 2602385 w 12192000"/>
              <a:gd name="connsiteY19" fmla="*/ 1020975 h 2515690"/>
              <a:gd name="connsiteX20" fmla="*/ 2614445 w 12192000"/>
              <a:gd name="connsiteY20" fmla="*/ 1022389 h 2515690"/>
              <a:gd name="connsiteX21" fmla="*/ 2614445 w 12192000"/>
              <a:gd name="connsiteY21" fmla="*/ 1020966 h 2515690"/>
              <a:gd name="connsiteX22" fmla="*/ 2676661 w 12192000"/>
              <a:gd name="connsiteY22" fmla="*/ 1029355 h 2515690"/>
              <a:gd name="connsiteX23" fmla="*/ 2788597 w 12192000"/>
              <a:gd name="connsiteY23" fmla="*/ 1048926 h 2515690"/>
              <a:gd name="connsiteX24" fmla="*/ 2812742 w 12192000"/>
              <a:gd name="connsiteY24" fmla="*/ 1057667 h 2515690"/>
              <a:gd name="connsiteX25" fmla="*/ 2970201 w 12192000"/>
              <a:gd name="connsiteY25" fmla="*/ 949091 h 2515690"/>
              <a:gd name="connsiteX26" fmla="*/ 3030610 w 12192000"/>
              <a:gd name="connsiteY26" fmla="*/ 1049340 h 2515690"/>
              <a:gd name="connsiteX27" fmla="*/ 3058913 w 12192000"/>
              <a:gd name="connsiteY27" fmla="*/ 1048085 h 2515690"/>
              <a:gd name="connsiteX28" fmla="*/ 3072697 w 12192000"/>
              <a:gd name="connsiteY28" fmla="*/ 1045316 h 2515690"/>
              <a:gd name="connsiteX29" fmla="*/ 3083305 w 12192000"/>
              <a:gd name="connsiteY29" fmla="*/ 1040550 h 2515690"/>
              <a:gd name="connsiteX30" fmla="*/ 3125603 w 12192000"/>
              <a:gd name="connsiteY30" fmla="*/ 1004583 h 2515690"/>
              <a:gd name="connsiteX31" fmla="*/ 3385106 w 12192000"/>
              <a:gd name="connsiteY31" fmla="*/ 1042233 h 2515690"/>
              <a:gd name="connsiteX32" fmla="*/ 3424945 w 12192000"/>
              <a:gd name="connsiteY32" fmla="*/ 1065268 h 2515690"/>
              <a:gd name="connsiteX33" fmla="*/ 3436948 w 12192000"/>
              <a:gd name="connsiteY33" fmla="*/ 1068018 h 2515690"/>
              <a:gd name="connsiteX34" fmla="*/ 3466714 w 12192000"/>
              <a:gd name="connsiteY34" fmla="*/ 1063419 h 2515690"/>
              <a:gd name="connsiteX35" fmla="*/ 3550909 w 12192000"/>
              <a:gd name="connsiteY35" fmla="*/ 1044511 h 2515690"/>
              <a:gd name="connsiteX36" fmla="*/ 3555900 w 12192000"/>
              <a:gd name="connsiteY36" fmla="*/ 1041996 h 2515690"/>
              <a:gd name="connsiteX37" fmla="*/ 3625978 w 12192000"/>
              <a:gd name="connsiteY37" fmla="*/ 1023459 h 2515690"/>
              <a:gd name="connsiteX38" fmla="*/ 3632465 w 12192000"/>
              <a:gd name="connsiteY38" fmla="*/ 1023522 h 2515690"/>
              <a:gd name="connsiteX39" fmla="*/ 3649063 w 12192000"/>
              <a:gd name="connsiteY39" fmla="*/ 1018726 h 2515690"/>
              <a:gd name="connsiteX40" fmla="*/ 3805954 w 12192000"/>
              <a:gd name="connsiteY40" fmla="*/ 917517 h 2515690"/>
              <a:gd name="connsiteX41" fmla="*/ 4020506 w 12192000"/>
              <a:gd name="connsiteY41" fmla="*/ 816231 h 2515690"/>
              <a:gd name="connsiteX42" fmla="*/ 4233682 w 12192000"/>
              <a:gd name="connsiteY42" fmla="*/ 799511 h 2515690"/>
              <a:gd name="connsiteX43" fmla="*/ 4306552 w 12192000"/>
              <a:gd name="connsiteY43" fmla="*/ 610207 h 2515690"/>
              <a:gd name="connsiteX44" fmla="*/ 4816604 w 12192000"/>
              <a:gd name="connsiteY44" fmla="*/ 773163 h 2515690"/>
              <a:gd name="connsiteX45" fmla="*/ 4916502 w 12192000"/>
              <a:gd name="connsiteY45" fmla="*/ 788104 h 2515690"/>
              <a:gd name="connsiteX46" fmla="*/ 5224415 w 12192000"/>
              <a:gd name="connsiteY46" fmla="*/ 674418 h 2515690"/>
              <a:gd name="connsiteX47" fmla="*/ 5274077 w 12192000"/>
              <a:gd name="connsiteY47" fmla="*/ 655978 h 2515690"/>
              <a:gd name="connsiteX48" fmla="*/ 5371217 w 12192000"/>
              <a:gd name="connsiteY48" fmla="*/ 614372 h 2515690"/>
              <a:gd name="connsiteX49" fmla="*/ 5364523 w 12192000"/>
              <a:gd name="connsiteY49" fmla="*/ 502501 h 2515690"/>
              <a:gd name="connsiteX50" fmla="*/ 5457871 w 12192000"/>
              <a:gd name="connsiteY50" fmla="*/ 558285 h 2515690"/>
              <a:gd name="connsiteX51" fmla="*/ 5750580 w 12192000"/>
              <a:gd name="connsiteY51" fmla="*/ 663503 h 2515690"/>
              <a:gd name="connsiteX52" fmla="*/ 5976618 w 12192000"/>
              <a:gd name="connsiteY52" fmla="*/ 582652 h 2515690"/>
              <a:gd name="connsiteX53" fmla="*/ 6009346 w 12192000"/>
              <a:gd name="connsiteY53" fmla="*/ 559470 h 2515690"/>
              <a:gd name="connsiteX54" fmla="*/ 6069735 w 12192000"/>
              <a:gd name="connsiteY54" fmla="*/ 587803 h 2515690"/>
              <a:gd name="connsiteX55" fmla="*/ 6270319 w 12192000"/>
              <a:gd name="connsiteY55" fmla="*/ 643982 h 2515690"/>
              <a:gd name="connsiteX56" fmla="*/ 6406781 w 12192000"/>
              <a:gd name="connsiteY56" fmla="*/ 672327 h 2515690"/>
              <a:gd name="connsiteX57" fmla="*/ 6469508 w 12192000"/>
              <a:gd name="connsiteY57" fmla="*/ 708574 h 2515690"/>
              <a:gd name="connsiteX58" fmla="*/ 6515869 w 12192000"/>
              <a:gd name="connsiteY58" fmla="*/ 715738 h 2515690"/>
              <a:gd name="connsiteX59" fmla="*/ 6725938 w 12192000"/>
              <a:gd name="connsiteY59" fmla="*/ 691128 h 2515690"/>
              <a:gd name="connsiteX60" fmla="*/ 6778240 w 12192000"/>
              <a:gd name="connsiteY60" fmla="*/ 678998 h 2515690"/>
              <a:gd name="connsiteX61" fmla="*/ 6806944 w 12192000"/>
              <a:gd name="connsiteY61" fmla="*/ 646178 h 2515690"/>
              <a:gd name="connsiteX62" fmla="*/ 6830632 w 12192000"/>
              <a:gd name="connsiteY62" fmla="*/ 633915 h 2515690"/>
              <a:gd name="connsiteX63" fmla="*/ 6858072 w 12192000"/>
              <a:gd name="connsiteY63" fmla="*/ 646178 h 2515690"/>
              <a:gd name="connsiteX64" fmla="*/ 6891322 w 12192000"/>
              <a:gd name="connsiteY64" fmla="*/ 678998 h 2515690"/>
              <a:gd name="connsiteX65" fmla="*/ 6951905 w 12192000"/>
              <a:gd name="connsiteY65" fmla="*/ 691128 h 2515690"/>
              <a:gd name="connsiteX66" fmla="*/ 7195246 w 12192000"/>
              <a:gd name="connsiteY66" fmla="*/ 715738 h 2515690"/>
              <a:gd name="connsiteX67" fmla="*/ 7248949 w 12192000"/>
              <a:gd name="connsiteY67" fmla="*/ 708574 h 2515690"/>
              <a:gd name="connsiteX68" fmla="*/ 7321609 w 12192000"/>
              <a:gd name="connsiteY68" fmla="*/ 672327 h 2515690"/>
              <a:gd name="connsiteX69" fmla="*/ 7479684 w 12192000"/>
              <a:gd name="connsiteY69" fmla="*/ 643982 h 2515690"/>
              <a:gd name="connsiteX70" fmla="*/ 7712035 w 12192000"/>
              <a:gd name="connsiteY70" fmla="*/ 587803 h 2515690"/>
              <a:gd name="connsiteX71" fmla="*/ 7781987 w 12192000"/>
              <a:gd name="connsiteY71" fmla="*/ 559470 h 2515690"/>
              <a:gd name="connsiteX72" fmla="*/ 7819900 w 12192000"/>
              <a:gd name="connsiteY72" fmla="*/ 582652 h 2515690"/>
              <a:gd name="connsiteX73" fmla="*/ 8081736 w 12192000"/>
              <a:gd name="connsiteY73" fmla="*/ 663503 h 2515690"/>
              <a:gd name="connsiteX74" fmla="*/ 8420801 w 12192000"/>
              <a:gd name="connsiteY74" fmla="*/ 558285 h 2515690"/>
              <a:gd name="connsiteX75" fmla="*/ 8528933 w 12192000"/>
              <a:gd name="connsiteY75" fmla="*/ 502501 h 2515690"/>
              <a:gd name="connsiteX76" fmla="*/ 8521178 w 12192000"/>
              <a:gd name="connsiteY76" fmla="*/ 614372 h 2515690"/>
              <a:gd name="connsiteX77" fmla="*/ 8633702 w 12192000"/>
              <a:gd name="connsiteY77" fmla="*/ 655978 h 2515690"/>
              <a:gd name="connsiteX78" fmla="*/ 8691231 w 12192000"/>
              <a:gd name="connsiteY78" fmla="*/ 674418 h 2515690"/>
              <a:gd name="connsiteX79" fmla="*/ 9047908 w 12192000"/>
              <a:gd name="connsiteY79" fmla="*/ 788104 h 2515690"/>
              <a:gd name="connsiteX80" fmla="*/ 9163628 w 12192000"/>
              <a:gd name="connsiteY80" fmla="*/ 773163 h 2515690"/>
              <a:gd name="connsiteX81" fmla="*/ 9754459 w 12192000"/>
              <a:gd name="connsiteY81" fmla="*/ 610207 h 2515690"/>
              <a:gd name="connsiteX82" fmla="*/ 9838868 w 12192000"/>
              <a:gd name="connsiteY82" fmla="*/ 799511 h 2515690"/>
              <a:gd name="connsiteX83" fmla="*/ 10085808 w 12192000"/>
              <a:gd name="connsiteY83" fmla="*/ 816231 h 2515690"/>
              <a:gd name="connsiteX84" fmla="*/ 10334338 w 12192000"/>
              <a:gd name="connsiteY84" fmla="*/ 917517 h 2515690"/>
              <a:gd name="connsiteX85" fmla="*/ 10516076 w 12192000"/>
              <a:gd name="connsiteY85" fmla="*/ 1018726 h 2515690"/>
              <a:gd name="connsiteX86" fmla="*/ 10535302 w 12192000"/>
              <a:gd name="connsiteY86" fmla="*/ 1023522 h 2515690"/>
              <a:gd name="connsiteX87" fmla="*/ 10542819 w 12192000"/>
              <a:gd name="connsiteY87" fmla="*/ 1023458 h 2515690"/>
              <a:gd name="connsiteX88" fmla="*/ 10623994 w 12192000"/>
              <a:gd name="connsiteY88" fmla="*/ 1041996 h 2515690"/>
              <a:gd name="connsiteX89" fmla="*/ 10629774 w 12192000"/>
              <a:gd name="connsiteY89" fmla="*/ 1044511 h 2515690"/>
              <a:gd name="connsiteX90" fmla="*/ 10727305 w 12192000"/>
              <a:gd name="connsiteY90" fmla="*/ 1063419 h 2515690"/>
              <a:gd name="connsiteX91" fmla="*/ 10761785 w 12192000"/>
              <a:gd name="connsiteY91" fmla="*/ 1068017 h 2515690"/>
              <a:gd name="connsiteX92" fmla="*/ 10775688 w 12192000"/>
              <a:gd name="connsiteY92" fmla="*/ 1065268 h 2515690"/>
              <a:gd name="connsiteX93" fmla="*/ 10821837 w 12192000"/>
              <a:gd name="connsiteY93" fmla="*/ 1042232 h 2515690"/>
              <a:gd name="connsiteX94" fmla="*/ 11122438 w 12192000"/>
              <a:gd name="connsiteY94" fmla="*/ 1004583 h 2515690"/>
              <a:gd name="connsiteX95" fmla="*/ 11171433 w 12192000"/>
              <a:gd name="connsiteY95" fmla="*/ 1040550 h 2515690"/>
              <a:gd name="connsiteX96" fmla="*/ 11183724 w 12192000"/>
              <a:gd name="connsiteY96" fmla="*/ 1045316 h 2515690"/>
              <a:gd name="connsiteX97" fmla="*/ 11199690 w 12192000"/>
              <a:gd name="connsiteY97" fmla="*/ 1048085 h 2515690"/>
              <a:gd name="connsiteX98" fmla="*/ 11232475 w 12192000"/>
              <a:gd name="connsiteY98" fmla="*/ 1049340 h 2515690"/>
              <a:gd name="connsiteX99" fmla="*/ 11302451 w 12192000"/>
              <a:gd name="connsiteY99" fmla="*/ 949091 h 2515690"/>
              <a:gd name="connsiteX100" fmla="*/ 11484849 w 12192000"/>
              <a:gd name="connsiteY100" fmla="*/ 1057667 h 2515690"/>
              <a:gd name="connsiteX101" fmla="*/ 11512818 w 12192000"/>
              <a:gd name="connsiteY101" fmla="*/ 1048926 h 2515690"/>
              <a:gd name="connsiteX102" fmla="*/ 11642481 w 12192000"/>
              <a:gd name="connsiteY102" fmla="*/ 1029355 h 2515690"/>
              <a:gd name="connsiteX103" fmla="*/ 11714551 w 12192000"/>
              <a:gd name="connsiteY103" fmla="*/ 1020966 h 2515690"/>
              <a:gd name="connsiteX104" fmla="*/ 11714551 w 12192000"/>
              <a:gd name="connsiteY104" fmla="*/ 1022389 h 2515690"/>
              <a:gd name="connsiteX105" fmla="*/ 11728519 w 12192000"/>
              <a:gd name="connsiteY105" fmla="*/ 1020975 h 2515690"/>
              <a:gd name="connsiteX106" fmla="*/ 11741691 w 12192000"/>
              <a:gd name="connsiteY106" fmla="*/ 1019651 h 2515690"/>
              <a:gd name="connsiteX107" fmla="*/ 11743999 w 12192000"/>
              <a:gd name="connsiteY107" fmla="*/ 1019424 h 2515690"/>
              <a:gd name="connsiteX108" fmla="*/ 11742709 w 12192000"/>
              <a:gd name="connsiteY108" fmla="*/ 1019549 h 2515690"/>
              <a:gd name="connsiteX109" fmla="*/ 11741691 w 12192000"/>
              <a:gd name="connsiteY109" fmla="*/ 1019651 h 2515690"/>
              <a:gd name="connsiteX110" fmla="*/ 11738529 w 12192000"/>
              <a:gd name="connsiteY110" fmla="*/ 1019963 h 2515690"/>
              <a:gd name="connsiteX111" fmla="*/ 11771791 w 12192000"/>
              <a:gd name="connsiteY111" fmla="*/ 1015977 h 2515690"/>
              <a:gd name="connsiteX112" fmla="*/ 11834157 w 12192000"/>
              <a:gd name="connsiteY112" fmla="*/ 1009499 h 2515690"/>
              <a:gd name="connsiteX113" fmla="*/ 11843354 w 12192000"/>
              <a:gd name="connsiteY113" fmla="*/ 1008273 h 2515690"/>
              <a:gd name="connsiteX114" fmla="*/ 11843354 w 12192000"/>
              <a:gd name="connsiteY114" fmla="*/ 1000151 h 2515690"/>
              <a:gd name="connsiteX115" fmla="*/ 11893955 w 12192000"/>
              <a:gd name="connsiteY115" fmla="*/ 983740 h 2515690"/>
              <a:gd name="connsiteX116" fmla="*/ 11974160 w 12192000"/>
              <a:gd name="connsiteY116" fmla="*/ 920897 h 2515690"/>
              <a:gd name="connsiteX117" fmla="*/ 12143531 w 12192000"/>
              <a:gd name="connsiteY117" fmla="*/ 823664 h 2515690"/>
              <a:gd name="connsiteX118" fmla="*/ 12192000 w 12192000"/>
              <a:gd name="connsiteY118" fmla="*/ 801163 h 2515690"/>
              <a:gd name="connsiteX119" fmla="*/ 12192000 w 12192000"/>
              <a:gd name="connsiteY119" fmla="*/ 2515690 h 2515690"/>
              <a:gd name="connsiteX120" fmla="*/ 0 w 12192000"/>
              <a:gd name="connsiteY120" fmla="*/ 2515690 h 25156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Lst>
            <a:rect l="l" t="t" r="r" b="b"/>
            <a:pathLst>
              <a:path w="12192000" h="2515690">
                <a:moveTo>
                  <a:pt x="0" y="0"/>
                </a:moveTo>
                <a:lnTo>
                  <a:pt x="170442" y="96074"/>
                </a:lnTo>
                <a:cubicBezTo>
                  <a:pt x="323315" y="179510"/>
                  <a:pt x="418777" y="223899"/>
                  <a:pt x="424739" y="224865"/>
                </a:cubicBezTo>
                <a:cubicBezTo>
                  <a:pt x="573781" y="248496"/>
                  <a:pt x="654649" y="314572"/>
                  <a:pt x="748273" y="373939"/>
                </a:cubicBezTo>
                <a:cubicBezTo>
                  <a:pt x="830321" y="425631"/>
                  <a:pt x="917271" y="480784"/>
                  <a:pt x="1037058" y="499994"/>
                </a:cubicBezTo>
                <a:cubicBezTo>
                  <a:pt x="1195925" y="525362"/>
                  <a:pt x="1048105" y="445478"/>
                  <a:pt x="1101312" y="428540"/>
                </a:cubicBezTo>
                <a:cubicBezTo>
                  <a:pt x="1188473" y="458169"/>
                  <a:pt x="1274625" y="505369"/>
                  <a:pt x="1367071" y="516118"/>
                </a:cubicBezTo>
                <a:cubicBezTo>
                  <a:pt x="1701323" y="554463"/>
                  <a:pt x="1964451" y="648887"/>
                  <a:pt x="2189943" y="794533"/>
                </a:cubicBezTo>
                <a:cubicBezTo>
                  <a:pt x="2255082" y="836300"/>
                  <a:pt x="2357481" y="862342"/>
                  <a:pt x="2390329" y="920897"/>
                </a:cubicBezTo>
                <a:cubicBezTo>
                  <a:pt x="2406050" y="949359"/>
                  <a:pt x="2430126" y="969285"/>
                  <a:pt x="2459570" y="983740"/>
                </a:cubicBezTo>
                <a:lnTo>
                  <a:pt x="2503252" y="1000151"/>
                </a:lnTo>
                <a:lnTo>
                  <a:pt x="2503252" y="1008273"/>
                </a:lnTo>
                <a:lnTo>
                  <a:pt x="2511191" y="1009499"/>
                </a:lnTo>
                <a:cubicBezTo>
                  <a:pt x="2529847" y="1011974"/>
                  <a:pt x="2562849" y="1015701"/>
                  <a:pt x="2565029" y="1015977"/>
                </a:cubicBezTo>
                <a:cubicBezTo>
                  <a:pt x="2610845" y="1021778"/>
                  <a:pt x="2601577" y="1020837"/>
                  <a:pt x="2593745" y="1019963"/>
                </a:cubicBezTo>
                <a:lnTo>
                  <a:pt x="2591015" y="1019651"/>
                </a:lnTo>
                <a:lnTo>
                  <a:pt x="2590137" y="1019549"/>
                </a:lnTo>
                <a:cubicBezTo>
                  <a:pt x="2588203" y="1019326"/>
                  <a:pt x="2588125" y="1019321"/>
                  <a:pt x="2589021" y="1019424"/>
                </a:cubicBezTo>
                <a:lnTo>
                  <a:pt x="2591015" y="1019651"/>
                </a:lnTo>
                <a:lnTo>
                  <a:pt x="2602385" y="1020975"/>
                </a:lnTo>
                <a:lnTo>
                  <a:pt x="2614445" y="1022389"/>
                </a:lnTo>
                <a:lnTo>
                  <a:pt x="2614445" y="1020966"/>
                </a:lnTo>
                <a:lnTo>
                  <a:pt x="2676661" y="1029355"/>
                </a:lnTo>
                <a:cubicBezTo>
                  <a:pt x="2715592" y="1034194"/>
                  <a:pt x="2753901" y="1039695"/>
                  <a:pt x="2788597" y="1048926"/>
                </a:cubicBezTo>
                <a:lnTo>
                  <a:pt x="2812742" y="1057667"/>
                </a:lnTo>
                <a:lnTo>
                  <a:pt x="2970201" y="949091"/>
                </a:lnTo>
                <a:cubicBezTo>
                  <a:pt x="3052785" y="982961"/>
                  <a:pt x="2996105" y="1020057"/>
                  <a:pt x="3030610" y="1049340"/>
                </a:cubicBezTo>
                <a:cubicBezTo>
                  <a:pt x="3039005" y="1048442"/>
                  <a:pt x="3049621" y="1048500"/>
                  <a:pt x="3058913" y="1048085"/>
                </a:cubicBezTo>
                <a:lnTo>
                  <a:pt x="3072697" y="1045316"/>
                </a:lnTo>
                <a:lnTo>
                  <a:pt x="3083305" y="1040550"/>
                </a:lnTo>
                <a:lnTo>
                  <a:pt x="3125603" y="1004583"/>
                </a:lnTo>
                <a:cubicBezTo>
                  <a:pt x="3221669" y="925596"/>
                  <a:pt x="3242489" y="937564"/>
                  <a:pt x="3385106" y="1042233"/>
                </a:cubicBezTo>
                <a:cubicBezTo>
                  <a:pt x="3399403" y="1052670"/>
                  <a:pt x="3412529" y="1060209"/>
                  <a:pt x="3424945" y="1065268"/>
                </a:cubicBezTo>
                <a:lnTo>
                  <a:pt x="3436948" y="1068018"/>
                </a:lnTo>
                <a:lnTo>
                  <a:pt x="3466714" y="1063419"/>
                </a:lnTo>
                <a:lnTo>
                  <a:pt x="3550909" y="1044511"/>
                </a:lnTo>
                <a:lnTo>
                  <a:pt x="3555900" y="1041996"/>
                </a:lnTo>
                <a:cubicBezTo>
                  <a:pt x="3573827" y="1033454"/>
                  <a:pt x="3594382" y="1025941"/>
                  <a:pt x="3625978" y="1023459"/>
                </a:cubicBezTo>
                <a:lnTo>
                  <a:pt x="3632465" y="1023522"/>
                </a:lnTo>
                <a:lnTo>
                  <a:pt x="3649063" y="1018726"/>
                </a:lnTo>
                <a:cubicBezTo>
                  <a:pt x="3741849" y="989371"/>
                  <a:pt x="3810578" y="953657"/>
                  <a:pt x="3805954" y="917517"/>
                </a:cubicBezTo>
                <a:cubicBezTo>
                  <a:pt x="4031729" y="953901"/>
                  <a:pt x="4031729" y="953901"/>
                  <a:pt x="4020506" y="816231"/>
                </a:cubicBezTo>
                <a:cubicBezTo>
                  <a:pt x="4171643" y="865324"/>
                  <a:pt x="4206308" y="864422"/>
                  <a:pt x="4233682" y="799511"/>
                </a:cubicBezTo>
                <a:cubicBezTo>
                  <a:pt x="4260226" y="737017"/>
                  <a:pt x="4254728" y="668575"/>
                  <a:pt x="4306552" y="610207"/>
                </a:cubicBezTo>
                <a:cubicBezTo>
                  <a:pt x="4495313" y="657923"/>
                  <a:pt x="4699922" y="667347"/>
                  <a:pt x="4816604" y="773163"/>
                </a:cubicBezTo>
                <a:cubicBezTo>
                  <a:pt x="4834734" y="789836"/>
                  <a:pt x="4890507" y="799946"/>
                  <a:pt x="4916502" y="788104"/>
                </a:cubicBezTo>
                <a:cubicBezTo>
                  <a:pt x="5013526" y="746101"/>
                  <a:pt x="5238129" y="796871"/>
                  <a:pt x="5224415" y="674418"/>
                </a:cubicBezTo>
                <a:cubicBezTo>
                  <a:pt x="5223051" y="659300"/>
                  <a:pt x="5240524" y="644890"/>
                  <a:pt x="5274077" y="655978"/>
                </a:cubicBezTo>
                <a:cubicBezTo>
                  <a:pt x="5388582" y="694066"/>
                  <a:pt x="5367022" y="644784"/>
                  <a:pt x="5371217" y="614372"/>
                </a:cubicBezTo>
                <a:cubicBezTo>
                  <a:pt x="5375856" y="577567"/>
                  <a:pt x="5319010" y="537578"/>
                  <a:pt x="5364523" y="502501"/>
                </a:cubicBezTo>
                <a:cubicBezTo>
                  <a:pt x="5425408" y="508891"/>
                  <a:pt x="5433299" y="538191"/>
                  <a:pt x="5457871" y="558285"/>
                </a:cubicBezTo>
                <a:cubicBezTo>
                  <a:pt x="5530352" y="617005"/>
                  <a:pt x="5609566" y="664386"/>
                  <a:pt x="5750580" y="663503"/>
                </a:cubicBezTo>
                <a:cubicBezTo>
                  <a:pt x="5864519" y="662926"/>
                  <a:pt x="5966527" y="666650"/>
                  <a:pt x="5976618" y="582652"/>
                </a:cubicBezTo>
                <a:cubicBezTo>
                  <a:pt x="5978145" y="569455"/>
                  <a:pt x="5990792" y="562346"/>
                  <a:pt x="6009346" y="559470"/>
                </a:cubicBezTo>
                <a:cubicBezTo>
                  <a:pt x="6030639" y="568485"/>
                  <a:pt x="6052592" y="577083"/>
                  <a:pt x="6069735" y="587803"/>
                </a:cubicBezTo>
                <a:cubicBezTo>
                  <a:pt x="6126182" y="623812"/>
                  <a:pt x="6196945" y="634730"/>
                  <a:pt x="6270319" y="643982"/>
                </a:cubicBezTo>
                <a:cubicBezTo>
                  <a:pt x="6317101" y="649940"/>
                  <a:pt x="6363466" y="657107"/>
                  <a:pt x="6406781" y="672327"/>
                </a:cubicBezTo>
                <a:cubicBezTo>
                  <a:pt x="6433586" y="681598"/>
                  <a:pt x="6454928" y="693402"/>
                  <a:pt x="6469508" y="708574"/>
                </a:cubicBezTo>
                <a:cubicBezTo>
                  <a:pt x="6482729" y="721786"/>
                  <a:pt x="6496225" y="725422"/>
                  <a:pt x="6515869" y="715738"/>
                </a:cubicBezTo>
                <a:cubicBezTo>
                  <a:pt x="6572200" y="688353"/>
                  <a:pt x="6639257" y="676241"/>
                  <a:pt x="6725938" y="691128"/>
                </a:cubicBezTo>
                <a:cubicBezTo>
                  <a:pt x="6752109" y="695629"/>
                  <a:pt x="6772625" y="691505"/>
                  <a:pt x="6778240" y="678998"/>
                </a:cubicBezTo>
                <a:cubicBezTo>
                  <a:pt x="6784286" y="665981"/>
                  <a:pt x="6794269" y="655280"/>
                  <a:pt x="6806944" y="646178"/>
                </a:cubicBezTo>
                <a:lnTo>
                  <a:pt x="6830632" y="633915"/>
                </a:lnTo>
                <a:lnTo>
                  <a:pt x="6858072" y="646178"/>
                </a:lnTo>
                <a:cubicBezTo>
                  <a:pt x="6872754" y="655280"/>
                  <a:pt x="6884317" y="665981"/>
                  <a:pt x="6891322" y="678998"/>
                </a:cubicBezTo>
                <a:cubicBezTo>
                  <a:pt x="6897826" y="691505"/>
                  <a:pt x="6921592" y="695629"/>
                  <a:pt x="6951905" y="691128"/>
                </a:cubicBezTo>
                <a:cubicBezTo>
                  <a:pt x="7052317" y="676241"/>
                  <a:pt x="7129994" y="688353"/>
                  <a:pt x="7195246" y="715738"/>
                </a:cubicBezTo>
                <a:cubicBezTo>
                  <a:pt x="7217999" y="725422"/>
                  <a:pt x="7233634" y="721786"/>
                  <a:pt x="7248949" y="708574"/>
                </a:cubicBezTo>
                <a:cubicBezTo>
                  <a:pt x="7265838" y="693402"/>
                  <a:pt x="7290560" y="681598"/>
                  <a:pt x="7321609" y="672327"/>
                </a:cubicBezTo>
                <a:cubicBezTo>
                  <a:pt x="7371785" y="657107"/>
                  <a:pt x="7425493" y="649940"/>
                  <a:pt x="7479684" y="643982"/>
                </a:cubicBezTo>
                <a:cubicBezTo>
                  <a:pt x="7564679" y="634730"/>
                  <a:pt x="7646649" y="623812"/>
                  <a:pt x="7712035" y="587803"/>
                </a:cubicBezTo>
                <a:cubicBezTo>
                  <a:pt x="7731892" y="577083"/>
                  <a:pt x="7757322" y="568485"/>
                  <a:pt x="7781987" y="559470"/>
                </a:cubicBezTo>
                <a:cubicBezTo>
                  <a:pt x="7803481" y="562346"/>
                  <a:pt x="7818130" y="569455"/>
                  <a:pt x="7819900" y="582652"/>
                </a:cubicBezTo>
                <a:cubicBezTo>
                  <a:pt x="7831588" y="666650"/>
                  <a:pt x="7949751" y="662926"/>
                  <a:pt x="8081736" y="663503"/>
                </a:cubicBezTo>
                <a:cubicBezTo>
                  <a:pt x="8245081" y="664386"/>
                  <a:pt x="8336842" y="617005"/>
                  <a:pt x="8420801" y="558285"/>
                </a:cubicBezTo>
                <a:cubicBezTo>
                  <a:pt x="8449265" y="538191"/>
                  <a:pt x="8458404" y="508890"/>
                  <a:pt x="8528933" y="502501"/>
                </a:cubicBezTo>
                <a:cubicBezTo>
                  <a:pt x="8581654" y="537578"/>
                  <a:pt x="8515805" y="577567"/>
                  <a:pt x="8521178" y="614372"/>
                </a:cubicBezTo>
                <a:cubicBezTo>
                  <a:pt x="8526038" y="644784"/>
                  <a:pt x="8501063" y="694066"/>
                  <a:pt x="8633702" y="655978"/>
                </a:cubicBezTo>
                <a:cubicBezTo>
                  <a:pt x="8672570" y="644890"/>
                  <a:pt x="8692811" y="659300"/>
                  <a:pt x="8691231" y="674418"/>
                </a:cubicBezTo>
                <a:cubicBezTo>
                  <a:pt x="8675345" y="796871"/>
                  <a:pt x="8935518" y="746101"/>
                  <a:pt x="9047908" y="788104"/>
                </a:cubicBezTo>
                <a:cubicBezTo>
                  <a:pt x="9078021" y="799946"/>
                  <a:pt x="9142627" y="789836"/>
                  <a:pt x="9163628" y="773163"/>
                </a:cubicBezTo>
                <a:cubicBezTo>
                  <a:pt x="9298789" y="667347"/>
                  <a:pt x="9535801" y="657923"/>
                  <a:pt x="9754459" y="610207"/>
                </a:cubicBezTo>
                <a:cubicBezTo>
                  <a:pt x="9814490" y="668575"/>
                  <a:pt x="9808123" y="737017"/>
                  <a:pt x="9838868" y="799511"/>
                </a:cubicBezTo>
                <a:cubicBezTo>
                  <a:pt x="9870579" y="864422"/>
                  <a:pt x="9910733" y="865324"/>
                  <a:pt x="10085808" y="816231"/>
                </a:cubicBezTo>
                <a:cubicBezTo>
                  <a:pt x="10072804" y="953901"/>
                  <a:pt x="10072804" y="953901"/>
                  <a:pt x="10334338" y="917517"/>
                </a:cubicBezTo>
                <a:cubicBezTo>
                  <a:pt x="10328982" y="953657"/>
                  <a:pt x="10408594" y="989371"/>
                  <a:pt x="10516076" y="1018726"/>
                </a:cubicBezTo>
                <a:lnTo>
                  <a:pt x="10535302" y="1023522"/>
                </a:lnTo>
                <a:lnTo>
                  <a:pt x="10542819" y="1023458"/>
                </a:lnTo>
                <a:cubicBezTo>
                  <a:pt x="10579419" y="1025941"/>
                  <a:pt x="10603227" y="1033454"/>
                  <a:pt x="10623994" y="1041996"/>
                </a:cubicBezTo>
                <a:lnTo>
                  <a:pt x="10629774" y="1044511"/>
                </a:lnTo>
                <a:lnTo>
                  <a:pt x="10727305" y="1063419"/>
                </a:lnTo>
                <a:lnTo>
                  <a:pt x="10761785" y="1068017"/>
                </a:lnTo>
                <a:lnTo>
                  <a:pt x="10775688" y="1065268"/>
                </a:lnTo>
                <a:cubicBezTo>
                  <a:pt x="10790070" y="1060209"/>
                  <a:pt x="10805275" y="1052670"/>
                  <a:pt x="10821837" y="1042232"/>
                </a:cubicBezTo>
                <a:cubicBezTo>
                  <a:pt x="10987041" y="937564"/>
                  <a:pt x="11011156" y="925596"/>
                  <a:pt x="11122438" y="1004583"/>
                </a:cubicBezTo>
                <a:lnTo>
                  <a:pt x="11171433" y="1040550"/>
                </a:lnTo>
                <a:lnTo>
                  <a:pt x="11183724" y="1045316"/>
                </a:lnTo>
                <a:lnTo>
                  <a:pt x="11199690" y="1048085"/>
                </a:lnTo>
                <a:cubicBezTo>
                  <a:pt x="11210452" y="1048499"/>
                  <a:pt x="11222752" y="1048442"/>
                  <a:pt x="11232475" y="1049340"/>
                </a:cubicBezTo>
                <a:cubicBezTo>
                  <a:pt x="11272445" y="1020057"/>
                  <a:pt x="11206789" y="982961"/>
                  <a:pt x="11302451" y="949091"/>
                </a:cubicBezTo>
                <a:lnTo>
                  <a:pt x="11484849" y="1057667"/>
                </a:lnTo>
                <a:lnTo>
                  <a:pt x="11512818" y="1048926"/>
                </a:lnTo>
                <a:cubicBezTo>
                  <a:pt x="11553007" y="1039695"/>
                  <a:pt x="11597385" y="1034194"/>
                  <a:pt x="11642481" y="1029355"/>
                </a:cubicBezTo>
                <a:lnTo>
                  <a:pt x="11714551" y="1020966"/>
                </a:lnTo>
                <a:lnTo>
                  <a:pt x="11714551" y="1022389"/>
                </a:lnTo>
                <a:lnTo>
                  <a:pt x="11728519" y="1020975"/>
                </a:lnTo>
                <a:lnTo>
                  <a:pt x="11741691" y="1019651"/>
                </a:lnTo>
                <a:lnTo>
                  <a:pt x="11743999" y="1019424"/>
                </a:lnTo>
                <a:cubicBezTo>
                  <a:pt x="11745037" y="1019320"/>
                  <a:pt x="11744948" y="1019326"/>
                  <a:pt x="11742709" y="1019549"/>
                </a:cubicBezTo>
                <a:lnTo>
                  <a:pt x="11741691" y="1019651"/>
                </a:lnTo>
                <a:lnTo>
                  <a:pt x="11738529" y="1019963"/>
                </a:lnTo>
                <a:cubicBezTo>
                  <a:pt x="11729455" y="1020837"/>
                  <a:pt x="11718720" y="1021778"/>
                  <a:pt x="11771791" y="1015977"/>
                </a:cubicBezTo>
                <a:cubicBezTo>
                  <a:pt x="11774317" y="1015701"/>
                  <a:pt x="11812546" y="1011974"/>
                  <a:pt x="11834157" y="1009499"/>
                </a:cubicBezTo>
                <a:lnTo>
                  <a:pt x="11843354" y="1008273"/>
                </a:lnTo>
                <a:lnTo>
                  <a:pt x="11843354" y="1000151"/>
                </a:lnTo>
                <a:lnTo>
                  <a:pt x="11893955" y="983740"/>
                </a:lnTo>
                <a:cubicBezTo>
                  <a:pt x="11928061" y="969285"/>
                  <a:pt x="11955951" y="949359"/>
                  <a:pt x="11974160" y="920897"/>
                </a:cubicBezTo>
                <a:cubicBezTo>
                  <a:pt x="12002698" y="876981"/>
                  <a:pt x="12076554" y="851353"/>
                  <a:pt x="12143531" y="823664"/>
                </a:cubicBezTo>
                <a:lnTo>
                  <a:pt x="12192000" y="801163"/>
                </a:lnTo>
                <a:lnTo>
                  <a:pt x="12192000" y="2515690"/>
                </a:lnTo>
                <a:lnTo>
                  <a:pt x="0" y="2515690"/>
                </a:lnTo>
                <a:close/>
              </a:path>
            </a:pathLst>
          </a:custGeom>
          <a:solidFill>
            <a:schemeClr val="bg2">
              <a:alpha val="50000"/>
            </a:schemeClr>
          </a:solidFill>
          <a:ln w="32707" cap="flat">
            <a:noFill/>
            <a:prstDash val="solid"/>
            <a:miter/>
          </a:ln>
        </p:spPr>
        <p:txBody>
          <a:bodyPr wrap="square" rtlCol="0" anchor="ctr">
            <a:noAutofit/>
          </a:bodyPr>
          <a:lstStyle/>
          <a:p>
            <a:pPr algn="ctr"/>
            <a:endParaRPr lang="en-US">
              <a:solidFill>
                <a:schemeClr val="tx1"/>
              </a:solidFill>
            </a:endParaRPr>
          </a:p>
        </p:txBody>
      </p:sp>
      <p:sp>
        <p:nvSpPr>
          <p:cNvPr id="2" name="Title 1">
            <a:extLst>
              <a:ext uri="{FF2B5EF4-FFF2-40B4-BE49-F238E27FC236}">
                <a16:creationId xmlns:a16="http://schemas.microsoft.com/office/drawing/2014/main" id="{99DF8BA3-17F5-3719-DE69-9D80805A20CB}"/>
              </a:ext>
            </a:extLst>
          </p:cNvPr>
          <p:cNvSpPr>
            <a:spLocks noGrp="1"/>
          </p:cNvSpPr>
          <p:nvPr>
            <p:ph type="title"/>
          </p:nvPr>
        </p:nvSpPr>
        <p:spPr>
          <a:xfrm>
            <a:off x="838200" y="365125"/>
            <a:ext cx="10515600" cy="930275"/>
          </a:xfrm>
        </p:spPr>
        <p:txBody>
          <a:bodyPr>
            <a:normAutofit/>
          </a:bodyPr>
          <a:lstStyle/>
          <a:p>
            <a:r>
              <a:rPr lang="en-CA"/>
              <a:t>Workflow Status</a:t>
            </a:r>
            <a:endParaRPr lang="en-CA" dirty="0"/>
          </a:p>
        </p:txBody>
      </p:sp>
      <p:graphicFrame>
        <p:nvGraphicFramePr>
          <p:cNvPr id="4" name="Content Placeholder 3">
            <a:extLst>
              <a:ext uri="{FF2B5EF4-FFF2-40B4-BE49-F238E27FC236}">
                <a16:creationId xmlns:a16="http://schemas.microsoft.com/office/drawing/2014/main" id="{FF9FA3D5-3154-B59B-CCE2-E1BF25FBDBBB}"/>
              </a:ext>
            </a:extLst>
          </p:cNvPr>
          <p:cNvGraphicFramePr>
            <a:graphicFrameLocks noGrp="1"/>
          </p:cNvGraphicFramePr>
          <p:nvPr>
            <p:ph idx="1"/>
            <p:extLst>
              <p:ext uri="{D42A27DB-BD31-4B8C-83A1-F6EECF244321}">
                <p14:modId xmlns:p14="http://schemas.microsoft.com/office/powerpoint/2010/main" val="9557121"/>
              </p:ext>
            </p:extLst>
          </p:nvPr>
        </p:nvGraphicFramePr>
        <p:xfrm>
          <a:off x="838200" y="1563758"/>
          <a:ext cx="10515602" cy="4993584"/>
        </p:xfrm>
        <a:graphic>
          <a:graphicData uri="http://schemas.openxmlformats.org/drawingml/2006/table">
            <a:tbl>
              <a:tblPr firstRow="1" bandRow="1">
                <a:tableStyleId>{3B4B98B0-60AC-42C2-AFA5-B58CD77FA1E5}</a:tableStyleId>
              </a:tblPr>
              <a:tblGrid>
                <a:gridCol w="2334181">
                  <a:extLst>
                    <a:ext uri="{9D8B030D-6E8A-4147-A177-3AD203B41FA5}">
                      <a16:colId xmlns:a16="http://schemas.microsoft.com/office/drawing/2014/main" val="1536847148"/>
                    </a:ext>
                  </a:extLst>
                </a:gridCol>
                <a:gridCol w="1555723">
                  <a:extLst>
                    <a:ext uri="{9D8B030D-6E8A-4147-A177-3AD203B41FA5}">
                      <a16:colId xmlns:a16="http://schemas.microsoft.com/office/drawing/2014/main" val="3997938768"/>
                    </a:ext>
                  </a:extLst>
                </a:gridCol>
                <a:gridCol w="6625698">
                  <a:extLst>
                    <a:ext uri="{9D8B030D-6E8A-4147-A177-3AD203B41FA5}">
                      <a16:colId xmlns:a16="http://schemas.microsoft.com/office/drawing/2014/main" val="2840136248"/>
                    </a:ext>
                  </a:extLst>
                </a:gridCol>
              </a:tblGrid>
              <a:tr h="386863">
                <a:tc>
                  <a:txBody>
                    <a:bodyPr/>
                    <a:lstStyle/>
                    <a:p>
                      <a:r>
                        <a:rPr lang="en-CA" sz="1400" dirty="0"/>
                        <a:t>Workflow</a:t>
                      </a:r>
                    </a:p>
                  </a:txBody>
                  <a:tcPr marL="62385" marR="62385" marT="31193" marB="31193"/>
                </a:tc>
                <a:tc>
                  <a:txBody>
                    <a:bodyPr/>
                    <a:lstStyle/>
                    <a:p>
                      <a:r>
                        <a:rPr lang="en-CA" sz="1400"/>
                        <a:t>Status</a:t>
                      </a:r>
                    </a:p>
                  </a:txBody>
                  <a:tcPr marL="62385" marR="62385" marT="31193" marB="31193"/>
                </a:tc>
                <a:tc>
                  <a:txBody>
                    <a:bodyPr/>
                    <a:lstStyle/>
                    <a:p>
                      <a:r>
                        <a:rPr lang="en-CA" sz="1400" dirty="0"/>
                        <a:t>Notes</a:t>
                      </a:r>
                    </a:p>
                  </a:txBody>
                  <a:tcPr marL="62385" marR="62385" marT="31193" marB="31193"/>
                </a:tc>
                <a:extLst>
                  <a:ext uri="{0D108BD9-81ED-4DB2-BD59-A6C34878D82A}">
                    <a16:rowId xmlns:a16="http://schemas.microsoft.com/office/drawing/2014/main" val="2567668133"/>
                  </a:ext>
                </a:extLst>
              </a:tr>
              <a:tr h="650631">
                <a:tc>
                  <a:txBody>
                    <a:bodyPr/>
                    <a:lstStyle/>
                    <a:p>
                      <a:r>
                        <a:rPr lang="en-CA" sz="1400" dirty="0"/>
                        <a:t>Planning</a:t>
                      </a:r>
                    </a:p>
                  </a:txBody>
                  <a:tcPr marL="62385" marR="62385" marT="31193" marB="31193"/>
                </a:tc>
                <a:tc>
                  <a:txBody>
                    <a:bodyPr/>
                    <a:lstStyle/>
                    <a:p>
                      <a:r>
                        <a:rPr lang="en-CA" sz="1400"/>
                        <a:t>In Progress</a:t>
                      </a:r>
                    </a:p>
                  </a:txBody>
                  <a:tcPr marL="62385" marR="62385" marT="31193" marB="31193"/>
                </a:tc>
                <a:tc>
                  <a:txBody>
                    <a:bodyPr/>
                    <a:lstStyle/>
                    <a:p>
                      <a:r>
                        <a:rPr lang="en-CA" sz="1400" dirty="0"/>
                        <a:t>Working prototype that can inspect a work-item and enhance description, acceptance criteria and splitting work-item into sub issues. [planning-agent]</a:t>
                      </a:r>
                    </a:p>
                  </a:txBody>
                  <a:tcPr marL="62385" marR="62385" marT="31193" marB="31193"/>
                </a:tc>
                <a:extLst>
                  <a:ext uri="{0D108BD9-81ED-4DB2-BD59-A6C34878D82A}">
                    <a16:rowId xmlns:a16="http://schemas.microsoft.com/office/drawing/2014/main" val="3924250922"/>
                  </a:ext>
                </a:extLst>
              </a:tr>
              <a:tr h="947491">
                <a:tc>
                  <a:txBody>
                    <a:bodyPr/>
                    <a:lstStyle/>
                    <a:p>
                      <a:r>
                        <a:rPr lang="en-CA" sz="1400"/>
                        <a:t>Solution Design</a:t>
                      </a:r>
                    </a:p>
                  </a:txBody>
                  <a:tcPr marL="62385" marR="62385" marT="31193" marB="31193"/>
                </a:tc>
                <a:tc>
                  <a:txBody>
                    <a:bodyPr/>
                    <a:lstStyle/>
                    <a:p>
                      <a:r>
                        <a:rPr lang="en-CA" sz="1400" dirty="0"/>
                        <a:t>In Progress</a:t>
                      </a:r>
                    </a:p>
                  </a:txBody>
                  <a:tcPr marL="62385" marR="62385" marT="31193" marB="31193"/>
                </a:tc>
                <a:tc>
                  <a:txBody>
                    <a:bodyPr/>
                    <a:lstStyle/>
                    <a:p>
                      <a:r>
                        <a:rPr lang="en-CA" sz="1400" dirty="0"/>
                        <a:t>Working prototype that can inspect a work-item, analyze the repository and archetypes, suggest then compare/contrast multiple options, and make a final recommendation. Creates detailed pull requests with markdown documents. [architect-agent]</a:t>
                      </a:r>
                    </a:p>
                  </a:txBody>
                  <a:tcPr marL="62385" marR="62385" marT="31193" marB="31193"/>
                </a:tc>
                <a:extLst>
                  <a:ext uri="{0D108BD9-81ED-4DB2-BD59-A6C34878D82A}">
                    <a16:rowId xmlns:a16="http://schemas.microsoft.com/office/drawing/2014/main" val="3593427751"/>
                  </a:ext>
                </a:extLst>
              </a:tr>
              <a:tr h="947491">
                <a:tc>
                  <a:txBody>
                    <a:bodyPr/>
                    <a:lstStyle/>
                    <a:p>
                      <a:r>
                        <a:rPr lang="en-CA" sz="1400"/>
                        <a:t>Suggestion</a:t>
                      </a:r>
                    </a:p>
                  </a:txBody>
                  <a:tcPr marL="62385" marR="62385" marT="31193" marB="31193"/>
                </a:tc>
                <a:tc>
                  <a:txBody>
                    <a:bodyPr/>
                    <a:lstStyle/>
                    <a:p>
                      <a:r>
                        <a:rPr lang="en-CA" sz="1400"/>
                        <a:t>In Progress</a:t>
                      </a:r>
                    </a:p>
                  </a:txBody>
                  <a:tcPr marL="62385" marR="62385" marT="31193" marB="31193"/>
                </a:tc>
                <a:tc>
                  <a:txBody>
                    <a:bodyPr/>
                    <a:lstStyle/>
                    <a:p>
                      <a:r>
                        <a:rPr lang="en-CA" sz="1400" dirty="0"/>
                        <a:t>Working prototype – however, it seems to make the same suggestion multiple times (need to figure out a way to not repeat it-self). Not sure how valuable this is, but I find it useful when there isn’t any defined work to complete and my agents are idle. [planning-agent]</a:t>
                      </a:r>
                    </a:p>
                  </a:txBody>
                  <a:tcPr marL="62385" marR="62385" marT="31193" marB="31193"/>
                </a:tc>
                <a:extLst>
                  <a:ext uri="{0D108BD9-81ED-4DB2-BD59-A6C34878D82A}">
                    <a16:rowId xmlns:a16="http://schemas.microsoft.com/office/drawing/2014/main" val="21745836"/>
                  </a:ext>
                </a:extLst>
              </a:tr>
              <a:tr h="726754">
                <a:tc>
                  <a:txBody>
                    <a:bodyPr/>
                    <a:lstStyle/>
                    <a:p>
                      <a:r>
                        <a:rPr lang="en-CA" sz="1400"/>
                        <a:t>User Interface Design</a:t>
                      </a:r>
                    </a:p>
                  </a:txBody>
                  <a:tcPr marL="62385" marR="62385" marT="31193" marB="31193"/>
                </a:tc>
                <a:tc>
                  <a:txBody>
                    <a:bodyPr/>
                    <a:lstStyle/>
                    <a:p>
                      <a:r>
                        <a:rPr lang="en-CA" sz="1400"/>
                        <a:t>Planning</a:t>
                      </a:r>
                    </a:p>
                  </a:txBody>
                  <a:tcPr marL="62385" marR="62385" marT="31193" marB="31193"/>
                </a:tc>
                <a:tc>
                  <a:txBody>
                    <a:bodyPr/>
                    <a:lstStyle/>
                    <a:p>
                      <a:r>
                        <a:rPr lang="en-CA" sz="1400" dirty="0"/>
                        <a:t>Started prototyping with Figma MCP, UX Pilot, and identifying a likely path forward. Right now, I need to use these tools outside of GitHub, and paste the results into a work item. </a:t>
                      </a:r>
                    </a:p>
                  </a:txBody>
                  <a:tcPr marL="62385" marR="62385" marT="31193" marB="31193"/>
                </a:tc>
                <a:extLst>
                  <a:ext uri="{0D108BD9-81ED-4DB2-BD59-A6C34878D82A}">
                    <a16:rowId xmlns:a16="http://schemas.microsoft.com/office/drawing/2014/main" val="1086462822"/>
                  </a:ext>
                </a:extLst>
              </a:tr>
              <a:tr h="947491">
                <a:tc>
                  <a:txBody>
                    <a:bodyPr/>
                    <a:lstStyle/>
                    <a:p>
                      <a:r>
                        <a:rPr lang="en-CA" sz="1400"/>
                        <a:t>Implementation</a:t>
                      </a:r>
                    </a:p>
                  </a:txBody>
                  <a:tcPr marL="62385" marR="62385" marT="31193" marB="31193"/>
                </a:tc>
                <a:tc>
                  <a:txBody>
                    <a:bodyPr/>
                    <a:lstStyle/>
                    <a:p>
                      <a:r>
                        <a:rPr lang="en-CA" sz="1400"/>
                        <a:t>In Progress</a:t>
                      </a:r>
                    </a:p>
                  </a:txBody>
                  <a:tcPr marL="62385" marR="62385" marT="31193" marB="31193"/>
                </a:tc>
                <a:tc>
                  <a:txBody>
                    <a:bodyPr/>
                    <a:lstStyle/>
                    <a:p>
                      <a:r>
                        <a:rPr lang="en-CA" sz="1400" dirty="0"/>
                        <a:t>This is the most well developed and testing. It does not require much customization and with proper instructions and archetypes it can use the stock sonnet 4.5 agent to produce concise, clean, and tested code. Pull requests are excellent. Documentation is excellent.</a:t>
                      </a:r>
                    </a:p>
                  </a:txBody>
                  <a:tcPr marL="62385" marR="62385" marT="31193" marB="31193"/>
                </a:tc>
                <a:extLst>
                  <a:ext uri="{0D108BD9-81ED-4DB2-BD59-A6C34878D82A}">
                    <a16:rowId xmlns:a16="http://schemas.microsoft.com/office/drawing/2014/main" val="1881748441"/>
                  </a:ext>
                </a:extLst>
              </a:tr>
              <a:tr h="386863">
                <a:tc>
                  <a:txBody>
                    <a:bodyPr/>
                    <a:lstStyle/>
                    <a:p>
                      <a:r>
                        <a:rPr lang="en-CA" sz="1400"/>
                        <a:t>Deployment</a:t>
                      </a:r>
                    </a:p>
                  </a:txBody>
                  <a:tcPr marL="62385" marR="62385" marT="31193" marB="31193"/>
                </a:tc>
                <a:tc>
                  <a:txBody>
                    <a:bodyPr/>
                    <a:lstStyle/>
                    <a:p>
                      <a:r>
                        <a:rPr lang="en-CA" sz="1400" dirty="0"/>
                        <a:t>Not started</a:t>
                      </a:r>
                    </a:p>
                  </a:txBody>
                  <a:tcPr marL="62385" marR="62385" marT="31193" marB="31193"/>
                </a:tc>
                <a:tc>
                  <a:txBody>
                    <a:bodyPr/>
                    <a:lstStyle/>
                    <a:p>
                      <a:endParaRPr lang="en-CA" sz="1400" dirty="0"/>
                    </a:p>
                  </a:txBody>
                  <a:tcPr marL="62385" marR="62385" marT="31193" marB="31193"/>
                </a:tc>
                <a:extLst>
                  <a:ext uri="{0D108BD9-81ED-4DB2-BD59-A6C34878D82A}">
                    <a16:rowId xmlns:a16="http://schemas.microsoft.com/office/drawing/2014/main" val="2534624296"/>
                  </a:ext>
                </a:extLst>
              </a:tr>
            </a:tbl>
          </a:graphicData>
        </a:graphic>
      </p:graphicFrame>
    </p:spTree>
    <p:extLst>
      <p:ext uri="{BB962C8B-B14F-4D97-AF65-F5344CB8AC3E}">
        <p14:creationId xmlns:p14="http://schemas.microsoft.com/office/powerpoint/2010/main" val="364054990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DB163F8-5E6F-9955-C5B2-7C8233E0AD7E}"/>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709F1D5-B0F1-4714-A239-E5B61C16191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Rounded Corners 9">
            <a:extLst>
              <a:ext uri="{FF2B5EF4-FFF2-40B4-BE49-F238E27FC236}">
                <a16:creationId xmlns:a16="http://schemas.microsoft.com/office/drawing/2014/main" id="{228FB460-D3FF-4440-A020-05982A09E5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40546" y="1011045"/>
            <a:ext cx="4369859" cy="4369859"/>
          </a:xfrm>
          <a:prstGeom prst="roundRect">
            <a:avLst>
              <a:gd name="adj" fmla="val 2757"/>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1C47FAD-4F10-03ED-8B35-A5CC0F49ED9E}"/>
              </a:ext>
            </a:extLst>
          </p:cNvPr>
          <p:cNvSpPr>
            <a:spLocks noGrp="1"/>
          </p:cNvSpPr>
          <p:nvPr>
            <p:ph type="title"/>
          </p:nvPr>
        </p:nvSpPr>
        <p:spPr>
          <a:xfrm>
            <a:off x="956826" y="1112969"/>
            <a:ext cx="3937298" cy="4166010"/>
          </a:xfrm>
        </p:spPr>
        <p:txBody>
          <a:bodyPr>
            <a:normAutofit/>
          </a:bodyPr>
          <a:lstStyle/>
          <a:p>
            <a:r>
              <a:rPr lang="en-CA" dirty="0">
                <a:solidFill>
                  <a:srgbClr val="FFFFFF"/>
                </a:solidFill>
              </a:rPr>
              <a:t>Process Definition</a:t>
            </a:r>
          </a:p>
        </p:txBody>
      </p:sp>
      <p:sp>
        <p:nvSpPr>
          <p:cNvPr id="12" name="Freeform: Shape 11">
            <a:extLst>
              <a:ext uri="{FF2B5EF4-FFF2-40B4-BE49-F238E27FC236}">
                <a16:creationId xmlns:a16="http://schemas.microsoft.com/office/drawing/2014/main" id="{14847E93-7DC1-4D4B-8829-B19AA7137C5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530529" y="0"/>
            <a:ext cx="1155142" cy="591009"/>
          </a:xfrm>
          <a:custGeom>
            <a:avLst/>
            <a:gdLst>
              <a:gd name="connsiteX0" fmla="*/ 1355 w 1155142"/>
              <a:gd name="connsiteY0" fmla="*/ 0 h 591009"/>
              <a:gd name="connsiteX1" fmla="*/ 1153787 w 1155142"/>
              <a:gd name="connsiteY1" fmla="*/ 0 h 591009"/>
              <a:gd name="connsiteX2" fmla="*/ 1155142 w 1155142"/>
              <a:gd name="connsiteY2" fmla="*/ 13438 h 591009"/>
              <a:gd name="connsiteX3" fmla="*/ 577571 w 1155142"/>
              <a:gd name="connsiteY3" fmla="*/ 591009 h 591009"/>
              <a:gd name="connsiteX4" fmla="*/ 0 w 1155142"/>
              <a:gd name="connsiteY4" fmla="*/ 13438 h 5910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5142" h="591009">
                <a:moveTo>
                  <a:pt x="1355" y="0"/>
                </a:moveTo>
                <a:lnTo>
                  <a:pt x="1153787" y="0"/>
                </a:lnTo>
                <a:lnTo>
                  <a:pt x="1155142" y="13438"/>
                </a:lnTo>
                <a:cubicBezTo>
                  <a:pt x="1155142" y="332422"/>
                  <a:pt x="896555" y="591009"/>
                  <a:pt x="577571" y="591009"/>
                </a:cubicBezTo>
                <a:cubicBezTo>
                  <a:pt x="258587" y="591009"/>
                  <a:pt x="0" y="332422"/>
                  <a:pt x="0" y="13438"/>
                </a:cubicBez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4" name="Freeform: Shape 13">
            <a:extLst>
              <a:ext uri="{FF2B5EF4-FFF2-40B4-BE49-F238E27FC236}">
                <a16:creationId xmlns:a16="http://schemas.microsoft.com/office/drawing/2014/main" id="{5566D6E1-03A1-4D73-A4E0-35D74D568A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961511" y="-1"/>
            <a:ext cx="1737401" cy="959536"/>
          </a:xfrm>
          <a:custGeom>
            <a:avLst/>
            <a:gdLst>
              <a:gd name="connsiteX0" fmla="*/ 0 w 1737401"/>
              <a:gd name="connsiteY0" fmla="*/ 0 h 959536"/>
              <a:gd name="connsiteX1" fmla="*/ 123825 w 1737401"/>
              <a:gd name="connsiteY1" fmla="*/ 0 h 959536"/>
              <a:gd name="connsiteX2" fmla="*/ 123825 w 1737401"/>
              <a:gd name="connsiteY2" fmla="*/ 790277 h 959536"/>
              <a:gd name="connsiteX3" fmla="*/ 1490095 w 1737401"/>
              <a:gd name="connsiteY3" fmla="*/ 0 h 959536"/>
              <a:gd name="connsiteX4" fmla="*/ 1737401 w 1737401"/>
              <a:gd name="connsiteY4" fmla="*/ 0 h 959536"/>
              <a:gd name="connsiteX5" fmla="*/ 92869 w 1737401"/>
              <a:gd name="connsiteY5" fmla="*/ 951249 h 959536"/>
              <a:gd name="connsiteX6" fmla="*/ 61913 w 1737401"/>
              <a:gd name="connsiteY6" fmla="*/ 959536 h 959536"/>
              <a:gd name="connsiteX7" fmla="*/ 0 w 1737401"/>
              <a:gd name="connsiteY7" fmla="*/ 897624 h 959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37401" h="959536">
                <a:moveTo>
                  <a:pt x="0" y="0"/>
                </a:moveTo>
                <a:lnTo>
                  <a:pt x="123825" y="0"/>
                </a:lnTo>
                <a:lnTo>
                  <a:pt x="123825" y="790277"/>
                </a:lnTo>
                <a:lnTo>
                  <a:pt x="1490095" y="0"/>
                </a:lnTo>
                <a:lnTo>
                  <a:pt x="1737401" y="0"/>
                </a:lnTo>
                <a:lnTo>
                  <a:pt x="92869" y="951249"/>
                </a:lnTo>
                <a:cubicBezTo>
                  <a:pt x="83458" y="956688"/>
                  <a:pt x="72780" y="959546"/>
                  <a:pt x="61913" y="959536"/>
                </a:cubicBezTo>
                <a:cubicBezTo>
                  <a:pt x="27719" y="959536"/>
                  <a:pt x="0" y="931818"/>
                  <a:pt x="0" y="897624"/>
                </a:cubicBezTo>
                <a:close/>
              </a:path>
            </a:pathLst>
          </a:custGeom>
          <a:solidFill>
            <a:schemeClr val="accent6"/>
          </a:solidFill>
          <a:ln w="9525" cap="flat">
            <a:no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9F835A99-04AC-494A-A572-AFE8413CC9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2936831"/>
            <a:ext cx="159741" cy="552996"/>
          </a:xfrm>
          <a:custGeom>
            <a:avLst/>
            <a:gdLst>
              <a:gd name="connsiteX0" fmla="*/ 159741 w 159741"/>
              <a:gd name="connsiteY0" fmla="*/ 0 h 552996"/>
              <a:gd name="connsiteX1" fmla="*/ 159741 w 159741"/>
              <a:gd name="connsiteY1" fmla="*/ 552996 h 552996"/>
              <a:gd name="connsiteX2" fmla="*/ 141849 w 159741"/>
              <a:gd name="connsiteY2" fmla="*/ 543285 h 552996"/>
              <a:gd name="connsiteX3" fmla="*/ 0 w 159741"/>
              <a:gd name="connsiteY3" fmla="*/ 276498 h 552996"/>
              <a:gd name="connsiteX4" fmla="*/ 141849 w 159741"/>
              <a:gd name="connsiteY4" fmla="*/ 9711 h 5529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9741" h="552996">
                <a:moveTo>
                  <a:pt x="159741" y="0"/>
                </a:moveTo>
                <a:lnTo>
                  <a:pt x="159741" y="552996"/>
                </a:lnTo>
                <a:lnTo>
                  <a:pt x="141849" y="543285"/>
                </a:lnTo>
                <a:cubicBezTo>
                  <a:pt x="56268" y="485467"/>
                  <a:pt x="0" y="387554"/>
                  <a:pt x="0" y="276498"/>
                </a:cubicBezTo>
                <a:cubicBezTo>
                  <a:pt x="0" y="165443"/>
                  <a:pt x="56268" y="67529"/>
                  <a:pt x="141849" y="9711"/>
                </a:cubicBezTo>
                <a:close/>
              </a:path>
            </a:pathLst>
          </a:custGeom>
          <a:solidFill>
            <a:schemeClr val="accent4"/>
          </a:solidFill>
          <a:ln w="12700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 name="Content Placeholder 2">
            <a:extLst>
              <a:ext uri="{FF2B5EF4-FFF2-40B4-BE49-F238E27FC236}">
                <a16:creationId xmlns:a16="http://schemas.microsoft.com/office/drawing/2014/main" id="{25E840C1-C75A-5763-4279-3EE68A678490}"/>
              </a:ext>
            </a:extLst>
          </p:cNvPr>
          <p:cNvSpPr>
            <a:spLocks noGrp="1"/>
          </p:cNvSpPr>
          <p:nvPr>
            <p:ph idx="1"/>
          </p:nvPr>
        </p:nvSpPr>
        <p:spPr>
          <a:xfrm>
            <a:off x="6096000" y="820880"/>
            <a:ext cx="5257799" cy="4889350"/>
          </a:xfrm>
        </p:spPr>
        <p:txBody>
          <a:bodyPr anchor="t">
            <a:normAutofit/>
          </a:bodyPr>
          <a:lstStyle/>
          <a:p>
            <a:r>
              <a:rPr lang="en-CA" sz="2000" dirty="0"/>
              <a:t>Work in progress, and perhaps more related to the service side of things, but the process is likely as important as the underlying technology – like the ceremonies in agile.</a:t>
            </a:r>
          </a:p>
          <a:p>
            <a:r>
              <a:rPr lang="en-CA" sz="2000" dirty="0"/>
              <a:t>A2D is going to require ceremonies, but with quicker iteration</a:t>
            </a:r>
          </a:p>
          <a:p>
            <a:r>
              <a:rPr lang="en-CA" sz="2000" dirty="0"/>
              <a:t>More suited to a kanban style of working because of the velocity of work completed.</a:t>
            </a:r>
          </a:p>
          <a:p>
            <a:r>
              <a:rPr lang="en-CA" sz="2000" i="1" dirty="0"/>
              <a:t>The workflow I have been following is daily planning in the morning, followed by review before lunch, resolving comments and iteration, deployment and testing in the afternoon. Repeat. </a:t>
            </a:r>
          </a:p>
        </p:txBody>
      </p:sp>
      <p:sp>
        <p:nvSpPr>
          <p:cNvPr id="18" name="Freeform: Shape 17">
            <a:extLst>
              <a:ext uri="{FF2B5EF4-FFF2-40B4-BE49-F238E27FC236}">
                <a16:creationId xmlns:a16="http://schemas.microsoft.com/office/drawing/2014/main" id="{7B786209-1B0B-4CA9-9BDD-F7327066A8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5835649"/>
            <a:ext cx="1548180" cy="1022351"/>
          </a:xfrm>
          <a:custGeom>
            <a:avLst/>
            <a:gdLst>
              <a:gd name="connsiteX0" fmla="*/ 61913 w 1548180"/>
              <a:gd name="connsiteY0" fmla="*/ 0 h 1022351"/>
              <a:gd name="connsiteX1" fmla="*/ 1548180 w 1548180"/>
              <a:gd name="connsiteY1" fmla="*/ 0 h 1022351"/>
              <a:gd name="connsiteX2" fmla="*/ 1548180 w 1548180"/>
              <a:gd name="connsiteY2" fmla="*/ 123825 h 1022351"/>
              <a:gd name="connsiteX3" fmla="*/ 123825 w 1548180"/>
              <a:gd name="connsiteY3" fmla="*/ 123825 h 1022351"/>
              <a:gd name="connsiteX4" fmla="*/ 123825 w 1548180"/>
              <a:gd name="connsiteY4" fmla="*/ 1022351 h 1022351"/>
              <a:gd name="connsiteX5" fmla="*/ 0 w 1548180"/>
              <a:gd name="connsiteY5" fmla="*/ 1022351 h 1022351"/>
              <a:gd name="connsiteX6" fmla="*/ 0 w 1548180"/>
              <a:gd name="connsiteY6" fmla="*/ 61913 h 1022351"/>
              <a:gd name="connsiteX7" fmla="*/ 61913 w 1548180"/>
              <a:gd name="connsiteY7" fmla="*/ 0 h 10223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48180" h="1022351">
                <a:moveTo>
                  <a:pt x="61913" y="0"/>
                </a:moveTo>
                <a:lnTo>
                  <a:pt x="1548180" y="0"/>
                </a:lnTo>
                <a:lnTo>
                  <a:pt x="1548180" y="123825"/>
                </a:lnTo>
                <a:lnTo>
                  <a:pt x="123825" y="123825"/>
                </a:lnTo>
                <a:lnTo>
                  <a:pt x="123825" y="1022351"/>
                </a:lnTo>
                <a:lnTo>
                  <a:pt x="0" y="1022351"/>
                </a:lnTo>
                <a:lnTo>
                  <a:pt x="0" y="61913"/>
                </a:lnTo>
                <a:cubicBezTo>
                  <a:pt x="0" y="27719"/>
                  <a:pt x="27719" y="0"/>
                  <a:pt x="61913" y="0"/>
                </a:cubicBezTo>
                <a:close/>
              </a:path>
            </a:pathLst>
          </a:custGeom>
          <a:solidFill>
            <a:schemeClr val="accent6"/>
          </a:solidFill>
          <a:ln w="9525" cap="flat">
            <a:noFill/>
            <a:prstDash val="solid"/>
            <a:miter/>
          </a:ln>
        </p:spPr>
        <p:txBody>
          <a:bodyPr rtlCol="0" anchor="ctr"/>
          <a:lstStyle/>
          <a:p>
            <a:endParaRPr lang="en-US"/>
          </a:p>
        </p:txBody>
      </p:sp>
      <p:sp>
        <p:nvSpPr>
          <p:cNvPr id="20" name="Freeform: Shape 19">
            <a:extLst>
              <a:ext uri="{FF2B5EF4-FFF2-40B4-BE49-F238E27FC236}">
                <a16:creationId xmlns:a16="http://schemas.microsoft.com/office/drawing/2014/main" id="{2D2964BB-484D-45AE-AD66-D407D06296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418308" y="5717905"/>
            <a:ext cx="1771609" cy="1140095"/>
          </a:xfrm>
          <a:custGeom>
            <a:avLst/>
            <a:gdLst>
              <a:gd name="connsiteX0" fmla="*/ 1561721 w 1771609"/>
              <a:gd name="connsiteY0" fmla="*/ 763041 h 1140095"/>
              <a:gd name="connsiteX1" fmla="*/ 1623024 w 1771609"/>
              <a:gd name="connsiteY1" fmla="*/ 792810 h 1140095"/>
              <a:gd name="connsiteX2" fmla="*/ 1711735 w 1771609"/>
              <a:gd name="connsiteY2" fmla="*/ 970132 h 1140095"/>
              <a:gd name="connsiteX3" fmla="*/ 1771609 w 1771609"/>
              <a:gd name="connsiteY3" fmla="*/ 1140095 h 1140095"/>
              <a:gd name="connsiteX4" fmla="*/ 1637225 w 1771609"/>
              <a:gd name="connsiteY4" fmla="*/ 1140095 h 1140095"/>
              <a:gd name="connsiteX5" fmla="*/ 1594820 w 1771609"/>
              <a:gd name="connsiteY5" fmla="*/ 1019711 h 1140095"/>
              <a:gd name="connsiteX6" fmla="*/ 1513200 w 1771609"/>
              <a:gd name="connsiteY6" fmla="*/ 856627 h 1140095"/>
              <a:gd name="connsiteX7" fmla="*/ 1538499 w 1771609"/>
              <a:gd name="connsiteY7" fmla="*/ 770415 h 1140095"/>
              <a:gd name="connsiteX8" fmla="*/ 1561721 w 1771609"/>
              <a:gd name="connsiteY8" fmla="*/ 763041 h 1140095"/>
              <a:gd name="connsiteX9" fmla="*/ 933455 w 1771609"/>
              <a:gd name="connsiteY9" fmla="*/ 161309 h 1140095"/>
              <a:gd name="connsiteX10" fmla="*/ 957797 w 1771609"/>
              <a:gd name="connsiteY10" fmla="*/ 167970 h 1140095"/>
              <a:gd name="connsiteX11" fmla="*/ 1286982 w 1771609"/>
              <a:gd name="connsiteY11" fmla="*/ 387616 h 1140095"/>
              <a:gd name="connsiteX12" fmla="*/ 1293725 w 1771609"/>
              <a:gd name="connsiteY12" fmla="*/ 477075 h 1140095"/>
              <a:gd name="connsiteX13" fmla="*/ 1245453 w 1771609"/>
              <a:gd name="connsiteY13" fmla="*/ 499154 h 1140095"/>
              <a:gd name="connsiteX14" fmla="*/ 1245167 w 1771609"/>
              <a:gd name="connsiteY14" fmla="*/ 499154 h 1140095"/>
              <a:gd name="connsiteX15" fmla="*/ 1203638 w 1771609"/>
              <a:gd name="connsiteY15" fmla="*/ 484104 h 1140095"/>
              <a:gd name="connsiteX16" fmla="*/ 900647 w 1771609"/>
              <a:gd name="connsiteY16" fmla="*/ 281508 h 1140095"/>
              <a:gd name="connsiteX17" fmla="*/ 872454 w 1771609"/>
              <a:gd name="connsiteY17" fmla="*/ 196164 h 1140095"/>
              <a:gd name="connsiteX18" fmla="*/ 933455 w 1771609"/>
              <a:gd name="connsiteY18" fmla="*/ 161309 h 1140095"/>
              <a:gd name="connsiteX19" fmla="*/ 256260 w 1771609"/>
              <a:gd name="connsiteY19" fmla="*/ 29 h 1140095"/>
              <a:gd name="connsiteX20" fmla="*/ 454020 w 1771609"/>
              <a:gd name="connsiteY20" fmla="*/ 13474 h 1140095"/>
              <a:gd name="connsiteX21" fmla="*/ 509236 w 1771609"/>
              <a:gd name="connsiteY21" fmla="*/ 84182 h 1140095"/>
              <a:gd name="connsiteX22" fmla="*/ 445829 w 1771609"/>
              <a:gd name="connsiteY22" fmla="*/ 139871 h 1140095"/>
              <a:gd name="connsiteX23" fmla="*/ 437447 w 1771609"/>
              <a:gd name="connsiteY23" fmla="*/ 139395 h 1140095"/>
              <a:gd name="connsiteX24" fmla="*/ 73211 w 1771609"/>
              <a:gd name="connsiteY24" fmla="*/ 137204 h 1140095"/>
              <a:gd name="connsiteX25" fmla="*/ 749 w 1771609"/>
              <a:gd name="connsiteY25" fmla="*/ 84082 h 1140095"/>
              <a:gd name="connsiteX26" fmla="*/ 53871 w 1771609"/>
              <a:gd name="connsiteY26" fmla="*/ 11621 h 1140095"/>
              <a:gd name="connsiteX27" fmla="*/ 58352 w 1771609"/>
              <a:gd name="connsiteY27" fmla="*/ 11093 h 1140095"/>
              <a:gd name="connsiteX28" fmla="*/ 256260 w 1771609"/>
              <a:gd name="connsiteY28" fmla="*/ 29 h 11400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771609" h="1140095">
                <a:moveTo>
                  <a:pt x="1561721" y="763041"/>
                </a:moveTo>
                <a:cubicBezTo>
                  <a:pt x="1585506" y="760324"/>
                  <a:pt x="1609722" y="771249"/>
                  <a:pt x="1623024" y="792810"/>
                </a:cubicBezTo>
                <a:cubicBezTo>
                  <a:pt x="1656300" y="850065"/>
                  <a:pt x="1685920" y="909291"/>
                  <a:pt x="1711735" y="970132"/>
                </a:cubicBezTo>
                <a:lnTo>
                  <a:pt x="1771609" y="1140095"/>
                </a:lnTo>
                <a:lnTo>
                  <a:pt x="1637225" y="1140095"/>
                </a:lnTo>
                <a:lnTo>
                  <a:pt x="1594820" y="1019711"/>
                </a:lnTo>
                <a:cubicBezTo>
                  <a:pt x="1571072" y="963753"/>
                  <a:pt x="1543818" y="909282"/>
                  <a:pt x="1513200" y="856627"/>
                </a:cubicBezTo>
                <a:cubicBezTo>
                  <a:pt x="1496379" y="825834"/>
                  <a:pt x="1507704" y="787236"/>
                  <a:pt x="1538499" y="770415"/>
                </a:cubicBezTo>
                <a:cubicBezTo>
                  <a:pt x="1545912" y="766367"/>
                  <a:pt x="1553792" y="763946"/>
                  <a:pt x="1561721" y="763041"/>
                </a:cubicBezTo>
                <a:close/>
                <a:moveTo>
                  <a:pt x="933455" y="161309"/>
                </a:moveTo>
                <a:cubicBezTo>
                  <a:pt x="941693" y="161855"/>
                  <a:pt x="949959" y="164025"/>
                  <a:pt x="957797" y="167970"/>
                </a:cubicBezTo>
                <a:cubicBezTo>
                  <a:pt x="1076184" y="227289"/>
                  <a:pt x="1186759" y="301068"/>
                  <a:pt x="1286982" y="387616"/>
                </a:cubicBezTo>
                <a:cubicBezTo>
                  <a:pt x="1313547" y="410457"/>
                  <a:pt x="1316566" y="450510"/>
                  <a:pt x="1293725" y="477075"/>
                </a:cubicBezTo>
                <a:cubicBezTo>
                  <a:pt x="1281638" y="491137"/>
                  <a:pt x="1263998" y="499204"/>
                  <a:pt x="1245453" y="499154"/>
                </a:cubicBezTo>
                <a:lnTo>
                  <a:pt x="1245167" y="499154"/>
                </a:lnTo>
                <a:cubicBezTo>
                  <a:pt x="1229965" y="499301"/>
                  <a:pt x="1215220" y="493956"/>
                  <a:pt x="1203638" y="484104"/>
                </a:cubicBezTo>
                <a:cubicBezTo>
                  <a:pt x="1111407" y="404300"/>
                  <a:pt x="1009633" y="336248"/>
                  <a:pt x="900647" y="281508"/>
                </a:cubicBezTo>
                <a:cubicBezTo>
                  <a:pt x="869295" y="265726"/>
                  <a:pt x="856672" y="227516"/>
                  <a:pt x="872454" y="196164"/>
                </a:cubicBezTo>
                <a:cubicBezTo>
                  <a:pt x="884290" y="172650"/>
                  <a:pt x="908742" y="159670"/>
                  <a:pt x="933455" y="161309"/>
                </a:cubicBezTo>
                <a:close/>
                <a:moveTo>
                  <a:pt x="256260" y="29"/>
                </a:moveTo>
                <a:cubicBezTo>
                  <a:pt x="322331" y="427"/>
                  <a:pt x="388378" y="4909"/>
                  <a:pt x="454020" y="13474"/>
                </a:cubicBezTo>
                <a:cubicBezTo>
                  <a:pt x="488793" y="17752"/>
                  <a:pt x="513514" y="49409"/>
                  <a:pt x="509236" y="84182"/>
                </a:cubicBezTo>
                <a:cubicBezTo>
                  <a:pt x="505303" y="116151"/>
                  <a:pt x="478038" y="140098"/>
                  <a:pt x="445829" y="139871"/>
                </a:cubicBezTo>
                <a:cubicBezTo>
                  <a:pt x="443027" y="139899"/>
                  <a:pt x="440227" y="139740"/>
                  <a:pt x="437447" y="139395"/>
                </a:cubicBezTo>
                <a:cubicBezTo>
                  <a:pt x="316592" y="123615"/>
                  <a:pt x="194247" y="122878"/>
                  <a:pt x="73211" y="137204"/>
                </a:cubicBezTo>
                <a:cubicBezTo>
                  <a:pt x="38532" y="142545"/>
                  <a:pt x="6090" y="118762"/>
                  <a:pt x="749" y="84082"/>
                </a:cubicBezTo>
                <a:cubicBezTo>
                  <a:pt x="-4591" y="49403"/>
                  <a:pt x="19192" y="16961"/>
                  <a:pt x="53871" y="11621"/>
                </a:cubicBezTo>
                <a:cubicBezTo>
                  <a:pt x="55358" y="11392"/>
                  <a:pt x="56852" y="11216"/>
                  <a:pt x="58352" y="11093"/>
                </a:cubicBezTo>
                <a:cubicBezTo>
                  <a:pt x="124093" y="3319"/>
                  <a:pt x="190189" y="-369"/>
                  <a:pt x="256260" y="29"/>
                </a:cubicBezTo>
                <a:close/>
              </a:path>
            </a:pathLst>
          </a:custGeom>
          <a:solidFill>
            <a:schemeClr val="accent4"/>
          </a:solidFill>
          <a:ln w="9525"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6691AC69-A76E-4DAB-B565-468B6B87ACF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132972" y="6258755"/>
            <a:ext cx="1565940" cy="599245"/>
          </a:xfrm>
          <a:custGeom>
            <a:avLst/>
            <a:gdLst>
              <a:gd name="connsiteX0" fmla="*/ 782970 w 1565940"/>
              <a:gd name="connsiteY0" fmla="*/ 0 h 599245"/>
              <a:gd name="connsiteX1" fmla="*/ 1528042 w 1565940"/>
              <a:gd name="connsiteY1" fmla="*/ 480469 h 599245"/>
              <a:gd name="connsiteX2" fmla="*/ 1565940 w 1565940"/>
              <a:gd name="connsiteY2" fmla="*/ 599245 h 599245"/>
              <a:gd name="connsiteX3" fmla="*/ 0 w 1565940"/>
              <a:gd name="connsiteY3" fmla="*/ 599245 h 599245"/>
              <a:gd name="connsiteX4" fmla="*/ 37898 w 1565940"/>
              <a:gd name="connsiteY4" fmla="*/ 480469 h 599245"/>
              <a:gd name="connsiteX5" fmla="*/ 782970 w 1565940"/>
              <a:gd name="connsiteY5" fmla="*/ 0 h 599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65940" h="599245">
                <a:moveTo>
                  <a:pt x="782970" y="0"/>
                </a:moveTo>
                <a:cubicBezTo>
                  <a:pt x="1117910" y="0"/>
                  <a:pt x="1405287" y="198118"/>
                  <a:pt x="1528042" y="480469"/>
                </a:cubicBezTo>
                <a:lnTo>
                  <a:pt x="1565940" y="599245"/>
                </a:lnTo>
                <a:lnTo>
                  <a:pt x="0" y="599245"/>
                </a:lnTo>
                <a:lnTo>
                  <a:pt x="37898" y="480469"/>
                </a:lnTo>
                <a:cubicBezTo>
                  <a:pt x="160653" y="198118"/>
                  <a:pt x="448030" y="0"/>
                  <a:pt x="782970"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Tree>
    <p:extLst>
      <p:ext uri="{BB962C8B-B14F-4D97-AF65-F5344CB8AC3E}">
        <p14:creationId xmlns:p14="http://schemas.microsoft.com/office/powerpoint/2010/main" val="3896853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C2554CA6-288E-4202-BC52-2E5A8F0C0A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B10BB131-AC8E-4A8E-A5D1-36260F720C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9189" y="1119031"/>
            <a:ext cx="4619938" cy="4619938"/>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8E81210-540D-140E-E60E-9A847FDAE3AC}"/>
              </a:ext>
            </a:extLst>
          </p:cNvPr>
          <p:cNvSpPr>
            <a:spLocks noGrp="1"/>
          </p:cNvSpPr>
          <p:nvPr>
            <p:ph type="title"/>
          </p:nvPr>
        </p:nvSpPr>
        <p:spPr>
          <a:xfrm>
            <a:off x="1171074" y="1396686"/>
            <a:ext cx="3240506" cy="4064628"/>
          </a:xfrm>
        </p:spPr>
        <p:txBody>
          <a:bodyPr>
            <a:normAutofit/>
          </a:bodyPr>
          <a:lstStyle/>
          <a:p>
            <a:r>
              <a:rPr lang="en-CA">
                <a:solidFill>
                  <a:srgbClr val="FFFFFF"/>
                </a:solidFill>
              </a:rPr>
              <a:t>The human role</a:t>
            </a:r>
          </a:p>
        </p:txBody>
      </p:sp>
      <p:sp>
        <p:nvSpPr>
          <p:cNvPr id="12" name="Arc 11">
            <a:extLst>
              <a:ext uri="{FF2B5EF4-FFF2-40B4-BE49-F238E27FC236}">
                <a16:creationId xmlns:a16="http://schemas.microsoft.com/office/drawing/2014/main" id="{5B7778FC-632E-4DCA-A7CB-0D7731CCF97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9809111">
            <a:off x="8683720" y="941148"/>
            <a:ext cx="2987899" cy="2987899"/>
          </a:xfrm>
          <a:prstGeom prst="arc">
            <a:avLst>
              <a:gd name="adj1" fmla="val 15817365"/>
              <a:gd name="adj2" fmla="val 1781380"/>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4" name="Oval 13">
            <a:extLst>
              <a:ext uri="{FF2B5EF4-FFF2-40B4-BE49-F238E27FC236}">
                <a16:creationId xmlns:a16="http://schemas.microsoft.com/office/drawing/2014/main" id="{FA23A907-97FB-4A8F-880A-DD77401C42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10048" y="4780992"/>
            <a:ext cx="546100" cy="546100"/>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3" name="Content Placeholder 2">
            <a:extLst>
              <a:ext uri="{FF2B5EF4-FFF2-40B4-BE49-F238E27FC236}">
                <a16:creationId xmlns:a16="http://schemas.microsoft.com/office/drawing/2014/main" id="{B1A1947F-E110-9FF8-4CB0-9E2530D660F6}"/>
              </a:ext>
            </a:extLst>
          </p:cNvPr>
          <p:cNvSpPr>
            <a:spLocks noGrp="1"/>
          </p:cNvSpPr>
          <p:nvPr>
            <p:ph idx="1"/>
          </p:nvPr>
        </p:nvSpPr>
        <p:spPr>
          <a:xfrm>
            <a:off x="5370153" y="1526033"/>
            <a:ext cx="5536397" cy="3935281"/>
          </a:xfrm>
        </p:spPr>
        <p:txBody>
          <a:bodyPr>
            <a:normAutofit/>
          </a:bodyPr>
          <a:lstStyle/>
          <a:p>
            <a:r>
              <a:rPr lang="en-CA" dirty="0"/>
              <a:t>Provide context to the agents</a:t>
            </a:r>
          </a:p>
          <a:p>
            <a:r>
              <a:rPr lang="en-CA" dirty="0"/>
              <a:t>Provide positive and negative feedback to completed work</a:t>
            </a:r>
          </a:p>
          <a:p>
            <a:r>
              <a:rPr lang="en-CA" dirty="0"/>
              <a:t>Review and approve all changes</a:t>
            </a:r>
          </a:p>
          <a:p>
            <a:r>
              <a:rPr lang="en-CA" dirty="0"/>
              <a:t>Set direction and priorities</a:t>
            </a:r>
          </a:p>
        </p:txBody>
      </p:sp>
    </p:spTree>
    <p:extLst>
      <p:ext uri="{BB962C8B-B14F-4D97-AF65-F5344CB8AC3E}">
        <p14:creationId xmlns:p14="http://schemas.microsoft.com/office/powerpoint/2010/main" val="324070471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DA7646D-5745-AC42-7FED-53173C4883F6}"/>
            </a:ext>
          </a:extLst>
        </p:cNvPr>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Freeform: Shape 18">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35D2D0A-4528-D7F4-0635-F57CDB9841B4}"/>
              </a:ext>
            </a:extLst>
          </p:cNvPr>
          <p:cNvSpPr>
            <a:spLocks noGrp="1"/>
          </p:cNvSpPr>
          <p:nvPr>
            <p:ph type="title"/>
          </p:nvPr>
        </p:nvSpPr>
        <p:spPr>
          <a:xfrm>
            <a:off x="686834" y="1153572"/>
            <a:ext cx="3200400" cy="4461163"/>
          </a:xfrm>
        </p:spPr>
        <p:txBody>
          <a:bodyPr>
            <a:normAutofit/>
          </a:bodyPr>
          <a:lstStyle/>
          <a:p>
            <a:r>
              <a:rPr lang="en-CA">
                <a:solidFill>
                  <a:srgbClr val="FFFFFF"/>
                </a:solidFill>
              </a:rPr>
              <a:t>Risks</a:t>
            </a:r>
            <a:endParaRPr lang="en-CA" dirty="0">
              <a:solidFill>
                <a:srgbClr val="FFFFFF"/>
              </a:solidFill>
            </a:endParaRPr>
          </a:p>
        </p:txBody>
      </p:sp>
      <p:sp>
        <p:nvSpPr>
          <p:cNvPr id="21" name="Arc 20">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8ADC9AB9-B53A-C55C-6575-CD0C47FAD97A}"/>
              </a:ext>
            </a:extLst>
          </p:cNvPr>
          <p:cNvSpPr>
            <a:spLocks noGrp="1"/>
          </p:cNvSpPr>
          <p:nvPr>
            <p:ph idx="1"/>
          </p:nvPr>
        </p:nvSpPr>
        <p:spPr>
          <a:xfrm>
            <a:off x="4447308" y="215153"/>
            <a:ext cx="7457821" cy="6323759"/>
          </a:xfrm>
        </p:spPr>
        <p:txBody>
          <a:bodyPr anchor="ctr">
            <a:normAutofit/>
          </a:bodyPr>
          <a:lstStyle/>
          <a:p>
            <a:pPr marL="228600" indent="-228600" rtl="0" eaLnBrk="1" latinLnBrk="0" hangingPunct="1">
              <a:spcBef>
                <a:spcPts val="1200"/>
              </a:spcBef>
              <a:buFont typeface="Arial" panose="020B0604020202020204" pitchFamily="34" charset="0"/>
              <a:buChar char="•"/>
            </a:pPr>
            <a:r>
              <a:rPr lang="en-US" sz="1800" dirty="0">
                <a:effectLst/>
                <a:latin typeface="Aptos" panose="020B0004020202020204" pitchFamily="34" charset="0"/>
              </a:rPr>
              <a:t>GitHub Copilot is advancing quickly, with numerous features still in preview and no assurance they will be officially released soon.</a:t>
            </a:r>
          </a:p>
          <a:p>
            <a:pPr marL="228600" indent="-228600" rtl="0" eaLnBrk="1" latinLnBrk="0" hangingPunct="1">
              <a:spcBef>
                <a:spcPts val="1200"/>
              </a:spcBef>
              <a:buFont typeface="Arial" panose="020B0604020202020204" pitchFamily="34" charset="0"/>
              <a:buChar char="•"/>
            </a:pPr>
            <a:r>
              <a:rPr lang="en-US" sz="1800" dirty="0">
                <a:effectLst/>
                <a:latin typeface="Aptos" panose="020B0004020202020204" pitchFamily="34" charset="0"/>
              </a:rPr>
              <a:t>The MCP registry is currently unstable. I am working with multiple MCP servers from this registry, and agents often report bugs, which means </a:t>
            </a:r>
            <a:r>
              <a:rPr lang="en-US" sz="1800" dirty="0" err="1">
                <a:effectLst/>
                <a:latin typeface="Aptos" panose="020B0004020202020204" pitchFamily="34" charset="0"/>
              </a:rPr>
              <a:t>CodeLantern</a:t>
            </a:r>
            <a:r>
              <a:rPr lang="en-US" sz="1800" dirty="0">
                <a:effectLst/>
                <a:latin typeface="Aptos" panose="020B0004020202020204" pitchFamily="34" charset="0"/>
              </a:rPr>
              <a:t> is being developed in a constantly evolving environment.</a:t>
            </a:r>
          </a:p>
          <a:p>
            <a:pPr marL="228600" indent="-228600" rtl="0" eaLnBrk="1" latinLnBrk="0" hangingPunct="1">
              <a:spcBef>
                <a:spcPts val="1200"/>
              </a:spcBef>
              <a:buFont typeface="Arial" panose="020B0604020202020204" pitchFamily="34" charset="0"/>
              <a:buChar char="•"/>
            </a:pPr>
            <a:r>
              <a:rPr lang="en-US" sz="1800" dirty="0">
                <a:effectLst/>
                <a:latin typeface="Aptos" panose="020B0004020202020204" pitchFamily="34" charset="0"/>
              </a:rPr>
              <a:t>GitHub Copilot maintains complete control; for example, it limits coding agents to work exclusively with Anthropic Sonnet, including any custom agents you develop.</a:t>
            </a:r>
          </a:p>
          <a:p>
            <a:pPr marL="228600" indent="-228600" rtl="0" eaLnBrk="1" latinLnBrk="0" hangingPunct="1">
              <a:spcBef>
                <a:spcPts val="1200"/>
              </a:spcBef>
              <a:buFont typeface="Arial" panose="020B0604020202020204" pitchFamily="34" charset="0"/>
              <a:buChar char="•"/>
            </a:pPr>
            <a:r>
              <a:rPr lang="en-US" sz="1800" dirty="0">
                <a:effectLst/>
                <a:latin typeface="Aptos" panose="020B0004020202020204" pitchFamily="34" charset="0"/>
              </a:rPr>
              <a:t>The cost of GitHub Copilot licenses ranges between $15 and $30 USD per user each month, covering the main features. It’s important to consider how much extra users might be willing to pay for </a:t>
            </a:r>
            <a:r>
              <a:rPr lang="en-US" sz="1800" dirty="0" err="1">
                <a:effectLst/>
                <a:latin typeface="Aptos" panose="020B0004020202020204" pitchFamily="34" charset="0"/>
              </a:rPr>
              <a:t>CodeLantern</a:t>
            </a:r>
            <a:r>
              <a:rPr lang="en-US" sz="1800" dirty="0">
                <a:effectLst/>
                <a:latin typeface="Aptos" panose="020B0004020202020204" pitchFamily="34" charset="0"/>
              </a:rPr>
              <a:t> beyond this.</a:t>
            </a:r>
          </a:p>
          <a:p>
            <a:pPr marL="228600" indent="-228600" rtl="0" eaLnBrk="1" latinLnBrk="0" hangingPunct="1">
              <a:spcBef>
                <a:spcPts val="1200"/>
              </a:spcBef>
              <a:buFont typeface="Arial" panose="020B0604020202020204" pitchFamily="34" charset="0"/>
              <a:buChar char="•"/>
            </a:pPr>
            <a:r>
              <a:rPr lang="en-US" sz="1800" dirty="0">
                <a:effectLst/>
                <a:latin typeface="Aptos" panose="020B0004020202020204" pitchFamily="34" charset="0"/>
              </a:rPr>
              <a:t>Building, maintaining, and supporting a product involves considerable challenges.</a:t>
            </a:r>
          </a:p>
          <a:p>
            <a:pPr marL="228600" indent="-228600" rtl="0" eaLnBrk="1" latinLnBrk="0" hangingPunct="1">
              <a:spcBef>
                <a:spcPts val="1200"/>
              </a:spcBef>
              <a:buFont typeface="Arial" panose="020B0604020202020204" pitchFamily="34" charset="0"/>
              <a:buChar char="•"/>
            </a:pPr>
            <a:r>
              <a:rPr lang="en-US" sz="1800" dirty="0">
                <a:latin typeface="Aptos" panose="020B0004020202020204" pitchFamily="34" charset="0"/>
              </a:rPr>
              <a:t>Will a product make the result less flexible for end clients. IE: With consulting, you can use a base set of artifacts and just adapt on a per client basis?</a:t>
            </a:r>
          </a:p>
          <a:p>
            <a:pPr marL="228600" indent="-228600" rtl="0" eaLnBrk="1" latinLnBrk="0" hangingPunct="1">
              <a:spcBef>
                <a:spcPts val="1200"/>
              </a:spcBef>
              <a:buFont typeface="Arial" panose="020B0604020202020204" pitchFamily="34" charset="0"/>
              <a:buChar char="•"/>
            </a:pPr>
            <a:r>
              <a:rPr lang="en-US" sz="1800" dirty="0">
                <a:effectLst/>
                <a:latin typeface="Aptos" panose="020B0004020202020204" pitchFamily="34" charset="0"/>
              </a:rPr>
              <a:t>This space is changing at an incredible pace (likely due to the use of AI augmented development). GitHub just release Agent HQ, and Sparks v2, Figma has a tool, Cursor, Claude Code.</a:t>
            </a:r>
          </a:p>
        </p:txBody>
      </p:sp>
    </p:spTree>
    <p:extLst>
      <p:ext uri="{BB962C8B-B14F-4D97-AF65-F5344CB8AC3E}">
        <p14:creationId xmlns:p14="http://schemas.microsoft.com/office/powerpoint/2010/main" val="312933933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4DADFEC-A2C0-8695-0D8D-6F78BBDCF829}"/>
            </a:ext>
          </a:extLst>
        </p:cNvPr>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1709F1D5-B0F1-4714-A239-E5B61C16191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Rounded Corners 23">
            <a:extLst>
              <a:ext uri="{FF2B5EF4-FFF2-40B4-BE49-F238E27FC236}">
                <a16:creationId xmlns:a16="http://schemas.microsoft.com/office/drawing/2014/main" id="{228FB460-D3FF-4440-A020-05982A09E5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40546" y="1011045"/>
            <a:ext cx="4369859" cy="4369859"/>
          </a:xfrm>
          <a:prstGeom prst="roundRect">
            <a:avLst>
              <a:gd name="adj" fmla="val 2757"/>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63DFC4D-88DF-3340-ED2C-DF2E0D7FE436}"/>
              </a:ext>
            </a:extLst>
          </p:cNvPr>
          <p:cNvSpPr>
            <a:spLocks noGrp="1"/>
          </p:cNvSpPr>
          <p:nvPr>
            <p:ph type="title"/>
          </p:nvPr>
        </p:nvSpPr>
        <p:spPr>
          <a:xfrm>
            <a:off x="956826" y="1112969"/>
            <a:ext cx="3937298" cy="4166010"/>
          </a:xfrm>
        </p:spPr>
        <p:txBody>
          <a:bodyPr>
            <a:normAutofit/>
          </a:bodyPr>
          <a:lstStyle/>
          <a:p>
            <a:r>
              <a:rPr lang="en-CA" dirty="0">
                <a:solidFill>
                  <a:srgbClr val="FFFFFF"/>
                </a:solidFill>
              </a:rPr>
              <a:t>Phased Approach?</a:t>
            </a:r>
          </a:p>
        </p:txBody>
      </p:sp>
      <p:sp>
        <p:nvSpPr>
          <p:cNvPr id="26" name="Freeform: Shape 25">
            <a:extLst>
              <a:ext uri="{FF2B5EF4-FFF2-40B4-BE49-F238E27FC236}">
                <a16:creationId xmlns:a16="http://schemas.microsoft.com/office/drawing/2014/main" id="{14847E93-7DC1-4D4B-8829-B19AA7137C5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530529" y="0"/>
            <a:ext cx="1155142" cy="591009"/>
          </a:xfrm>
          <a:custGeom>
            <a:avLst/>
            <a:gdLst>
              <a:gd name="connsiteX0" fmla="*/ 1355 w 1155142"/>
              <a:gd name="connsiteY0" fmla="*/ 0 h 591009"/>
              <a:gd name="connsiteX1" fmla="*/ 1153787 w 1155142"/>
              <a:gd name="connsiteY1" fmla="*/ 0 h 591009"/>
              <a:gd name="connsiteX2" fmla="*/ 1155142 w 1155142"/>
              <a:gd name="connsiteY2" fmla="*/ 13438 h 591009"/>
              <a:gd name="connsiteX3" fmla="*/ 577571 w 1155142"/>
              <a:gd name="connsiteY3" fmla="*/ 591009 h 591009"/>
              <a:gd name="connsiteX4" fmla="*/ 0 w 1155142"/>
              <a:gd name="connsiteY4" fmla="*/ 13438 h 5910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5142" h="591009">
                <a:moveTo>
                  <a:pt x="1355" y="0"/>
                </a:moveTo>
                <a:lnTo>
                  <a:pt x="1153787" y="0"/>
                </a:lnTo>
                <a:lnTo>
                  <a:pt x="1155142" y="13438"/>
                </a:lnTo>
                <a:cubicBezTo>
                  <a:pt x="1155142" y="332422"/>
                  <a:pt x="896555" y="591009"/>
                  <a:pt x="577571" y="591009"/>
                </a:cubicBezTo>
                <a:cubicBezTo>
                  <a:pt x="258587" y="591009"/>
                  <a:pt x="0" y="332422"/>
                  <a:pt x="0" y="13438"/>
                </a:cubicBez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8" name="Freeform: Shape 27">
            <a:extLst>
              <a:ext uri="{FF2B5EF4-FFF2-40B4-BE49-F238E27FC236}">
                <a16:creationId xmlns:a16="http://schemas.microsoft.com/office/drawing/2014/main" id="{5566D6E1-03A1-4D73-A4E0-35D74D568A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961511" y="-1"/>
            <a:ext cx="1737401" cy="959536"/>
          </a:xfrm>
          <a:custGeom>
            <a:avLst/>
            <a:gdLst>
              <a:gd name="connsiteX0" fmla="*/ 0 w 1737401"/>
              <a:gd name="connsiteY0" fmla="*/ 0 h 959536"/>
              <a:gd name="connsiteX1" fmla="*/ 123825 w 1737401"/>
              <a:gd name="connsiteY1" fmla="*/ 0 h 959536"/>
              <a:gd name="connsiteX2" fmla="*/ 123825 w 1737401"/>
              <a:gd name="connsiteY2" fmla="*/ 790277 h 959536"/>
              <a:gd name="connsiteX3" fmla="*/ 1490095 w 1737401"/>
              <a:gd name="connsiteY3" fmla="*/ 0 h 959536"/>
              <a:gd name="connsiteX4" fmla="*/ 1737401 w 1737401"/>
              <a:gd name="connsiteY4" fmla="*/ 0 h 959536"/>
              <a:gd name="connsiteX5" fmla="*/ 92869 w 1737401"/>
              <a:gd name="connsiteY5" fmla="*/ 951249 h 959536"/>
              <a:gd name="connsiteX6" fmla="*/ 61913 w 1737401"/>
              <a:gd name="connsiteY6" fmla="*/ 959536 h 959536"/>
              <a:gd name="connsiteX7" fmla="*/ 0 w 1737401"/>
              <a:gd name="connsiteY7" fmla="*/ 897624 h 959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37401" h="959536">
                <a:moveTo>
                  <a:pt x="0" y="0"/>
                </a:moveTo>
                <a:lnTo>
                  <a:pt x="123825" y="0"/>
                </a:lnTo>
                <a:lnTo>
                  <a:pt x="123825" y="790277"/>
                </a:lnTo>
                <a:lnTo>
                  <a:pt x="1490095" y="0"/>
                </a:lnTo>
                <a:lnTo>
                  <a:pt x="1737401" y="0"/>
                </a:lnTo>
                <a:lnTo>
                  <a:pt x="92869" y="951249"/>
                </a:lnTo>
                <a:cubicBezTo>
                  <a:pt x="83458" y="956688"/>
                  <a:pt x="72780" y="959546"/>
                  <a:pt x="61913" y="959536"/>
                </a:cubicBezTo>
                <a:cubicBezTo>
                  <a:pt x="27719" y="959536"/>
                  <a:pt x="0" y="931818"/>
                  <a:pt x="0" y="897624"/>
                </a:cubicBezTo>
                <a:close/>
              </a:path>
            </a:pathLst>
          </a:custGeom>
          <a:solidFill>
            <a:schemeClr val="accent6"/>
          </a:solidFill>
          <a:ln w="9525" cap="flat">
            <a:noFill/>
            <a:prstDash val="solid"/>
            <a:miter/>
          </a:ln>
        </p:spPr>
        <p:txBody>
          <a:bodyPr rtlCol="0" anchor="ctr"/>
          <a:lstStyle/>
          <a:p>
            <a:endParaRPr lang="en-US"/>
          </a:p>
        </p:txBody>
      </p:sp>
      <p:sp>
        <p:nvSpPr>
          <p:cNvPr id="30" name="Freeform: Shape 29">
            <a:extLst>
              <a:ext uri="{FF2B5EF4-FFF2-40B4-BE49-F238E27FC236}">
                <a16:creationId xmlns:a16="http://schemas.microsoft.com/office/drawing/2014/main" id="{9F835A99-04AC-494A-A572-AFE8413CC9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2936831"/>
            <a:ext cx="159741" cy="552996"/>
          </a:xfrm>
          <a:custGeom>
            <a:avLst/>
            <a:gdLst>
              <a:gd name="connsiteX0" fmla="*/ 159741 w 159741"/>
              <a:gd name="connsiteY0" fmla="*/ 0 h 552996"/>
              <a:gd name="connsiteX1" fmla="*/ 159741 w 159741"/>
              <a:gd name="connsiteY1" fmla="*/ 552996 h 552996"/>
              <a:gd name="connsiteX2" fmla="*/ 141849 w 159741"/>
              <a:gd name="connsiteY2" fmla="*/ 543285 h 552996"/>
              <a:gd name="connsiteX3" fmla="*/ 0 w 159741"/>
              <a:gd name="connsiteY3" fmla="*/ 276498 h 552996"/>
              <a:gd name="connsiteX4" fmla="*/ 141849 w 159741"/>
              <a:gd name="connsiteY4" fmla="*/ 9711 h 5529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9741" h="552996">
                <a:moveTo>
                  <a:pt x="159741" y="0"/>
                </a:moveTo>
                <a:lnTo>
                  <a:pt x="159741" y="552996"/>
                </a:lnTo>
                <a:lnTo>
                  <a:pt x="141849" y="543285"/>
                </a:lnTo>
                <a:cubicBezTo>
                  <a:pt x="56268" y="485467"/>
                  <a:pt x="0" y="387554"/>
                  <a:pt x="0" y="276498"/>
                </a:cubicBezTo>
                <a:cubicBezTo>
                  <a:pt x="0" y="165443"/>
                  <a:pt x="56268" y="67529"/>
                  <a:pt x="141849" y="9711"/>
                </a:cubicBezTo>
                <a:close/>
              </a:path>
            </a:pathLst>
          </a:custGeom>
          <a:solidFill>
            <a:schemeClr val="accent4"/>
          </a:solidFill>
          <a:ln w="12700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 name="Content Placeholder 2">
            <a:extLst>
              <a:ext uri="{FF2B5EF4-FFF2-40B4-BE49-F238E27FC236}">
                <a16:creationId xmlns:a16="http://schemas.microsoft.com/office/drawing/2014/main" id="{D84FCCDE-3018-78B8-49A8-3DA565C36FCC}"/>
              </a:ext>
            </a:extLst>
          </p:cNvPr>
          <p:cNvSpPr>
            <a:spLocks noGrp="1"/>
          </p:cNvSpPr>
          <p:nvPr>
            <p:ph idx="1"/>
          </p:nvPr>
        </p:nvSpPr>
        <p:spPr>
          <a:xfrm>
            <a:off x="6096000" y="820880"/>
            <a:ext cx="5257799" cy="4889350"/>
          </a:xfrm>
        </p:spPr>
        <p:txBody>
          <a:bodyPr anchor="t">
            <a:normAutofit/>
          </a:bodyPr>
          <a:lstStyle/>
          <a:p>
            <a:r>
              <a:rPr lang="en-CA" sz="2000"/>
              <a:t>Start as a service company until enough artifacts are battle tested that they can be packaged as subscription service</a:t>
            </a:r>
          </a:p>
          <a:p>
            <a:r>
              <a:rPr lang="en-CA" sz="2000"/>
              <a:t>This will also allow MCP servers to “settle” with increased reliability</a:t>
            </a:r>
          </a:p>
          <a:p>
            <a:r>
              <a:rPr lang="en-CA" sz="2000"/>
              <a:t>It will take time (and experts) to construct archetypes</a:t>
            </a:r>
          </a:p>
          <a:p>
            <a:r>
              <a:rPr lang="en-CA" sz="2000"/>
              <a:t>Ability to generate revenue while building/testing artifacts and the MCP server </a:t>
            </a:r>
          </a:p>
          <a:p>
            <a:r>
              <a:rPr lang="en-CA" sz="2000"/>
              <a:t>Beta/reference clients - Beta clients will get a life-time subscription once ready to go?</a:t>
            </a:r>
          </a:p>
          <a:p>
            <a:r>
              <a:rPr lang="en-CA" sz="2000"/>
              <a:t>Is it better to get the process right, then just use it as Adam suggested and go after the business of building solutions?</a:t>
            </a:r>
          </a:p>
          <a:p>
            <a:endParaRPr lang="en-CA" sz="2000"/>
          </a:p>
        </p:txBody>
      </p:sp>
      <p:sp>
        <p:nvSpPr>
          <p:cNvPr id="32" name="Freeform: Shape 31">
            <a:extLst>
              <a:ext uri="{FF2B5EF4-FFF2-40B4-BE49-F238E27FC236}">
                <a16:creationId xmlns:a16="http://schemas.microsoft.com/office/drawing/2014/main" id="{7B786209-1B0B-4CA9-9BDD-F7327066A8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5835649"/>
            <a:ext cx="1548180" cy="1022351"/>
          </a:xfrm>
          <a:custGeom>
            <a:avLst/>
            <a:gdLst>
              <a:gd name="connsiteX0" fmla="*/ 61913 w 1548180"/>
              <a:gd name="connsiteY0" fmla="*/ 0 h 1022351"/>
              <a:gd name="connsiteX1" fmla="*/ 1548180 w 1548180"/>
              <a:gd name="connsiteY1" fmla="*/ 0 h 1022351"/>
              <a:gd name="connsiteX2" fmla="*/ 1548180 w 1548180"/>
              <a:gd name="connsiteY2" fmla="*/ 123825 h 1022351"/>
              <a:gd name="connsiteX3" fmla="*/ 123825 w 1548180"/>
              <a:gd name="connsiteY3" fmla="*/ 123825 h 1022351"/>
              <a:gd name="connsiteX4" fmla="*/ 123825 w 1548180"/>
              <a:gd name="connsiteY4" fmla="*/ 1022351 h 1022351"/>
              <a:gd name="connsiteX5" fmla="*/ 0 w 1548180"/>
              <a:gd name="connsiteY5" fmla="*/ 1022351 h 1022351"/>
              <a:gd name="connsiteX6" fmla="*/ 0 w 1548180"/>
              <a:gd name="connsiteY6" fmla="*/ 61913 h 1022351"/>
              <a:gd name="connsiteX7" fmla="*/ 61913 w 1548180"/>
              <a:gd name="connsiteY7" fmla="*/ 0 h 10223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48180" h="1022351">
                <a:moveTo>
                  <a:pt x="61913" y="0"/>
                </a:moveTo>
                <a:lnTo>
                  <a:pt x="1548180" y="0"/>
                </a:lnTo>
                <a:lnTo>
                  <a:pt x="1548180" y="123825"/>
                </a:lnTo>
                <a:lnTo>
                  <a:pt x="123825" y="123825"/>
                </a:lnTo>
                <a:lnTo>
                  <a:pt x="123825" y="1022351"/>
                </a:lnTo>
                <a:lnTo>
                  <a:pt x="0" y="1022351"/>
                </a:lnTo>
                <a:lnTo>
                  <a:pt x="0" y="61913"/>
                </a:lnTo>
                <a:cubicBezTo>
                  <a:pt x="0" y="27719"/>
                  <a:pt x="27719" y="0"/>
                  <a:pt x="61913" y="0"/>
                </a:cubicBezTo>
                <a:close/>
              </a:path>
            </a:pathLst>
          </a:custGeom>
          <a:solidFill>
            <a:schemeClr val="accent6"/>
          </a:solidFill>
          <a:ln w="9525" cap="flat">
            <a:noFill/>
            <a:prstDash val="solid"/>
            <a:miter/>
          </a:ln>
        </p:spPr>
        <p:txBody>
          <a:bodyPr rtlCol="0" anchor="ctr"/>
          <a:lstStyle/>
          <a:p>
            <a:endParaRPr lang="en-US"/>
          </a:p>
        </p:txBody>
      </p:sp>
      <p:sp>
        <p:nvSpPr>
          <p:cNvPr id="34" name="Freeform: Shape 33">
            <a:extLst>
              <a:ext uri="{FF2B5EF4-FFF2-40B4-BE49-F238E27FC236}">
                <a16:creationId xmlns:a16="http://schemas.microsoft.com/office/drawing/2014/main" id="{2D2964BB-484D-45AE-AD66-D407D06296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418308" y="5717905"/>
            <a:ext cx="1771609" cy="1140095"/>
          </a:xfrm>
          <a:custGeom>
            <a:avLst/>
            <a:gdLst>
              <a:gd name="connsiteX0" fmla="*/ 1561721 w 1771609"/>
              <a:gd name="connsiteY0" fmla="*/ 763041 h 1140095"/>
              <a:gd name="connsiteX1" fmla="*/ 1623024 w 1771609"/>
              <a:gd name="connsiteY1" fmla="*/ 792810 h 1140095"/>
              <a:gd name="connsiteX2" fmla="*/ 1711735 w 1771609"/>
              <a:gd name="connsiteY2" fmla="*/ 970132 h 1140095"/>
              <a:gd name="connsiteX3" fmla="*/ 1771609 w 1771609"/>
              <a:gd name="connsiteY3" fmla="*/ 1140095 h 1140095"/>
              <a:gd name="connsiteX4" fmla="*/ 1637225 w 1771609"/>
              <a:gd name="connsiteY4" fmla="*/ 1140095 h 1140095"/>
              <a:gd name="connsiteX5" fmla="*/ 1594820 w 1771609"/>
              <a:gd name="connsiteY5" fmla="*/ 1019711 h 1140095"/>
              <a:gd name="connsiteX6" fmla="*/ 1513200 w 1771609"/>
              <a:gd name="connsiteY6" fmla="*/ 856627 h 1140095"/>
              <a:gd name="connsiteX7" fmla="*/ 1538499 w 1771609"/>
              <a:gd name="connsiteY7" fmla="*/ 770415 h 1140095"/>
              <a:gd name="connsiteX8" fmla="*/ 1561721 w 1771609"/>
              <a:gd name="connsiteY8" fmla="*/ 763041 h 1140095"/>
              <a:gd name="connsiteX9" fmla="*/ 933455 w 1771609"/>
              <a:gd name="connsiteY9" fmla="*/ 161309 h 1140095"/>
              <a:gd name="connsiteX10" fmla="*/ 957797 w 1771609"/>
              <a:gd name="connsiteY10" fmla="*/ 167970 h 1140095"/>
              <a:gd name="connsiteX11" fmla="*/ 1286982 w 1771609"/>
              <a:gd name="connsiteY11" fmla="*/ 387616 h 1140095"/>
              <a:gd name="connsiteX12" fmla="*/ 1293725 w 1771609"/>
              <a:gd name="connsiteY12" fmla="*/ 477075 h 1140095"/>
              <a:gd name="connsiteX13" fmla="*/ 1245453 w 1771609"/>
              <a:gd name="connsiteY13" fmla="*/ 499154 h 1140095"/>
              <a:gd name="connsiteX14" fmla="*/ 1245167 w 1771609"/>
              <a:gd name="connsiteY14" fmla="*/ 499154 h 1140095"/>
              <a:gd name="connsiteX15" fmla="*/ 1203638 w 1771609"/>
              <a:gd name="connsiteY15" fmla="*/ 484104 h 1140095"/>
              <a:gd name="connsiteX16" fmla="*/ 900647 w 1771609"/>
              <a:gd name="connsiteY16" fmla="*/ 281508 h 1140095"/>
              <a:gd name="connsiteX17" fmla="*/ 872454 w 1771609"/>
              <a:gd name="connsiteY17" fmla="*/ 196164 h 1140095"/>
              <a:gd name="connsiteX18" fmla="*/ 933455 w 1771609"/>
              <a:gd name="connsiteY18" fmla="*/ 161309 h 1140095"/>
              <a:gd name="connsiteX19" fmla="*/ 256260 w 1771609"/>
              <a:gd name="connsiteY19" fmla="*/ 29 h 1140095"/>
              <a:gd name="connsiteX20" fmla="*/ 454020 w 1771609"/>
              <a:gd name="connsiteY20" fmla="*/ 13474 h 1140095"/>
              <a:gd name="connsiteX21" fmla="*/ 509236 w 1771609"/>
              <a:gd name="connsiteY21" fmla="*/ 84182 h 1140095"/>
              <a:gd name="connsiteX22" fmla="*/ 445829 w 1771609"/>
              <a:gd name="connsiteY22" fmla="*/ 139871 h 1140095"/>
              <a:gd name="connsiteX23" fmla="*/ 437447 w 1771609"/>
              <a:gd name="connsiteY23" fmla="*/ 139395 h 1140095"/>
              <a:gd name="connsiteX24" fmla="*/ 73211 w 1771609"/>
              <a:gd name="connsiteY24" fmla="*/ 137204 h 1140095"/>
              <a:gd name="connsiteX25" fmla="*/ 749 w 1771609"/>
              <a:gd name="connsiteY25" fmla="*/ 84082 h 1140095"/>
              <a:gd name="connsiteX26" fmla="*/ 53871 w 1771609"/>
              <a:gd name="connsiteY26" fmla="*/ 11621 h 1140095"/>
              <a:gd name="connsiteX27" fmla="*/ 58352 w 1771609"/>
              <a:gd name="connsiteY27" fmla="*/ 11093 h 1140095"/>
              <a:gd name="connsiteX28" fmla="*/ 256260 w 1771609"/>
              <a:gd name="connsiteY28" fmla="*/ 29 h 11400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771609" h="1140095">
                <a:moveTo>
                  <a:pt x="1561721" y="763041"/>
                </a:moveTo>
                <a:cubicBezTo>
                  <a:pt x="1585506" y="760324"/>
                  <a:pt x="1609722" y="771249"/>
                  <a:pt x="1623024" y="792810"/>
                </a:cubicBezTo>
                <a:cubicBezTo>
                  <a:pt x="1656300" y="850065"/>
                  <a:pt x="1685920" y="909291"/>
                  <a:pt x="1711735" y="970132"/>
                </a:cubicBezTo>
                <a:lnTo>
                  <a:pt x="1771609" y="1140095"/>
                </a:lnTo>
                <a:lnTo>
                  <a:pt x="1637225" y="1140095"/>
                </a:lnTo>
                <a:lnTo>
                  <a:pt x="1594820" y="1019711"/>
                </a:lnTo>
                <a:cubicBezTo>
                  <a:pt x="1571072" y="963753"/>
                  <a:pt x="1543818" y="909282"/>
                  <a:pt x="1513200" y="856627"/>
                </a:cubicBezTo>
                <a:cubicBezTo>
                  <a:pt x="1496379" y="825834"/>
                  <a:pt x="1507704" y="787236"/>
                  <a:pt x="1538499" y="770415"/>
                </a:cubicBezTo>
                <a:cubicBezTo>
                  <a:pt x="1545912" y="766367"/>
                  <a:pt x="1553792" y="763946"/>
                  <a:pt x="1561721" y="763041"/>
                </a:cubicBezTo>
                <a:close/>
                <a:moveTo>
                  <a:pt x="933455" y="161309"/>
                </a:moveTo>
                <a:cubicBezTo>
                  <a:pt x="941693" y="161855"/>
                  <a:pt x="949959" y="164025"/>
                  <a:pt x="957797" y="167970"/>
                </a:cubicBezTo>
                <a:cubicBezTo>
                  <a:pt x="1076184" y="227289"/>
                  <a:pt x="1186759" y="301068"/>
                  <a:pt x="1286982" y="387616"/>
                </a:cubicBezTo>
                <a:cubicBezTo>
                  <a:pt x="1313547" y="410457"/>
                  <a:pt x="1316566" y="450510"/>
                  <a:pt x="1293725" y="477075"/>
                </a:cubicBezTo>
                <a:cubicBezTo>
                  <a:pt x="1281638" y="491137"/>
                  <a:pt x="1263998" y="499204"/>
                  <a:pt x="1245453" y="499154"/>
                </a:cubicBezTo>
                <a:lnTo>
                  <a:pt x="1245167" y="499154"/>
                </a:lnTo>
                <a:cubicBezTo>
                  <a:pt x="1229965" y="499301"/>
                  <a:pt x="1215220" y="493956"/>
                  <a:pt x="1203638" y="484104"/>
                </a:cubicBezTo>
                <a:cubicBezTo>
                  <a:pt x="1111407" y="404300"/>
                  <a:pt x="1009633" y="336248"/>
                  <a:pt x="900647" y="281508"/>
                </a:cubicBezTo>
                <a:cubicBezTo>
                  <a:pt x="869295" y="265726"/>
                  <a:pt x="856672" y="227516"/>
                  <a:pt x="872454" y="196164"/>
                </a:cubicBezTo>
                <a:cubicBezTo>
                  <a:pt x="884290" y="172650"/>
                  <a:pt x="908742" y="159670"/>
                  <a:pt x="933455" y="161309"/>
                </a:cubicBezTo>
                <a:close/>
                <a:moveTo>
                  <a:pt x="256260" y="29"/>
                </a:moveTo>
                <a:cubicBezTo>
                  <a:pt x="322331" y="427"/>
                  <a:pt x="388378" y="4909"/>
                  <a:pt x="454020" y="13474"/>
                </a:cubicBezTo>
                <a:cubicBezTo>
                  <a:pt x="488793" y="17752"/>
                  <a:pt x="513514" y="49409"/>
                  <a:pt x="509236" y="84182"/>
                </a:cubicBezTo>
                <a:cubicBezTo>
                  <a:pt x="505303" y="116151"/>
                  <a:pt x="478038" y="140098"/>
                  <a:pt x="445829" y="139871"/>
                </a:cubicBezTo>
                <a:cubicBezTo>
                  <a:pt x="443027" y="139899"/>
                  <a:pt x="440227" y="139740"/>
                  <a:pt x="437447" y="139395"/>
                </a:cubicBezTo>
                <a:cubicBezTo>
                  <a:pt x="316592" y="123615"/>
                  <a:pt x="194247" y="122878"/>
                  <a:pt x="73211" y="137204"/>
                </a:cubicBezTo>
                <a:cubicBezTo>
                  <a:pt x="38532" y="142545"/>
                  <a:pt x="6090" y="118762"/>
                  <a:pt x="749" y="84082"/>
                </a:cubicBezTo>
                <a:cubicBezTo>
                  <a:pt x="-4591" y="49403"/>
                  <a:pt x="19192" y="16961"/>
                  <a:pt x="53871" y="11621"/>
                </a:cubicBezTo>
                <a:cubicBezTo>
                  <a:pt x="55358" y="11392"/>
                  <a:pt x="56852" y="11216"/>
                  <a:pt x="58352" y="11093"/>
                </a:cubicBezTo>
                <a:cubicBezTo>
                  <a:pt x="124093" y="3319"/>
                  <a:pt x="190189" y="-369"/>
                  <a:pt x="256260" y="29"/>
                </a:cubicBezTo>
                <a:close/>
              </a:path>
            </a:pathLst>
          </a:custGeom>
          <a:solidFill>
            <a:schemeClr val="accent4"/>
          </a:solidFill>
          <a:ln w="9525" cap="flat">
            <a:noFill/>
            <a:prstDash val="solid"/>
            <a:miter/>
          </a:ln>
        </p:spPr>
        <p:txBody>
          <a:bodyPr rtlCol="0" anchor="ctr"/>
          <a:lstStyle/>
          <a:p>
            <a:endParaRPr lang="en-US"/>
          </a:p>
        </p:txBody>
      </p:sp>
      <p:sp>
        <p:nvSpPr>
          <p:cNvPr id="36" name="Freeform: Shape 35">
            <a:extLst>
              <a:ext uri="{FF2B5EF4-FFF2-40B4-BE49-F238E27FC236}">
                <a16:creationId xmlns:a16="http://schemas.microsoft.com/office/drawing/2014/main" id="{6691AC69-A76E-4DAB-B565-468B6B87ACF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132972" y="6258755"/>
            <a:ext cx="1565940" cy="599245"/>
          </a:xfrm>
          <a:custGeom>
            <a:avLst/>
            <a:gdLst>
              <a:gd name="connsiteX0" fmla="*/ 782970 w 1565940"/>
              <a:gd name="connsiteY0" fmla="*/ 0 h 599245"/>
              <a:gd name="connsiteX1" fmla="*/ 1528042 w 1565940"/>
              <a:gd name="connsiteY1" fmla="*/ 480469 h 599245"/>
              <a:gd name="connsiteX2" fmla="*/ 1565940 w 1565940"/>
              <a:gd name="connsiteY2" fmla="*/ 599245 h 599245"/>
              <a:gd name="connsiteX3" fmla="*/ 0 w 1565940"/>
              <a:gd name="connsiteY3" fmla="*/ 599245 h 599245"/>
              <a:gd name="connsiteX4" fmla="*/ 37898 w 1565940"/>
              <a:gd name="connsiteY4" fmla="*/ 480469 h 599245"/>
              <a:gd name="connsiteX5" fmla="*/ 782970 w 1565940"/>
              <a:gd name="connsiteY5" fmla="*/ 0 h 599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65940" h="599245">
                <a:moveTo>
                  <a:pt x="782970" y="0"/>
                </a:moveTo>
                <a:cubicBezTo>
                  <a:pt x="1117910" y="0"/>
                  <a:pt x="1405287" y="198118"/>
                  <a:pt x="1528042" y="480469"/>
                </a:cubicBezTo>
                <a:lnTo>
                  <a:pt x="1565940" y="599245"/>
                </a:lnTo>
                <a:lnTo>
                  <a:pt x="0" y="599245"/>
                </a:lnTo>
                <a:lnTo>
                  <a:pt x="37898" y="480469"/>
                </a:lnTo>
                <a:cubicBezTo>
                  <a:pt x="160653" y="198118"/>
                  <a:pt x="448030" y="0"/>
                  <a:pt x="782970"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Tree>
    <p:extLst>
      <p:ext uri="{BB962C8B-B14F-4D97-AF65-F5344CB8AC3E}">
        <p14:creationId xmlns:p14="http://schemas.microsoft.com/office/powerpoint/2010/main" val="229323321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7" name="Picture 16">
            <a:extLst>
              <a:ext uri="{FF2B5EF4-FFF2-40B4-BE49-F238E27FC236}">
                <a16:creationId xmlns:a16="http://schemas.microsoft.com/office/drawing/2014/main" id="{68284C5A-405F-1A36-9956-9BB8A2272F90}"/>
              </a:ext>
            </a:extLst>
          </p:cNvPr>
          <p:cNvPicPr>
            <a:picLocks noChangeAspect="1"/>
          </p:cNvPicPr>
          <p:nvPr/>
        </p:nvPicPr>
        <p:blipFill>
          <a:blip r:embed="rId2">
            <a:duotone>
              <a:schemeClr val="bg2">
                <a:shade val="45000"/>
                <a:satMod val="135000"/>
              </a:schemeClr>
              <a:prstClr val="white"/>
            </a:duotone>
          </a:blip>
          <a:srcRect/>
          <a:stretch>
            <a:fillRect/>
          </a:stretch>
        </p:blipFill>
        <p:spPr>
          <a:xfrm>
            <a:off x="20" y="10"/>
            <a:ext cx="12191980" cy="6857990"/>
          </a:xfrm>
          <a:prstGeom prst="rect">
            <a:avLst/>
          </a:prstGeom>
        </p:spPr>
      </p:pic>
      <p:sp>
        <p:nvSpPr>
          <p:cNvPr id="21" name="Rectangle 20">
            <a:extLst>
              <a:ext uri="{FF2B5EF4-FFF2-40B4-BE49-F238E27FC236}">
                <a16:creationId xmlns:a16="http://schemas.microsoft.com/office/drawing/2014/main" id="{B50AB553-2A96-4A92-96F2-93548E0969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gradFill>
            <a:gsLst>
              <a:gs pos="10000">
                <a:schemeClr val="bg2">
                  <a:alpha val="68000"/>
                </a:schemeClr>
              </a:gs>
              <a:gs pos="85000">
                <a:schemeClr val="bg2">
                  <a:alpha val="97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6C6803C-CACE-7506-D820-38B6FC3C6E8A}"/>
              </a:ext>
            </a:extLst>
          </p:cNvPr>
          <p:cNvSpPr>
            <a:spLocks noGrp="1"/>
          </p:cNvSpPr>
          <p:nvPr>
            <p:ph type="title"/>
          </p:nvPr>
        </p:nvSpPr>
        <p:spPr>
          <a:xfrm>
            <a:off x="838200" y="365125"/>
            <a:ext cx="10515600" cy="1325563"/>
          </a:xfrm>
        </p:spPr>
        <p:txBody>
          <a:bodyPr>
            <a:normAutofit/>
          </a:bodyPr>
          <a:lstStyle/>
          <a:p>
            <a:r>
              <a:rPr lang="en-US"/>
              <a:t>What to do with the funds?</a:t>
            </a:r>
            <a:endParaRPr lang="en-CA"/>
          </a:p>
        </p:txBody>
      </p:sp>
      <p:graphicFrame>
        <p:nvGraphicFramePr>
          <p:cNvPr id="5" name="Content Placeholder 2">
            <a:extLst>
              <a:ext uri="{FF2B5EF4-FFF2-40B4-BE49-F238E27FC236}">
                <a16:creationId xmlns:a16="http://schemas.microsoft.com/office/drawing/2014/main" id="{C5E649A4-19D1-ED18-6EC2-EBEF20209CA0}"/>
              </a:ext>
            </a:extLst>
          </p:cNvPr>
          <p:cNvGraphicFramePr>
            <a:graphicFrameLocks noGrp="1"/>
          </p:cNvGraphicFramePr>
          <p:nvPr>
            <p:ph idx="1"/>
            <p:extLst>
              <p:ext uri="{D42A27DB-BD31-4B8C-83A1-F6EECF244321}">
                <p14:modId xmlns:p14="http://schemas.microsoft.com/office/powerpoint/2010/main" val="2305211794"/>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65962163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F8135CE-3E6A-AC4A-EBF8-20ACA425AC10}"/>
              </a:ext>
            </a:extLst>
          </p:cNvPr>
          <p:cNvSpPr>
            <a:spLocks noGrp="1"/>
          </p:cNvSpPr>
          <p:nvPr>
            <p:ph type="title"/>
          </p:nvPr>
        </p:nvSpPr>
        <p:spPr>
          <a:xfrm>
            <a:off x="686834" y="1153572"/>
            <a:ext cx="3200400" cy="4461163"/>
          </a:xfrm>
        </p:spPr>
        <p:txBody>
          <a:bodyPr>
            <a:normAutofit/>
          </a:bodyPr>
          <a:lstStyle/>
          <a:p>
            <a:r>
              <a:rPr lang="en-CA">
                <a:solidFill>
                  <a:srgbClr val="FFFFFF"/>
                </a:solidFill>
              </a:rPr>
              <a:t>Next Steps</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ADE09618-E926-F0DC-1E4E-7EF92D197D36}"/>
              </a:ext>
            </a:extLst>
          </p:cNvPr>
          <p:cNvSpPr>
            <a:spLocks noGrp="1"/>
          </p:cNvSpPr>
          <p:nvPr>
            <p:ph idx="1"/>
          </p:nvPr>
        </p:nvSpPr>
        <p:spPr>
          <a:xfrm>
            <a:off x="4447308" y="591344"/>
            <a:ext cx="6906491" cy="5585619"/>
          </a:xfrm>
        </p:spPr>
        <p:txBody>
          <a:bodyPr anchor="ctr">
            <a:normAutofit/>
          </a:bodyPr>
          <a:lstStyle/>
          <a:p>
            <a:r>
              <a:rPr lang="en-CA" dirty="0"/>
              <a:t>Publish working demo of:</a:t>
            </a:r>
          </a:p>
          <a:p>
            <a:pPr lvl="1"/>
            <a:r>
              <a:rPr lang="en-CA" dirty="0"/>
              <a:t>Planning agent </a:t>
            </a:r>
          </a:p>
          <a:p>
            <a:pPr lvl="1"/>
            <a:r>
              <a:rPr lang="en-CA" dirty="0"/>
              <a:t>Architect agent</a:t>
            </a:r>
          </a:p>
          <a:p>
            <a:pPr lvl="1"/>
            <a:r>
              <a:rPr lang="en-CA" dirty="0"/>
              <a:t>Coding agent</a:t>
            </a:r>
          </a:p>
          <a:p>
            <a:r>
              <a:rPr lang="en-CA" dirty="0"/>
              <a:t>Work on Designer workflow demo (this will be real wow factor)</a:t>
            </a:r>
          </a:p>
          <a:p>
            <a:r>
              <a:rPr lang="en-CA" dirty="0"/>
              <a:t>Work on funding agreement</a:t>
            </a:r>
          </a:p>
          <a:p>
            <a:r>
              <a:rPr lang="en-CA" dirty="0"/>
              <a:t>Determine if new entity company is correct path vs </a:t>
            </a:r>
            <a:r>
              <a:rPr lang="en-CA" dirty="0" err="1"/>
              <a:t>TechLantern</a:t>
            </a:r>
            <a:endParaRPr lang="en-CA" dirty="0"/>
          </a:p>
          <a:p>
            <a:r>
              <a:rPr lang="en-CA" dirty="0"/>
              <a:t>Secure Peter, Jeff, and Nick</a:t>
            </a:r>
          </a:p>
          <a:p>
            <a:endParaRPr lang="en-CA" dirty="0"/>
          </a:p>
        </p:txBody>
      </p:sp>
    </p:spTree>
    <p:extLst>
      <p:ext uri="{BB962C8B-B14F-4D97-AF65-F5344CB8AC3E}">
        <p14:creationId xmlns:p14="http://schemas.microsoft.com/office/powerpoint/2010/main" val="133714035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8745</TotalTime>
  <Words>1591</Words>
  <Application>Microsoft Office PowerPoint</Application>
  <PresentationFormat>Widescreen</PresentationFormat>
  <Paragraphs>144</Paragraphs>
  <Slides>24</Slides>
  <Notes>4</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24</vt:i4>
      </vt:variant>
    </vt:vector>
  </HeadingPairs>
  <TitlesOfParts>
    <vt:vector size="30" baseType="lpstr">
      <vt:lpstr>Aptos</vt:lpstr>
      <vt:lpstr>Aptos Display</vt:lpstr>
      <vt:lpstr>Arial</vt:lpstr>
      <vt:lpstr>Calibri</vt:lpstr>
      <vt:lpstr>Wingdings</vt:lpstr>
      <vt:lpstr>Office Theme</vt:lpstr>
      <vt:lpstr>A2D</vt:lpstr>
      <vt:lpstr>A2D is not vibe coding</vt:lpstr>
      <vt:lpstr>A2D is not vibe coding</vt:lpstr>
      <vt:lpstr>Demo Time</vt:lpstr>
      <vt:lpstr>PowerPoint Presentation</vt:lpstr>
      <vt:lpstr>PowerPoint Presentation</vt:lpstr>
      <vt:lpstr>Component Definition</vt:lpstr>
      <vt:lpstr>Methodology Definition</vt:lpstr>
      <vt:lpstr>Hiding the IP</vt:lpstr>
      <vt:lpstr>Proposed Architecture</vt:lpstr>
      <vt:lpstr>Workflows</vt:lpstr>
      <vt:lpstr>Planning Workflow</vt:lpstr>
      <vt:lpstr>Suggestion Workflow</vt:lpstr>
      <vt:lpstr>User Interface Design Workflow (future)</vt:lpstr>
      <vt:lpstr>Solution Design and Analysis Workflow</vt:lpstr>
      <vt:lpstr>Implement Workflow</vt:lpstr>
      <vt:lpstr>Deployment Workflow</vt:lpstr>
      <vt:lpstr>Workflow Status</vt:lpstr>
      <vt:lpstr>Process Definition</vt:lpstr>
      <vt:lpstr>The human role</vt:lpstr>
      <vt:lpstr>Risks</vt:lpstr>
      <vt:lpstr>Phased Approach?</vt:lpstr>
      <vt:lpstr>What to do with the funds?</vt:lpstr>
      <vt:lpstr>Next Steps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David Judd</dc:creator>
  <cp:lastModifiedBy>David Judd</cp:lastModifiedBy>
  <cp:revision>15</cp:revision>
  <cp:lastPrinted>2025-11-11T22:17:21Z</cp:lastPrinted>
  <dcterms:created xsi:type="dcterms:W3CDTF">2025-11-11T17:03:46Z</dcterms:created>
  <dcterms:modified xsi:type="dcterms:W3CDTF">2025-11-17T19:36:10Z</dcterms:modified>
</cp:coreProperties>
</file>