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86" r:id="rId3"/>
    <p:sldId id="287" r:id="rId4"/>
    <p:sldId id="280" r:id="rId5"/>
    <p:sldId id="261" r:id="rId6"/>
    <p:sldId id="263" r:id="rId7"/>
    <p:sldId id="278" r:id="rId8"/>
    <p:sldId id="272" r:id="rId9"/>
    <p:sldId id="279" r:id="rId10"/>
    <p:sldId id="281" r:id="rId11"/>
    <p:sldId id="270" r:id="rId12"/>
    <p:sldId id="267" r:id="rId13"/>
    <p:sldId id="269" r:id="rId14"/>
    <p:sldId id="268" r:id="rId15"/>
    <p:sldId id="284" r:id="rId16"/>
    <p:sldId id="277" r:id="rId17"/>
    <p:sldId id="275" r:id="rId18"/>
    <p:sldId id="282" r:id="rId19"/>
    <p:sldId id="285" r:id="rId20"/>
    <p:sldId id="262" r:id="rId21"/>
    <p:sldId id="260" r:id="rId22"/>
    <p:sldId id="265" r:id="rId23"/>
    <p:sldId id="266" r:id="rId24"/>
    <p:sldId id="288" r:id="rId25"/>
    <p:sldId id="289" r:id="rId26"/>
    <p:sldId id="290" r:id="rId27"/>
    <p:sldId id="291" r:id="rId28"/>
  </p:sldIdLst>
  <p:sldSz cx="12192000" cy="6858000"/>
  <p:notesSz cx="7004050" cy="92900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46" autoAdjust="0"/>
    <p:restoredTop sz="97101" autoAdjust="0"/>
  </p:normalViewPr>
  <p:slideViewPr>
    <p:cSldViewPr snapToGrid="0">
      <p:cViewPr varScale="1">
        <p:scale>
          <a:sx n="153" d="100"/>
          <a:sy n="153" d="100"/>
        </p:scale>
        <p:origin x="97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F360EE-CBAE-4CA6-BD2D-E310DF15206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BE84391-5A6A-4461-B3F7-673618121BF7}">
      <dgm:prSet/>
      <dgm:spPr/>
      <dgm:t>
        <a:bodyPr/>
        <a:lstStyle/>
        <a:p>
          <a:r>
            <a:rPr lang="en-CA"/>
            <a:t>This is the real work horse of the system and “pumps” out the code and tests.</a:t>
          </a:r>
          <a:endParaRPr lang="en-US"/>
        </a:p>
      </dgm:t>
    </dgm:pt>
    <dgm:pt modelId="{141A377C-04A5-421C-A718-E0FA9E10FC87}" type="parTrans" cxnId="{A106B822-C923-44F1-A2AB-374CBF7E514E}">
      <dgm:prSet/>
      <dgm:spPr/>
      <dgm:t>
        <a:bodyPr/>
        <a:lstStyle/>
        <a:p>
          <a:endParaRPr lang="en-US"/>
        </a:p>
      </dgm:t>
    </dgm:pt>
    <dgm:pt modelId="{D86F5EC5-94FA-424B-9539-44C2DE833F97}" type="sibTrans" cxnId="{A106B822-C923-44F1-A2AB-374CBF7E514E}">
      <dgm:prSet/>
      <dgm:spPr/>
      <dgm:t>
        <a:bodyPr/>
        <a:lstStyle/>
        <a:p>
          <a:endParaRPr lang="en-US"/>
        </a:p>
      </dgm:t>
    </dgm:pt>
    <dgm:pt modelId="{616C4196-ED0A-46E2-B503-31DE7CB054E7}">
      <dgm:prSet/>
      <dgm:spPr/>
      <dgm:t>
        <a:bodyPr/>
        <a:lstStyle/>
        <a:p>
          <a:r>
            <a:rPr lang="en-CA"/>
            <a:t>The [coder] agent is given instructions to:</a:t>
          </a:r>
          <a:endParaRPr lang="en-US"/>
        </a:p>
      </dgm:t>
    </dgm:pt>
    <dgm:pt modelId="{CE89B87A-4D3F-4380-A6B7-BA25C344E2D9}" type="parTrans" cxnId="{B2B71749-DF3E-406C-BB21-157186772ECA}">
      <dgm:prSet/>
      <dgm:spPr/>
      <dgm:t>
        <a:bodyPr/>
        <a:lstStyle/>
        <a:p>
          <a:endParaRPr lang="en-US"/>
        </a:p>
      </dgm:t>
    </dgm:pt>
    <dgm:pt modelId="{FE6AF077-D5F1-4706-BE4A-693E30699BE9}" type="sibTrans" cxnId="{B2B71749-DF3E-406C-BB21-157186772ECA}">
      <dgm:prSet/>
      <dgm:spPr/>
      <dgm:t>
        <a:bodyPr/>
        <a:lstStyle/>
        <a:p>
          <a:endParaRPr lang="en-US"/>
        </a:p>
      </dgm:t>
    </dgm:pt>
    <dgm:pt modelId="{9430C936-546D-488F-B6F4-E3E8C231E612}">
      <dgm:prSet/>
      <dgm:spPr/>
      <dgm:t>
        <a:bodyPr/>
        <a:lstStyle/>
        <a:p>
          <a:r>
            <a:rPr lang="en-CA"/>
            <a:t>Be concise and efficient with coding changes and to minimize refactoring (unless explicitly instructed to do so).</a:t>
          </a:r>
          <a:endParaRPr lang="en-US"/>
        </a:p>
      </dgm:t>
    </dgm:pt>
    <dgm:pt modelId="{24213860-9391-4D2F-8230-B84DC83EEC45}" type="parTrans" cxnId="{9E98F843-3D88-4A85-A1BE-DB78F8AA148F}">
      <dgm:prSet/>
      <dgm:spPr/>
      <dgm:t>
        <a:bodyPr/>
        <a:lstStyle/>
        <a:p>
          <a:endParaRPr lang="en-US"/>
        </a:p>
      </dgm:t>
    </dgm:pt>
    <dgm:pt modelId="{C2B3E1BE-815C-42D4-B31A-5D781FED9985}" type="sibTrans" cxnId="{9E98F843-3D88-4A85-A1BE-DB78F8AA148F}">
      <dgm:prSet/>
      <dgm:spPr/>
      <dgm:t>
        <a:bodyPr/>
        <a:lstStyle/>
        <a:p>
          <a:endParaRPr lang="en-US"/>
        </a:p>
      </dgm:t>
    </dgm:pt>
    <dgm:pt modelId="{650D12D7-8F29-4A2A-8915-A6253FE09C29}">
      <dgm:prSet/>
      <dgm:spPr/>
      <dgm:t>
        <a:bodyPr/>
        <a:lstStyle/>
        <a:p>
          <a:r>
            <a:rPr lang="en-CA"/>
            <a:t>Read and understand existing design patterns and architecture decisions. </a:t>
          </a:r>
          <a:endParaRPr lang="en-US"/>
        </a:p>
      </dgm:t>
    </dgm:pt>
    <dgm:pt modelId="{A496D8E7-0173-44DD-BF06-F9AC4422E184}" type="parTrans" cxnId="{9AA34111-8CF0-4C3C-A7B9-46C6360C609B}">
      <dgm:prSet/>
      <dgm:spPr/>
      <dgm:t>
        <a:bodyPr/>
        <a:lstStyle/>
        <a:p>
          <a:endParaRPr lang="en-US"/>
        </a:p>
      </dgm:t>
    </dgm:pt>
    <dgm:pt modelId="{3571FB1E-BAA7-45C5-8E83-EB226E9434D5}" type="sibTrans" cxnId="{9AA34111-8CF0-4C3C-A7B9-46C6360C609B}">
      <dgm:prSet/>
      <dgm:spPr/>
      <dgm:t>
        <a:bodyPr/>
        <a:lstStyle/>
        <a:p>
          <a:endParaRPr lang="en-US"/>
        </a:p>
      </dgm:t>
    </dgm:pt>
    <dgm:pt modelId="{5A845887-FE6C-4F9A-A1D6-9F9CD621E16A}">
      <dgm:prSet/>
      <dgm:spPr/>
      <dgm:t>
        <a:bodyPr/>
        <a:lstStyle/>
        <a:p>
          <a:r>
            <a:rPr lang="en-CA"/>
            <a:t>Write appropriate unit tests.</a:t>
          </a:r>
          <a:endParaRPr lang="en-US"/>
        </a:p>
      </dgm:t>
    </dgm:pt>
    <dgm:pt modelId="{DBB77A33-15AE-4073-8C8D-71F1E9D3FF88}" type="parTrans" cxnId="{5E8FF0E9-DBAA-4D20-9588-D30331309BAB}">
      <dgm:prSet/>
      <dgm:spPr/>
      <dgm:t>
        <a:bodyPr/>
        <a:lstStyle/>
        <a:p>
          <a:endParaRPr lang="en-US"/>
        </a:p>
      </dgm:t>
    </dgm:pt>
    <dgm:pt modelId="{07894B09-C46B-4965-BB12-100F246FE9A0}" type="sibTrans" cxnId="{5E8FF0E9-DBAA-4D20-9588-D30331309BAB}">
      <dgm:prSet/>
      <dgm:spPr/>
      <dgm:t>
        <a:bodyPr/>
        <a:lstStyle/>
        <a:p>
          <a:endParaRPr lang="en-US"/>
        </a:p>
      </dgm:t>
    </dgm:pt>
    <dgm:pt modelId="{881CDE3B-B35A-4844-840E-77D8AB4A04D4}">
      <dgm:prSet/>
      <dgm:spPr/>
      <dgm:t>
        <a:bodyPr/>
        <a:lstStyle/>
        <a:p>
          <a:r>
            <a:rPr lang="en-CA"/>
            <a:t>Write well documented pull requests with screenshots where it makes sense.</a:t>
          </a:r>
          <a:endParaRPr lang="en-US"/>
        </a:p>
      </dgm:t>
    </dgm:pt>
    <dgm:pt modelId="{F278C370-C502-4E9D-B2C5-1E677E4DD675}" type="parTrans" cxnId="{6F3BF792-C62F-4AFB-9923-E13F31654D30}">
      <dgm:prSet/>
      <dgm:spPr/>
      <dgm:t>
        <a:bodyPr/>
        <a:lstStyle/>
        <a:p>
          <a:endParaRPr lang="en-US"/>
        </a:p>
      </dgm:t>
    </dgm:pt>
    <dgm:pt modelId="{34AB98C2-7CB9-4C93-B99E-B505C6CA9065}" type="sibTrans" cxnId="{6F3BF792-C62F-4AFB-9923-E13F31654D30}">
      <dgm:prSet/>
      <dgm:spPr/>
      <dgm:t>
        <a:bodyPr/>
        <a:lstStyle/>
        <a:p>
          <a:endParaRPr lang="en-US"/>
        </a:p>
      </dgm:t>
    </dgm:pt>
    <dgm:pt modelId="{C4BCC771-15D6-4FD7-9DF1-1C4A2A439AF3}" type="pres">
      <dgm:prSet presAssocID="{41F360EE-CBAE-4CA6-BD2D-E310DF152066}" presName="linear" presStyleCnt="0">
        <dgm:presLayoutVars>
          <dgm:animLvl val="lvl"/>
          <dgm:resizeHandles val="exact"/>
        </dgm:presLayoutVars>
      </dgm:prSet>
      <dgm:spPr/>
    </dgm:pt>
    <dgm:pt modelId="{6662613F-A14B-4C48-8399-C26E9D0FAD8E}" type="pres">
      <dgm:prSet presAssocID="{8BE84391-5A6A-4461-B3F7-673618121BF7}" presName="parentText" presStyleLbl="node1" presStyleIdx="0" presStyleCnt="2">
        <dgm:presLayoutVars>
          <dgm:chMax val="0"/>
          <dgm:bulletEnabled val="1"/>
        </dgm:presLayoutVars>
      </dgm:prSet>
      <dgm:spPr/>
    </dgm:pt>
    <dgm:pt modelId="{6DD2E207-D499-400B-9F5C-6C27D2DD001C}" type="pres">
      <dgm:prSet presAssocID="{D86F5EC5-94FA-424B-9539-44C2DE833F97}" presName="spacer" presStyleCnt="0"/>
      <dgm:spPr/>
    </dgm:pt>
    <dgm:pt modelId="{B969FE15-8D0A-4758-9820-171A2E4755F7}" type="pres">
      <dgm:prSet presAssocID="{616C4196-ED0A-46E2-B503-31DE7CB054E7}" presName="parentText" presStyleLbl="node1" presStyleIdx="1" presStyleCnt="2">
        <dgm:presLayoutVars>
          <dgm:chMax val="0"/>
          <dgm:bulletEnabled val="1"/>
        </dgm:presLayoutVars>
      </dgm:prSet>
      <dgm:spPr/>
    </dgm:pt>
    <dgm:pt modelId="{8C077975-D15D-48B1-8FBB-686C449DF6CD}" type="pres">
      <dgm:prSet presAssocID="{616C4196-ED0A-46E2-B503-31DE7CB054E7}" presName="childText" presStyleLbl="revTx" presStyleIdx="0" presStyleCnt="1">
        <dgm:presLayoutVars>
          <dgm:bulletEnabled val="1"/>
        </dgm:presLayoutVars>
      </dgm:prSet>
      <dgm:spPr/>
    </dgm:pt>
  </dgm:ptLst>
  <dgm:cxnLst>
    <dgm:cxn modelId="{BA27FB0D-986A-4E08-B939-9DB91BAEC836}" type="presOf" srcId="{8BE84391-5A6A-4461-B3F7-673618121BF7}" destId="{6662613F-A14B-4C48-8399-C26E9D0FAD8E}" srcOrd="0" destOrd="0" presId="urn:microsoft.com/office/officeart/2005/8/layout/vList2"/>
    <dgm:cxn modelId="{9AA34111-8CF0-4C3C-A7B9-46C6360C609B}" srcId="{616C4196-ED0A-46E2-B503-31DE7CB054E7}" destId="{650D12D7-8F29-4A2A-8915-A6253FE09C29}" srcOrd="1" destOrd="0" parTransId="{A496D8E7-0173-44DD-BF06-F9AC4422E184}" sibTransId="{3571FB1E-BAA7-45C5-8E83-EB226E9434D5}"/>
    <dgm:cxn modelId="{A106B822-C923-44F1-A2AB-374CBF7E514E}" srcId="{41F360EE-CBAE-4CA6-BD2D-E310DF152066}" destId="{8BE84391-5A6A-4461-B3F7-673618121BF7}" srcOrd="0" destOrd="0" parTransId="{141A377C-04A5-421C-A718-E0FA9E10FC87}" sibTransId="{D86F5EC5-94FA-424B-9539-44C2DE833F97}"/>
    <dgm:cxn modelId="{E4744723-A94B-461F-AA72-DE7A997FCAD7}" type="presOf" srcId="{41F360EE-CBAE-4CA6-BD2D-E310DF152066}" destId="{C4BCC771-15D6-4FD7-9DF1-1C4A2A439AF3}" srcOrd="0" destOrd="0" presId="urn:microsoft.com/office/officeart/2005/8/layout/vList2"/>
    <dgm:cxn modelId="{A7C5D03E-FCB4-4432-B068-5A3B8024166E}" type="presOf" srcId="{881CDE3B-B35A-4844-840E-77D8AB4A04D4}" destId="{8C077975-D15D-48B1-8FBB-686C449DF6CD}" srcOrd="0" destOrd="3" presId="urn:microsoft.com/office/officeart/2005/8/layout/vList2"/>
    <dgm:cxn modelId="{9E98F843-3D88-4A85-A1BE-DB78F8AA148F}" srcId="{616C4196-ED0A-46E2-B503-31DE7CB054E7}" destId="{9430C936-546D-488F-B6F4-E3E8C231E612}" srcOrd="0" destOrd="0" parTransId="{24213860-9391-4D2F-8230-B84DC83EEC45}" sibTransId="{C2B3E1BE-815C-42D4-B31A-5D781FED9985}"/>
    <dgm:cxn modelId="{B2B71749-DF3E-406C-BB21-157186772ECA}" srcId="{41F360EE-CBAE-4CA6-BD2D-E310DF152066}" destId="{616C4196-ED0A-46E2-B503-31DE7CB054E7}" srcOrd="1" destOrd="0" parTransId="{CE89B87A-4D3F-4380-A6B7-BA25C344E2D9}" sibTransId="{FE6AF077-D5F1-4706-BE4A-693E30699BE9}"/>
    <dgm:cxn modelId="{8F4A7982-A853-46C1-AA2B-FE7DEBC285CF}" type="presOf" srcId="{5A845887-FE6C-4F9A-A1D6-9F9CD621E16A}" destId="{8C077975-D15D-48B1-8FBB-686C449DF6CD}" srcOrd="0" destOrd="2" presId="urn:microsoft.com/office/officeart/2005/8/layout/vList2"/>
    <dgm:cxn modelId="{A96A8C85-7C4F-486C-A3A9-C0ADB354C9FB}" type="presOf" srcId="{616C4196-ED0A-46E2-B503-31DE7CB054E7}" destId="{B969FE15-8D0A-4758-9820-171A2E4755F7}" srcOrd="0" destOrd="0" presId="urn:microsoft.com/office/officeart/2005/8/layout/vList2"/>
    <dgm:cxn modelId="{6F3BF792-C62F-4AFB-9923-E13F31654D30}" srcId="{616C4196-ED0A-46E2-B503-31DE7CB054E7}" destId="{881CDE3B-B35A-4844-840E-77D8AB4A04D4}" srcOrd="3" destOrd="0" parTransId="{F278C370-C502-4E9D-B2C5-1E677E4DD675}" sibTransId="{34AB98C2-7CB9-4C93-B99E-B505C6CA9065}"/>
    <dgm:cxn modelId="{D547AAC8-7BCD-4CF3-9B39-55B08DCB75A0}" type="presOf" srcId="{9430C936-546D-488F-B6F4-E3E8C231E612}" destId="{8C077975-D15D-48B1-8FBB-686C449DF6CD}" srcOrd="0" destOrd="0" presId="urn:microsoft.com/office/officeart/2005/8/layout/vList2"/>
    <dgm:cxn modelId="{5401ABCF-E346-4C1C-A916-134D5BB42B47}" type="presOf" srcId="{650D12D7-8F29-4A2A-8915-A6253FE09C29}" destId="{8C077975-D15D-48B1-8FBB-686C449DF6CD}" srcOrd="0" destOrd="1" presId="urn:microsoft.com/office/officeart/2005/8/layout/vList2"/>
    <dgm:cxn modelId="{5E8FF0E9-DBAA-4D20-9588-D30331309BAB}" srcId="{616C4196-ED0A-46E2-B503-31DE7CB054E7}" destId="{5A845887-FE6C-4F9A-A1D6-9F9CD621E16A}" srcOrd="2" destOrd="0" parTransId="{DBB77A33-15AE-4073-8C8D-71F1E9D3FF88}" sibTransId="{07894B09-C46B-4965-BB12-100F246FE9A0}"/>
    <dgm:cxn modelId="{5773DDE6-D4A1-4F85-8191-115D00E22D04}" type="presParOf" srcId="{C4BCC771-15D6-4FD7-9DF1-1C4A2A439AF3}" destId="{6662613F-A14B-4C48-8399-C26E9D0FAD8E}" srcOrd="0" destOrd="0" presId="urn:microsoft.com/office/officeart/2005/8/layout/vList2"/>
    <dgm:cxn modelId="{40FC0B19-0D01-4222-BEA9-D48D63458A7F}" type="presParOf" srcId="{C4BCC771-15D6-4FD7-9DF1-1C4A2A439AF3}" destId="{6DD2E207-D499-400B-9F5C-6C27D2DD001C}" srcOrd="1" destOrd="0" presId="urn:microsoft.com/office/officeart/2005/8/layout/vList2"/>
    <dgm:cxn modelId="{27FE0B2A-46EB-4F2D-AF9F-DCB1F044A782}" type="presParOf" srcId="{C4BCC771-15D6-4FD7-9DF1-1C4A2A439AF3}" destId="{B969FE15-8D0A-4758-9820-171A2E4755F7}" srcOrd="2" destOrd="0" presId="urn:microsoft.com/office/officeart/2005/8/layout/vList2"/>
    <dgm:cxn modelId="{28103978-3323-44F0-88B4-A9D373D233FA}" type="presParOf" srcId="{C4BCC771-15D6-4FD7-9DF1-1C4A2A439AF3}" destId="{8C077975-D15D-48B1-8FBB-686C449DF6CD}"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3E2A09-6797-4169-9669-360C939B17C4}"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en-CA"/>
        </a:p>
      </dgm:t>
    </dgm:pt>
    <dgm:pt modelId="{0E75C103-FFB3-4947-BEE6-1A9B399E85DA}">
      <dgm:prSet phldrT="[Text]" phldr="0"/>
      <dgm:spPr/>
      <dgm:t>
        <a:bodyPr/>
        <a:lstStyle/>
        <a:p>
          <a:r>
            <a:rPr lang="en-CA" dirty="0"/>
            <a:t>Design</a:t>
          </a:r>
        </a:p>
      </dgm:t>
    </dgm:pt>
    <dgm:pt modelId="{E7B3B012-23A4-42BA-8434-F8C9F95DE211}" type="parTrans" cxnId="{10E08149-637B-4306-B89B-CC7A79543020}">
      <dgm:prSet/>
      <dgm:spPr/>
      <dgm:t>
        <a:bodyPr/>
        <a:lstStyle/>
        <a:p>
          <a:endParaRPr lang="en-CA"/>
        </a:p>
      </dgm:t>
    </dgm:pt>
    <dgm:pt modelId="{C4E5519B-71C4-4613-A50C-6DF45F552D1A}" type="sibTrans" cxnId="{10E08149-637B-4306-B89B-CC7A79543020}">
      <dgm:prSet/>
      <dgm:spPr/>
      <dgm:t>
        <a:bodyPr/>
        <a:lstStyle/>
        <a:p>
          <a:endParaRPr lang="en-CA"/>
        </a:p>
      </dgm:t>
    </dgm:pt>
    <dgm:pt modelId="{E3AE2A73-03A7-4394-8C0B-146D38CBF291}">
      <dgm:prSet phldrT="[Text]" phldr="0"/>
      <dgm:spPr/>
      <dgm:t>
        <a:bodyPr/>
        <a:lstStyle/>
        <a:p>
          <a:r>
            <a:rPr lang="en-CA" dirty="0"/>
            <a:t>Implement</a:t>
          </a:r>
        </a:p>
      </dgm:t>
    </dgm:pt>
    <dgm:pt modelId="{002E8402-7644-4C2E-8858-DB1230BF39E9}" type="parTrans" cxnId="{F532A814-49F5-4EEB-AFB2-B09353BFF57C}">
      <dgm:prSet/>
      <dgm:spPr/>
      <dgm:t>
        <a:bodyPr/>
        <a:lstStyle/>
        <a:p>
          <a:endParaRPr lang="en-CA"/>
        </a:p>
      </dgm:t>
    </dgm:pt>
    <dgm:pt modelId="{23C04D07-A122-4226-B498-BF7E214148B1}" type="sibTrans" cxnId="{F532A814-49F5-4EEB-AFB2-B09353BFF57C}">
      <dgm:prSet/>
      <dgm:spPr/>
      <dgm:t>
        <a:bodyPr/>
        <a:lstStyle/>
        <a:p>
          <a:endParaRPr lang="en-CA"/>
        </a:p>
      </dgm:t>
    </dgm:pt>
    <dgm:pt modelId="{C185C1DD-9F02-4F84-A59F-80D94E9591FF}">
      <dgm:prSet phldrT="[Text]" phldr="0"/>
      <dgm:spPr/>
      <dgm:t>
        <a:bodyPr/>
        <a:lstStyle/>
        <a:p>
          <a:r>
            <a:rPr lang="en-CA"/>
            <a:t>Plan</a:t>
          </a:r>
        </a:p>
      </dgm:t>
    </dgm:pt>
    <dgm:pt modelId="{E08846DE-C08D-4821-B67C-46393070D57F}" type="parTrans" cxnId="{63A08B12-34BB-4A86-B851-9EFD4276F8BF}">
      <dgm:prSet/>
      <dgm:spPr/>
      <dgm:t>
        <a:bodyPr/>
        <a:lstStyle/>
        <a:p>
          <a:endParaRPr lang="en-CA"/>
        </a:p>
      </dgm:t>
    </dgm:pt>
    <dgm:pt modelId="{BA3A34FB-D718-4444-85AE-0C5A42883D9A}" type="sibTrans" cxnId="{63A08B12-34BB-4A86-B851-9EFD4276F8BF}">
      <dgm:prSet/>
      <dgm:spPr/>
      <dgm:t>
        <a:bodyPr/>
        <a:lstStyle/>
        <a:p>
          <a:endParaRPr lang="en-CA"/>
        </a:p>
      </dgm:t>
    </dgm:pt>
    <dgm:pt modelId="{14FEFFB0-97F8-4C9E-B214-0D5D91DCDC75}">
      <dgm:prSet phldrT="[Text]" phldr="0"/>
      <dgm:spPr/>
      <dgm:t>
        <a:bodyPr/>
        <a:lstStyle/>
        <a:p>
          <a:r>
            <a:rPr lang="en-CA" dirty="0"/>
            <a:t>Review</a:t>
          </a:r>
        </a:p>
      </dgm:t>
    </dgm:pt>
    <dgm:pt modelId="{956FDE3F-2AD0-429F-BFCE-B175EBCCAA6F}" type="parTrans" cxnId="{40D02DD6-F50C-46AE-B082-39E6F8101BF8}">
      <dgm:prSet/>
      <dgm:spPr/>
      <dgm:t>
        <a:bodyPr/>
        <a:lstStyle/>
        <a:p>
          <a:endParaRPr lang="en-CA"/>
        </a:p>
      </dgm:t>
    </dgm:pt>
    <dgm:pt modelId="{FF72513B-527B-4595-8FFC-F71900B7F74B}" type="sibTrans" cxnId="{40D02DD6-F50C-46AE-B082-39E6F8101BF8}">
      <dgm:prSet/>
      <dgm:spPr/>
      <dgm:t>
        <a:bodyPr/>
        <a:lstStyle/>
        <a:p>
          <a:endParaRPr lang="en-CA"/>
        </a:p>
      </dgm:t>
    </dgm:pt>
    <dgm:pt modelId="{C62C2AAD-4FA0-4CE0-A8A9-83BA98AF3331}">
      <dgm:prSet phldrT="[Text]" phldr="0"/>
      <dgm:spPr/>
      <dgm:t>
        <a:bodyPr/>
        <a:lstStyle/>
        <a:p>
          <a:r>
            <a:rPr lang="en-CA" dirty="0"/>
            <a:t>Deploy</a:t>
          </a:r>
        </a:p>
      </dgm:t>
    </dgm:pt>
    <dgm:pt modelId="{09CA2327-52B3-40C7-AA07-507F03556077}" type="parTrans" cxnId="{946F93BF-8D1B-4171-A201-883778AEBB31}">
      <dgm:prSet/>
      <dgm:spPr/>
      <dgm:t>
        <a:bodyPr/>
        <a:lstStyle/>
        <a:p>
          <a:endParaRPr lang="en-CA"/>
        </a:p>
      </dgm:t>
    </dgm:pt>
    <dgm:pt modelId="{DDCE95DF-AA9C-431C-A5C5-BA315B1E9CDE}" type="sibTrans" cxnId="{946F93BF-8D1B-4171-A201-883778AEBB31}">
      <dgm:prSet/>
      <dgm:spPr/>
      <dgm:t>
        <a:bodyPr/>
        <a:lstStyle/>
        <a:p>
          <a:endParaRPr lang="en-CA"/>
        </a:p>
      </dgm:t>
    </dgm:pt>
    <dgm:pt modelId="{231E97ED-4151-4AE7-B3F0-2DC6F1F411CD}">
      <dgm:prSet phldrT="[Text]" phldr="0"/>
      <dgm:spPr/>
      <dgm:t>
        <a:bodyPr/>
        <a:lstStyle/>
        <a:p>
          <a:r>
            <a:rPr lang="en-CA"/>
            <a:t>Verify</a:t>
          </a:r>
          <a:endParaRPr lang="en-CA" dirty="0"/>
        </a:p>
      </dgm:t>
    </dgm:pt>
    <dgm:pt modelId="{75E08662-5393-4E1D-A450-46AE10B5BF08}" type="parTrans" cxnId="{50FB52D7-9604-43D6-B7DC-B247D2F34F87}">
      <dgm:prSet/>
      <dgm:spPr/>
      <dgm:t>
        <a:bodyPr/>
        <a:lstStyle/>
        <a:p>
          <a:endParaRPr lang="en-CA"/>
        </a:p>
      </dgm:t>
    </dgm:pt>
    <dgm:pt modelId="{81C694DF-AFAD-418E-87F9-DC4CFD9B4A0C}" type="sibTrans" cxnId="{50FB52D7-9604-43D6-B7DC-B247D2F34F87}">
      <dgm:prSet/>
      <dgm:spPr/>
      <dgm:t>
        <a:bodyPr/>
        <a:lstStyle/>
        <a:p>
          <a:endParaRPr lang="en-CA"/>
        </a:p>
      </dgm:t>
    </dgm:pt>
    <dgm:pt modelId="{DE427AA7-AE93-430B-BA74-23359D70BC3C}" type="pres">
      <dgm:prSet presAssocID="{E93E2A09-6797-4169-9669-360C939B17C4}" presName="Name0" presStyleCnt="0">
        <dgm:presLayoutVars>
          <dgm:dir/>
          <dgm:resizeHandles val="exact"/>
        </dgm:presLayoutVars>
      </dgm:prSet>
      <dgm:spPr/>
    </dgm:pt>
    <dgm:pt modelId="{DAE19A0C-B858-4BE8-8781-E233402027A6}" type="pres">
      <dgm:prSet presAssocID="{C185C1DD-9F02-4F84-A59F-80D94E9591FF}" presName="parTxOnly" presStyleLbl="node1" presStyleIdx="0" presStyleCnt="6">
        <dgm:presLayoutVars>
          <dgm:bulletEnabled val="1"/>
        </dgm:presLayoutVars>
      </dgm:prSet>
      <dgm:spPr/>
    </dgm:pt>
    <dgm:pt modelId="{D17E6B59-DF85-4977-83C9-6FDA744165E2}" type="pres">
      <dgm:prSet presAssocID="{BA3A34FB-D718-4444-85AE-0C5A42883D9A}" presName="parSpace" presStyleCnt="0"/>
      <dgm:spPr/>
    </dgm:pt>
    <dgm:pt modelId="{0B1E767E-37A3-4CC1-B84D-C3645DF7B139}" type="pres">
      <dgm:prSet presAssocID="{0E75C103-FFB3-4947-BEE6-1A9B399E85DA}" presName="parTxOnly" presStyleLbl="node1" presStyleIdx="1" presStyleCnt="6">
        <dgm:presLayoutVars>
          <dgm:bulletEnabled val="1"/>
        </dgm:presLayoutVars>
      </dgm:prSet>
      <dgm:spPr/>
    </dgm:pt>
    <dgm:pt modelId="{F634797B-1C29-4903-906F-00B1E8D0862C}" type="pres">
      <dgm:prSet presAssocID="{C4E5519B-71C4-4613-A50C-6DF45F552D1A}" presName="parSpace" presStyleCnt="0"/>
      <dgm:spPr/>
    </dgm:pt>
    <dgm:pt modelId="{90E19628-AAC4-47A5-9BE5-C20911138BCF}" type="pres">
      <dgm:prSet presAssocID="{E3AE2A73-03A7-4394-8C0B-146D38CBF291}" presName="parTxOnly" presStyleLbl="node1" presStyleIdx="2" presStyleCnt="6">
        <dgm:presLayoutVars>
          <dgm:bulletEnabled val="1"/>
        </dgm:presLayoutVars>
      </dgm:prSet>
      <dgm:spPr/>
    </dgm:pt>
    <dgm:pt modelId="{377ECA11-B8F9-4D2F-9115-1F6540D3F7CB}" type="pres">
      <dgm:prSet presAssocID="{23C04D07-A122-4226-B498-BF7E214148B1}" presName="parSpace" presStyleCnt="0"/>
      <dgm:spPr/>
    </dgm:pt>
    <dgm:pt modelId="{8CA84BAF-9B13-41BF-855F-F424D1ECFCF2}" type="pres">
      <dgm:prSet presAssocID="{14FEFFB0-97F8-4C9E-B214-0D5D91DCDC75}" presName="parTxOnly" presStyleLbl="node1" presStyleIdx="3" presStyleCnt="6" custLinFactNeighborX="1475" custLinFactNeighborY="-104">
        <dgm:presLayoutVars>
          <dgm:bulletEnabled val="1"/>
        </dgm:presLayoutVars>
      </dgm:prSet>
      <dgm:spPr/>
    </dgm:pt>
    <dgm:pt modelId="{CC55300A-8387-4AC6-8999-2948CAEBF707}" type="pres">
      <dgm:prSet presAssocID="{FF72513B-527B-4595-8FFC-F71900B7F74B}" presName="parSpace" presStyleCnt="0"/>
      <dgm:spPr/>
    </dgm:pt>
    <dgm:pt modelId="{84A1143A-78CC-41F7-A42C-1BD47A9CE203}" type="pres">
      <dgm:prSet presAssocID="{C62C2AAD-4FA0-4CE0-A8A9-83BA98AF3331}" presName="parTxOnly" presStyleLbl="node1" presStyleIdx="4" presStyleCnt="6">
        <dgm:presLayoutVars>
          <dgm:bulletEnabled val="1"/>
        </dgm:presLayoutVars>
      </dgm:prSet>
      <dgm:spPr/>
    </dgm:pt>
    <dgm:pt modelId="{454F38D9-7DC7-4187-B5E8-3DAEED83A593}" type="pres">
      <dgm:prSet presAssocID="{DDCE95DF-AA9C-431C-A5C5-BA315B1E9CDE}" presName="parSpace" presStyleCnt="0"/>
      <dgm:spPr/>
    </dgm:pt>
    <dgm:pt modelId="{FCFC7365-5697-464E-B230-8053E5F4A0CD}" type="pres">
      <dgm:prSet presAssocID="{231E97ED-4151-4AE7-B3F0-2DC6F1F411CD}" presName="parTxOnly" presStyleLbl="node1" presStyleIdx="5" presStyleCnt="6">
        <dgm:presLayoutVars>
          <dgm:bulletEnabled val="1"/>
        </dgm:presLayoutVars>
      </dgm:prSet>
      <dgm:spPr/>
    </dgm:pt>
  </dgm:ptLst>
  <dgm:cxnLst>
    <dgm:cxn modelId="{0E366501-97C1-4724-B123-CC29300E04D3}" type="presOf" srcId="{C62C2AAD-4FA0-4CE0-A8A9-83BA98AF3331}" destId="{84A1143A-78CC-41F7-A42C-1BD47A9CE203}" srcOrd="0" destOrd="0" presId="urn:microsoft.com/office/officeart/2005/8/layout/hChevron3"/>
    <dgm:cxn modelId="{63A08B12-34BB-4A86-B851-9EFD4276F8BF}" srcId="{E93E2A09-6797-4169-9669-360C939B17C4}" destId="{C185C1DD-9F02-4F84-A59F-80D94E9591FF}" srcOrd="0" destOrd="0" parTransId="{E08846DE-C08D-4821-B67C-46393070D57F}" sibTransId="{BA3A34FB-D718-4444-85AE-0C5A42883D9A}"/>
    <dgm:cxn modelId="{F532A814-49F5-4EEB-AFB2-B09353BFF57C}" srcId="{E93E2A09-6797-4169-9669-360C939B17C4}" destId="{E3AE2A73-03A7-4394-8C0B-146D38CBF291}" srcOrd="2" destOrd="0" parTransId="{002E8402-7644-4C2E-8858-DB1230BF39E9}" sibTransId="{23C04D07-A122-4226-B498-BF7E214148B1}"/>
    <dgm:cxn modelId="{0E34AA15-C092-496B-A403-C24E129289BC}" type="presOf" srcId="{C185C1DD-9F02-4F84-A59F-80D94E9591FF}" destId="{DAE19A0C-B858-4BE8-8781-E233402027A6}" srcOrd="0" destOrd="0" presId="urn:microsoft.com/office/officeart/2005/8/layout/hChevron3"/>
    <dgm:cxn modelId="{DC429D38-236F-4F6E-9829-EBC6BFDA18B1}" type="presOf" srcId="{231E97ED-4151-4AE7-B3F0-2DC6F1F411CD}" destId="{FCFC7365-5697-464E-B230-8053E5F4A0CD}" srcOrd="0" destOrd="0" presId="urn:microsoft.com/office/officeart/2005/8/layout/hChevron3"/>
    <dgm:cxn modelId="{10E08149-637B-4306-B89B-CC7A79543020}" srcId="{E93E2A09-6797-4169-9669-360C939B17C4}" destId="{0E75C103-FFB3-4947-BEE6-1A9B399E85DA}" srcOrd="1" destOrd="0" parTransId="{E7B3B012-23A4-42BA-8434-F8C9F95DE211}" sibTransId="{C4E5519B-71C4-4613-A50C-6DF45F552D1A}"/>
    <dgm:cxn modelId="{60D0CB70-349D-4833-B38D-0D72621DC497}" type="presOf" srcId="{E3AE2A73-03A7-4394-8C0B-146D38CBF291}" destId="{90E19628-AAC4-47A5-9BE5-C20911138BCF}" srcOrd="0" destOrd="0" presId="urn:microsoft.com/office/officeart/2005/8/layout/hChevron3"/>
    <dgm:cxn modelId="{BB256AB9-057F-4478-BC80-D5B9FB3B2CE5}" type="presOf" srcId="{E93E2A09-6797-4169-9669-360C939B17C4}" destId="{DE427AA7-AE93-430B-BA74-23359D70BC3C}" srcOrd="0" destOrd="0" presId="urn:microsoft.com/office/officeart/2005/8/layout/hChevron3"/>
    <dgm:cxn modelId="{946F93BF-8D1B-4171-A201-883778AEBB31}" srcId="{E93E2A09-6797-4169-9669-360C939B17C4}" destId="{C62C2AAD-4FA0-4CE0-A8A9-83BA98AF3331}" srcOrd="4" destOrd="0" parTransId="{09CA2327-52B3-40C7-AA07-507F03556077}" sibTransId="{DDCE95DF-AA9C-431C-A5C5-BA315B1E9CDE}"/>
    <dgm:cxn modelId="{8201A0C9-D90B-48D9-9B0A-705855E133FA}" type="presOf" srcId="{14FEFFB0-97F8-4C9E-B214-0D5D91DCDC75}" destId="{8CA84BAF-9B13-41BF-855F-F424D1ECFCF2}" srcOrd="0" destOrd="0" presId="urn:microsoft.com/office/officeart/2005/8/layout/hChevron3"/>
    <dgm:cxn modelId="{40D02DD6-F50C-46AE-B082-39E6F8101BF8}" srcId="{E93E2A09-6797-4169-9669-360C939B17C4}" destId="{14FEFFB0-97F8-4C9E-B214-0D5D91DCDC75}" srcOrd="3" destOrd="0" parTransId="{956FDE3F-2AD0-429F-BFCE-B175EBCCAA6F}" sibTransId="{FF72513B-527B-4595-8FFC-F71900B7F74B}"/>
    <dgm:cxn modelId="{50FB52D7-9604-43D6-B7DC-B247D2F34F87}" srcId="{E93E2A09-6797-4169-9669-360C939B17C4}" destId="{231E97ED-4151-4AE7-B3F0-2DC6F1F411CD}" srcOrd="5" destOrd="0" parTransId="{75E08662-5393-4E1D-A450-46AE10B5BF08}" sibTransId="{81C694DF-AFAD-418E-87F9-DC4CFD9B4A0C}"/>
    <dgm:cxn modelId="{31F58EE2-1968-4898-B4B6-57E4BA6C67DC}" type="presOf" srcId="{0E75C103-FFB3-4947-BEE6-1A9B399E85DA}" destId="{0B1E767E-37A3-4CC1-B84D-C3645DF7B139}" srcOrd="0" destOrd="0" presId="urn:microsoft.com/office/officeart/2005/8/layout/hChevron3"/>
    <dgm:cxn modelId="{152C966C-BD73-429F-8261-18D6FF89B7F7}" type="presParOf" srcId="{DE427AA7-AE93-430B-BA74-23359D70BC3C}" destId="{DAE19A0C-B858-4BE8-8781-E233402027A6}" srcOrd="0" destOrd="0" presId="urn:microsoft.com/office/officeart/2005/8/layout/hChevron3"/>
    <dgm:cxn modelId="{B4EE0D5A-70A2-4393-AD5D-2E714A9059B1}" type="presParOf" srcId="{DE427AA7-AE93-430B-BA74-23359D70BC3C}" destId="{D17E6B59-DF85-4977-83C9-6FDA744165E2}" srcOrd="1" destOrd="0" presId="urn:microsoft.com/office/officeart/2005/8/layout/hChevron3"/>
    <dgm:cxn modelId="{4B4CFFB1-C4BB-48E6-9C4D-701A57876CEA}" type="presParOf" srcId="{DE427AA7-AE93-430B-BA74-23359D70BC3C}" destId="{0B1E767E-37A3-4CC1-B84D-C3645DF7B139}" srcOrd="2" destOrd="0" presId="urn:microsoft.com/office/officeart/2005/8/layout/hChevron3"/>
    <dgm:cxn modelId="{1C1CB555-1150-45FA-824C-75E5817A6807}" type="presParOf" srcId="{DE427AA7-AE93-430B-BA74-23359D70BC3C}" destId="{F634797B-1C29-4903-906F-00B1E8D0862C}" srcOrd="3" destOrd="0" presId="urn:microsoft.com/office/officeart/2005/8/layout/hChevron3"/>
    <dgm:cxn modelId="{77356B5F-653E-40F2-A6D5-F4EC00D5ABA7}" type="presParOf" srcId="{DE427AA7-AE93-430B-BA74-23359D70BC3C}" destId="{90E19628-AAC4-47A5-9BE5-C20911138BCF}" srcOrd="4" destOrd="0" presId="urn:microsoft.com/office/officeart/2005/8/layout/hChevron3"/>
    <dgm:cxn modelId="{FF4D4E27-9C69-4566-A41B-008F39209D5B}" type="presParOf" srcId="{DE427AA7-AE93-430B-BA74-23359D70BC3C}" destId="{377ECA11-B8F9-4D2F-9115-1F6540D3F7CB}" srcOrd="5" destOrd="0" presId="urn:microsoft.com/office/officeart/2005/8/layout/hChevron3"/>
    <dgm:cxn modelId="{1B554C65-6058-4138-BE0B-2872B7660CCA}" type="presParOf" srcId="{DE427AA7-AE93-430B-BA74-23359D70BC3C}" destId="{8CA84BAF-9B13-41BF-855F-F424D1ECFCF2}" srcOrd="6" destOrd="0" presId="urn:microsoft.com/office/officeart/2005/8/layout/hChevron3"/>
    <dgm:cxn modelId="{79214040-1DD4-4823-A9EC-E94FD6737B6D}" type="presParOf" srcId="{DE427AA7-AE93-430B-BA74-23359D70BC3C}" destId="{CC55300A-8387-4AC6-8999-2948CAEBF707}" srcOrd="7" destOrd="0" presId="urn:microsoft.com/office/officeart/2005/8/layout/hChevron3"/>
    <dgm:cxn modelId="{10F91533-0A93-46CB-A2CB-5E61CA7579D0}" type="presParOf" srcId="{DE427AA7-AE93-430B-BA74-23359D70BC3C}" destId="{84A1143A-78CC-41F7-A42C-1BD47A9CE203}" srcOrd="8" destOrd="0" presId="urn:microsoft.com/office/officeart/2005/8/layout/hChevron3"/>
    <dgm:cxn modelId="{DEDA09F4-291B-4796-B7FB-00AE6A9ADD64}" type="presParOf" srcId="{DE427AA7-AE93-430B-BA74-23359D70BC3C}" destId="{454F38D9-7DC7-4187-B5E8-3DAEED83A593}" srcOrd="9" destOrd="0" presId="urn:microsoft.com/office/officeart/2005/8/layout/hChevron3"/>
    <dgm:cxn modelId="{B9B742BB-691D-4807-9D40-753650A8489C}" type="presParOf" srcId="{DE427AA7-AE93-430B-BA74-23359D70BC3C}" destId="{FCFC7365-5697-464E-B230-8053E5F4A0CD}" srcOrd="10"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F8154A-B50E-4CDF-BA4E-EDC43A7AC9B1}"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6CF05388-5ACB-49D4-A915-F38FA7D6E907}">
      <dgm:prSet/>
      <dgm:spPr/>
      <dgm:t>
        <a:bodyPr/>
        <a:lstStyle/>
        <a:p>
          <a:r>
            <a:rPr lang="en-US" dirty="0"/>
            <a:t>Secure key resources including Jeff, PVZ, Nick</a:t>
          </a:r>
        </a:p>
        <a:p>
          <a:r>
            <a:rPr lang="en-US" dirty="0"/>
            <a:t>Take a modest salary to focus 100% of my attention on A2D</a:t>
          </a:r>
        </a:p>
      </dgm:t>
    </dgm:pt>
    <dgm:pt modelId="{7822E5BC-4CEE-43F5-9B7C-EB5B1FDD8B27}" type="parTrans" cxnId="{9965F266-D95F-45BC-A3B2-385E0FE3B867}">
      <dgm:prSet/>
      <dgm:spPr/>
      <dgm:t>
        <a:bodyPr/>
        <a:lstStyle/>
        <a:p>
          <a:endParaRPr lang="en-US"/>
        </a:p>
      </dgm:t>
    </dgm:pt>
    <dgm:pt modelId="{B3E8E7FC-2C7D-4E25-985C-77164E89E770}" type="sibTrans" cxnId="{9965F266-D95F-45BC-A3B2-385E0FE3B867}">
      <dgm:prSet phldrT="1" phldr="0"/>
      <dgm:spPr/>
      <dgm:t>
        <a:bodyPr/>
        <a:lstStyle/>
        <a:p>
          <a:r>
            <a:rPr lang="en-US"/>
            <a:t>1</a:t>
          </a:r>
        </a:p>
      </dgm:t>
    </dgm:pt>
    <dgm:pt modelId="{E227E991-B576-4A8D-932C-35A32B59C571}">
      <dgm:prSet/>
      <dgm:spPr/>
      <dgm:t>
        <a:bodyPr/>
        <a:lstStyle/>
        <a:p>
          <a:r>
            <a:rPr lang="en-US" dirty="0"/>
            <a:t>Build out the key artifacts, workflows with custom MCP integrations, and confirm feasibility of building our own custom MCP server to hide IP.</a:t>
          </a:r>
        </a:p>
      </dgm:t>
    </dgm:pt>
    <dgm:pt modelId="{41665E04-D3B7-48C4-A5B2-D56020FEBEF1}" type="parTrans" cxnId="{93E037FF-290B-4AD0-94D6-7CFC7937413E}">
      <dgm:prSet/>
      <dgm:spPr/>
      <dgm:t>
        <a:bodyPr/>
        <a:lstStyle/>
        <a:p>
          <a:endParaRPr lang="en-US"/>
        </a:p>
      </dgm:t>
    </dgm:pt>
    <dgm:pt modelId="{EEF65005-49F3-4DFA-9ED7-42DE0165F6BB}" type="sibTrans" cxnId="{93E037FF-290B-4AD0-94D6-7CFC7937413E}">
      <dgm:prSet phldrT="2" phldr="0"/>
      <dgm:spPr/>
      <dgm:t>
        <a:bodyPr/>
        <a:lstStyle/>
        <a:p>
          <a:r>
            <a:rPr lang="en-US"/>
            <a:t>2</a:t>
          </a:r>
        </a:p>
      </dgm:t>
    </dgm:pt>
    <dgm:pt modelId="{07072F27-2C3A-42B3-A078-3C450D5BBA2F}">
      <dgm:prSet/>
      <dgm:spPr/>
      <dgm:t>
        <a:bodyPr/>
        <a:lstStyle/>
        <a:p>
          <a:r>
            <a:rPr lang="en-US" dirty="0"/>
            <a:t>Build demos and material to attract and train key delivery consultants.</a:t>
          </a:r>
        </a:p>
      </dgm:t>
    </dgm:pt>
    <dgm:pt modelId="{CC1DD9C3-12B8-4165-89A5-15020FD49030}" type="parTrans" cxnId="{3D29F96E-8854-45A2-B48B-8605C65037E4}">
      <dgm:prSet/>
      <dgm:spPr/>
      <dgm:t>
        <a:bodyPr/>
        <a:lstStyle/>
        <a:p>
          <a:endParaRPr lang="en-US"/>
        </a:p>
      </dgm:t>
    </dgm:pt>
    <dgm:pt modelId="{F8E1915E-670D-4584-9BAD-7AECAB674317}" type="sibTrans" cxnId="{3D29F96E-8854-45A2-B48B-8605C65037E4}">
      <dgm:prSet phldrT="3" phldr="0"/>
      <dgm:spPr/>
      <dgm:t>
        <a:bodyPr/>
        <a:lstStyle/>
        <a:p>
          <a:r>
            <a:rPr lang="en-US"/>
            <a:t>3</a:t>
          </a:r>
        </a:p>
      </dgm:t>
    </dgm:pt>
    <dgm:pt modelId="{EBF87A5D-E1DD-43E7-A3FD-312D74F853FE}">
      <dgm:prSet/>
      <dgm:spPr/>
      <dgm:t>
        <a:bodyPr/>
        <a:lstStyle/>
        <a:p>
          <a:r>
            <a:rPr lang="en-US" dirty="0"/>
            <a:t>Pay for software licenses, operations, and key conferences/marketing opportunities.</a:t>
          </a:r>
        </a:p>
      </dgm:t>
    </dgm:pt>
    <dgm:pt modelId="{F5A2E505-7760-407F-A4EF-D7F6F94061E9}" type="parTrans" cxnId="{80CF74EF-90C0-4BBC-B1DD-30D40F54A154}">
      <dgm:prSet/>
      <dgm:spPr/>
      <dgm:t>
        <a:bodyPr/>
        <a:lstStyle/>
        <a:p>
          <a:endParaRPr lang="en-US"/>
        </a:p>
      </dgm:t>
    </dgm:pt>
    <dgm:pt modelId="{0E1E4917-49F7-4EF7-A5E6-4CE844EB9210}" type="sibTrans" cxnId="{80CF74EF-90C0-4BBC-B1DD-30D40F54A154}">
      <dgm:prSet phldrT="4" phldr="0"/>
      <dgm:spPr/>
      <dgm:t>
        <a:bodyPr/>
        <a:lstStyle/>
        <a:p>
          <a:r>
            <a:rPr lang="en-US"/>
            <a:t>4</a:t>
          </a:r>
        </a:p>
      </dgm:t>
    </dgm:pt>
    <dgm:pt modelId="{607A3798-BFF9-4A7C-A275-5C432AC4A06E}">
      <dgm:prSet/>
      <dgm:spPr/>
      <dgm:t>
        <a:bodyPr/>
        <a:lstStyle/>
        <a:p>
          <a:r>
            <a:rPr lang="en-US" dirty="0"/>
            <a:t>Get reference customers and start building Microsoft relationship</a:t>
          </a:r>
        </a:p>
        <a:p>
          <a:r>
            <a:rPr lang="en-US" dirty="0"/>
            <a:t>Sales collateral / brand /  social media presence</a:t>
          </a:r>
        </a:p>
        <a:p>
          <a:r>
            <a:rPr lang="en-US" b="1" dirty="0"/>
            <a:t>TESTIMONIALS</a:t>
          </a:r>
        </a:p>
      </dgm:t>
    </dgm:pt>
    <dgm:pt modelId="{3D71ED68-E9CB-40AB-8913-A5EEA36A4CD8}" type="parTrans" cxnId="{79C40E0C-AEEB-4B85-A0AD-934E07C8D756}">
      <dgm:prSet/>
      <dgm:spPr/>
      <dgm:t>
        <a:bodyPr/>
        <a:lstStyle/>
        <a:p>
          <a:endParaRPr lang="en-US"/>
        </a:p>
      </dgm:t>
    </dgm:pt>
    <dgm:pt modelId="{C6656755-496E-494C-BB15-0DBD0C9099D7}" type="sibTrans" cxnId="{79C40E0C-AEEB-4B85-A0AD-934E07C8D756}">
      <dgm:prSet phldrT="5" phldr="0"/>
      <dgm:spPr/>
      <dgm:t>
        <a:bodyPr/>
        <a:lstStyle/>
        <a:p>
          <a:r>
            <a:rPr lang="en-US"/>
            <a:t>5</a:t>
          </a:r>
        </a:p>
      </dgm:t>
    </dgm:pt>
    <dgm:pt modelId="{5E6A0588-1C4B-4639-B717-9C37D79A1D4A}" type="pres">
      <dgm:prSet presAssocID="{C5F8154A-B50E-4CDF-BA4E-EDC43A7AC9B1}" presName="Name0" presStyleCnt="0">
        <dgm:presLayoutVars>
          <dgm:animLvl val="lvl"/>
          <dgm:resizeHandles val="exact"/>
        </dgm:presLayoutVars>
      </dgm:prSet>
      <dgm:spPr/>
    </dgm:pt>
    <dgm:pt modelId="{F6C2B2A9-6FF3-4E75-9834-C0DB7BF52037}" type="pres">
      <dgm:prSet presAssocID="{6CF05388-5ACB-49D4-A915-F38FA7D6E907}" presName="compositeNode" presStyleCnt="0">
        <dgm:presLayoutVars>
          <dgm:bulletEnabled val="1"/>
        </dgm:presLayoutVars>
      </dgm:prSet>
      <dgm:spPr/>
    </dgm:pt>
    <dgm:pt modelId="{6D327069-2476-4D34-85A3-5E1E8DFAFD92}" type="pres">
      <dgm:prSet presAssocID="{6CF05388-5ACB-49D4-A915-F38FA7D6E907}" presName="bgRect" presStyleLbl="bgAccFollowNode1" presStyleIdx="0" presStyleCnt="5"/>
      <dgm:spPr/>
    </dgm:pt>
    <dgm:pt modelId="{497549E4-8FB1-4897-B53D-B6A344941FE5}" type="pres">
      <dgm:prSet presAssocID="{B3E8E7FC-2C7D-4E25-985C-77164E89E770}" presName="sibTransNodeCircle" presStyleLbl="alignNode1" presStyleIdx="0" presStyleCnt="10">
        <dgm:presLayoutVars>
          <dgm:chMax val="0"/>
          <dgm:bulletEnabled/>
        </dgm:presLayoutVars>
      </dgm:prSet>
      <dgm:spPr/>
    </dgm:pt>
    <dgm:pt modelId="{FD225A42-9857-4EF5-A3A2-7CFA5407B396}" type="pres">
      <dgm:prSet presAssocID="{6CF05388-5ACB-49D4-A915-F38FA7D6E907}" presName="bottomLine" presStyleLbl="alignNode1" presStyleIdx="1" presStyleCnt="10">
        <dgm:presLayoutVars/>
      </dgm:prSet>
      <dgm:spPr/>
    </dgm:pt>
    <dgm:pt modelId="{7F156ACD-869E-44B5-A874-EB996CCB0F68}" type="pres">
      <dgm:prSet presAssocID="{6CF05388-5ACB-49D4-A915-F38FA7D6E907}" presName="nodeText" presStyleLbl="bgAccFollowNode1" presStyleIdx="0" presStyleCnt="5">
        <dgm:presLayoutVars>
          <dgm:bulletEnabled val="1"/>
        </dgm:presLayoutVars>
      </dgm:prSet>
      <dgm:spPr/>
    </dgm:pt>
    <dgm:pt modelId="{127EE216-A895-4D98-BF93-FFF0AC40400F}" type="pres">
      <dgm:prSet presAssocID="{B3E8E7FC-2C7D-4E25-985C-77164E89E770}" presName="sibTrans" presStyleCnt="0"/>
      <dgm:spPr/>
    </dgm:pt>
    <dgm:pt modelId="{BF31E1AC-5FA5-450B-966F-2CAEBD6F4329}" type="pres">
      <dgm:prSet presAssocID="{E227E991-B576-4A8D-932C-35A32B59C571}" presName="compositeNode" presStyleCnt="0">
        <dgm:presLayoutVars>
          <dgm:bulletEnabled val="1"/>
        </dgm:presLayoutVars>
      </dgm:prSet>
      <dgm:spPr/>
    </dgm:pt>
    <dgm:pt modelId="{D80097B7-449A-41C2-9214-D65F4FF6AC04}" type="pres">
      <dgm:prSet presAssocID="{E227E991-B576-4A8D-932C-35A32B59C571}" presName="bgRect" presStyleLbl="bgAccFollowNode1" presStyleIdx="1" presStyleCnt="5"/>
      <dgm:spPr/>
    </dgm:pt>
    <dgm:pt modelId="{E8BC76C8-A8FD-42C5-AE6F-EC690AC4E66B}" type="pres">
      <dgm:prSet presAssocID="{EEF65005-49F3-4DFA-9ED7-42DE0165F6BB}" presName="sibTransNodeCircle" presStyleLbl="alignNode1" presStyleIdx="2" presStyleCnt="10">
        <dgm:presLayoutVars>
          <dgm:chMax val="0"/>
          <dgm:bulletEnabled/>
        </dgm:presLayoutVars>
      </dgm:prSet>
      <dgm:spPr/>
    </dgm:pt>
    <dgm:pt modelId="{47C38FDE-0EBB-4E8B-8272-9133DECDB430}" type="pres">
      <dgm:prSet presAssocID="{E227E991-B576-4A8D-932C-35A32B59C571}" presName="bottomLine" presStyleLbl="alignNode1" presStyleIdx="3" presStyleCnt="10">
        <dgm:presLayoutVars/>
      </dgm:prSet>
      <dgm:spPr/>
    </dgm:pt>
    <dgm:pt modelId="{BF031504-DB95-4721-B616-117A4049E7E3}" type="pres">
      <dgm:prSet presAssocID="{E227E991-B576-4A8D-932C-35A32B59C571}" presName="nodeText" presStyleLbl="bgAccFollowNode1" presStyleIdx="1" presStyleCnt="5">
        <dgm:presLayoutVars>
          <dgm:bulletEnabled val="1"/>
        </dgm:presLayoutVars>
      </dgm:prSet>
      <dgm:spPr/>
    </dgm:pt>
    <dgm:pt modelId="{00A0F532-8414-40E0-B2F6-BA291CA48CDD}" type="pres">
      <dgm:prSet presAssocID="{EEF65005-49F3-4DFA-9ED7-42DE0165F6BB}" presName="sibTrans" presStyleCnt="0"/>
      <dgm:spPr/>
    </dgm:pt>
    <dgm:pt modelId="{133DF15E-35E5-4CAA-B8EF-835C67BD1895}" type="pres">
      <dgm:prSet presAssocID="{07072F27-2C3A-42B3-A078-3C450D5BBA2F}" presName="compositeNode" presStyleCnt="0">
        <dgm:presLayoutVars>
          <dgm:bulletEnabled val="1"/>
        </dgm:presLayoutVars>
      </dgm:prSet>
      <dgm:spPr/>
    </dgm:pt>
    <dgm:pt modelId="{D24B6A28-A87D-433D-8EF0-6E6A769A04AC}" type="pres">
      <dgm:prSet presAssocID="{07072F27-2C3A-42B3-A078-3C450D5BBA2F}" presName="bgRect" presStyleLbl="bgAccFollowNode1" presStyleIdx="2" presStyleCnt="5"/>
      <dgm:spPr/>
    </dgm:pt>
    <dgm:pt modelId="{30578B2C-7FC4-4D4B-B105-184FD391500E}" type="pres">
      <dgm:prSet presAssocID="{F8E1915E-670D-4584-9BAD-7AECAB674317}" presName="sibTransNodeCircle" presStyleLbl="alignNode1" presStyleIdx="4" presStyleCnt="10">
        <dgm:presLayoutVars>
          <dgm:chMax val="0"/>
          <dgm:bulletEnabled/>
        </dgm:presLayoutVars>
      </dgm:prSet>
      <dgm:spPr/>
    </dgm:pt>
    <dgm:pt modelId="{6BA8EED3-570F-4859-901D-E5215A9BA74C}" type="pres">
      <dgm:prSet presAssocID="{07072F27-2C3A-42B3-A078-3C450D5BBA2F}" presName="bottomLine" presStyleLbl="alignNode1" presStyleIdx="5" presStyleCnt="10">
        <dgm:presLayoutVars/>
      </dgm:prSet>
      <dgm:spPr/>
    </dgm:pt>
    <dgm:pt modelId="{B0060FB5-B566-4234-B2D9-6EC375C478A2}" type="pres">
      <dgm:prSet presAssocID="{07072F27-2C3A-42B3-A078-3C450D5BBA2F}" presName="nodeText" presStyleLbl="bgAccFollowNode1" presStyleIdx="2" presStyleCnt="5">
        <dgm:presLayoutVars>
          <dgm:bulletEnabled val="1"/>
        </dgm:presLayoutVars>
      </dgm:prSet>
      <dgm:spPr/>
    </dgm:pt>
    <dgm:pt modelId="{2FC89DC8-9929-449C-B84D-AD93FDEC1A3C}" type="pres">
      <dgm:prSet presAssocID="{F8E1915E-670D-4584-9BAD-7AECAB674317}" presName="sibTrans" presStyleCnt="0"/>
      <dgm:spPr/>
    </dgm:pt>
    <dgm:pt modelId="{4802816E-BFEE-4B56-A83F-3FA7B3306AA7}" type="pres">
      <dgm:prSet presAssocID="{EBF87A5D-E1DD-43E7-A3FD-312D74F853FE}" presName="compositeNode" presStyleCnt="0">
        <dgm:presLayoutVars>
          <dgm:bulletEnabled val="1"/>
        </dgm:presLayoutVars>
      </dgm:prSet>
      <dgm:spPr/>
    </dgm:pt>
    <dgm:pt modelId="{761FA167-FB37-4D19-A94F-BA8D78A366D8}" type="pres">
      <dgm:prSet presAssocID="{EBF87A5D-E1DD-43E7-A3FD-312D74F853FE}" presName="bgRect" presStyleLbl="bgAccFollowNode1" presStyleIdx="3" presStyleCnt="5"/>
      <dgm:spPr/>
    </dgm:pt>
    <dgm:pt modelId="{BD777F8B-94F9-4DAF-BB31-7774F641A3A3}" type="pres">
      <dgm:prSet presAssocID="{0E1E4917-49F7-4EF7-A5E6-4CE844EB9210}" presName="sibTransNodeCircle" presStyleLbl="alignNode1" presStyleIdx="6" presStyleCnt="10">
        <dgm:presLayoutVars>
          <dgm:chMax val="0"/>
          <dgm:bulletEnabled/>
        </dgm:presLayoutVars>
      </dgm:prSet>
      <dgm:spPr/>
    </dgm:pt>
    <dgm:pt modelId="{FE0DE0BD-3A25-4AB0-926E-F81C82B547F0}" type="pres">
      <dgm:prSet presAssocID="{EBF87A5D-E1DD-43E7-A3FD-312D74F853FE}" presName="bottomLine" presStyleLbl="alignNode1" presStyleIdx="7" presStyleCnt="10">
        <dgm:presLayoutVars/>
      </dgm:prSet>
      <dgm:spPr/>
    </dgm:pt>
    <dgm:pt modelId="{505C81D9-065F-472E-AD93-1966E68904EB}" type="pres">
      <dgm:prSet presAssocID="{EBF87A5D-E1DD-43E7-A3FD-312D74F853FE}" presName="nodeText" presStyleLbl="bgAccFollowNode1" presStyleIdx="3" presStyleCnt="5">
        <dgm:presLayoutVars>
          <dgm:bulletEnabled val="1"/>
        </dgm:presLayoutVars>
      </dgm:prSet>
      <dgm:spPr/>
    </dgm:pt>
    <dgm:pt modelId="{8E58DEBB-8DBA-4E9D-91ED-BD7A93A7695B}" type="pres">
      <dgm:prSet presAssocID="{0E1E4917-49F7-4EF7-A5E6-4CE844EB9210}" presName="sibTrans" presStyleCnt="0"/>
      <dgm:spPr/>
    </dgm:pt>
    <dgm:pt modelId="{343B942D-E79B-4C39-BC6E-DC3F826323AD}" type="pres">
      <dgm:prSet presAssocID="{607A3798-BFF9-4A7C-A275-5C432AC4A06E}" presName="compositeNode" presStyleCnt="0">
        <dgm:presLayoutVars>
          <dgm:bulletEnabled val="1"/>
        </dgm:presLayoutVars>
      </dgm:prSet>
      <dgm:spPr/>
    </dgm:pt>
    <dgm:pt modelId="{892A3BA8-7B80-4289-AF52-284996A5CBF1}" type="pres">
      <dgm:prSet presAssocID="{607A3798-BFF9-4A7C-A275-5C432AC4A06E}" presName="bgRect" presStyleLbl="bgAccFollowNode1" presStyleIdx="4" presStyleCnt="5"/>
      <dgm:spPr/>
    </dgm:pt>
    <dgm:pt modelId="{A149C1A8-DC9D-4875-99AB-30A556C23ECF}" type="pres">
      <dgm:prSet presAssocID="{C6656755-496E-494C-BB15-0DBD0C9099D7}" presName="sibTransNodeCircle" presStyleLbl="alignNode1" presStyleIdx="8" presStyleCnt="10">
        <dgm:presLayoutVars>
          <dgm:chMax val="0"/>
          <dgm:bulletEnabled/>
        </dgm:presLayoutVars>
      </dgm:prSet>
      <dgm:spPr/>
    </dgm:pt>
    <dgm:pt modelId="{C1B3B87A-3356-4FA4-B97C-E75CD3395617}" type="pres">
      <dgm:prSet presAssocID="{607A3798-BFF9-4A7C-A275-5C432AC4A06E}" presName="bottomLine" presStyleLbl="alignNode1" presStyleIdx="9" presStyleCnt="10">
        <dgm:presLayoutVars/>
      </dgm:prSet>
      <dgm:spPr/>
    </dgm:pt>
    <dgm:pt modelId="{79D3657F-F8FE-4D31-B2CE-723CC2C0F134}" type="pres">
      <dgm:prSet presAssocID="{607A3798-BFF9-4A7C-A275-5C432AC4A06E}" presName="nodeText" presStyleLbl="bgAccFollowNode1" presStyleIdx="4" presStyleCnt="5">
        <dgm:presLayoutVars>
          <dgm:bulletEnabled val="1"/>
        </dgm:presLayoutVars>
      </dgm:prSet>
      <dgm:spPr/>
    </dgm:pt>
  </dgm:ptLst>
  <dgm:cxnLst>
    <dgm:cxn modelId="{79C40E0C-AEEB-4B85-A0AD-934E07C8D756}" srcId="{C5F8154A-B50E-4CDF-BA4E-EDC43A7AC9B1}" destId="{607A3798-BFF9-4A7C-A275-5C432AC4A06E}" srcOrd="4" destOrd="0" parTransId="{3D71ED68-E9CB-40AB-8913-A5EEA36A4CD8}" sibTransId="{C6656755-496E-494C-BB15-0DBD0C9099D7}"/>
    <dgm:cxn modelId="{4B92B90D-24CD-4955-9F55-64E90AFE7062}" type="presOf" srcId="{C5F8154A-B50E-4CDF-BA4E-EDC43A7AC9B1}" destId="{5E6A0588-1C4B-4639-B717-9C37D79A1D4A}" srcOrd="0" destOrd="0" presId="urn:microsoft.com/office/officeart/2016/7/layout/BasicLinearProcessNumbered"/>
    <dgm:cxn modelId="{77DABA0D-CB42-4310-A1C4-E7BFEEA2189A}" type="presOf" srcId="{607A3798-BFF9-4A7C-A275-5C432AC4A06E}" destId="{79D3657F-F8FE-4D31-B2CE-723CC2C0F134}" srcOrd="1" destOrd="0" presId="urn:microsoft.com/office/officeart/2016/7/layout/BasicLinearProcessNumbered"/>
    <dgm:cxn modelId="{F08A972F-DFDF-4165-BE88-F61D6BBC345F}" type="presOf" srcId="{0E1E4917-49F7-4EF7-A5E6-4CE844EB9210}" destId="{BD777F8B-94F9-4DAF-BB31-7774F641A3A3}" srcOrd="0" destOrd="0" presId="urn:microsoft.com/office/officeart/2016/7/layout/BasicLinearProcessNumbered"/>
    <dgm:cxn modelId="{7C2D3D36-950A-497A-B190-C6C8C0EC42ED}" type="presOf" srcId="{E227E991-B576-4A8D-932C-35A32B59C571}" destId="{D80097B7-449A-41C2-9214-D65F4FF6AC04}" srcOrd="0" destOrd="0" presId="urn:microsoft.com/office/officeart/2016/7/layout/BasicLinearProcessNumbered"/>
    <dgm:cxn modelId="{98BB2437-0515-4554-8A1A-DA34F0F2E88F}" type="presOf" srcId="{07072F27-2C3A-42B3-A078-3C450D5BBA2F}" destId="{D24B6A28-A87D-433D-8EF0-6E6A769A04AC}" srcOrd="0" destOrd="0" presId="urn:microsoft.com/office/officeart/2016/7/layout/BasicLinearProcessNumbered"/>
    <dgm:cxn modelId="{52CEC237-5BAB-4E48-A582-6A5D63B87175}" type="presOf" srcId="{F8E1915E-670D-4584-9BAD-7AECAB674317}" destId="{30578B2C-7FC4-4D4B-B105-184FD391500E}" srcOrd="0" destOrd="0" presId="urn:microsoft.com/office/officeart/2016/7/layout/BasicLinearProcessNumbered"/>
    <dgm:cxn modelId="{09BDEC3B-275D-461A-8353-5C9ABB76FB77}" type="presOf" srcId="{607A3798-BFF9-4A7C-A275-5C432AC4A06E}" destId="{892A3BA8-7B80-4289-AF52-284996A5CBF1}" srcOrd="0" destOrd="0" presId="urn:microsoft.com/office/officeart/2016/7/layout/BasicLinearProcessNumbered"/>
    <dgm:cxn modelId="{6DA01C45-C96F-4853-86BF-00C145428F46}" type="presOf" srcId="{EEF65005-49F3-4DFA-9ED7-42DE0165F6BB}" destId="{E8BC76C8-A8FD-42C5-AE6F-EC690AC4E66B}" srcOrd="0" destOrd="0" presId="urn:microsoft.com/office/officeart/2016/7/layout/BasicLinearProcessNumbered"/>
    <dgm:cxn modelId="{9965F266-D95F-45BC-A3B2-385E0FE3B867}" srcId="{C5F8154A-B50E-4CDF-BA4E-EDC43A7AC9B1}" destId="{6CF05388-5ACB-49D4-A915-F38FA7D6E907}" srcOrd="0" destOrd="0" parTransId="{7822E5BC-4CEE-43F5-9B7C-EB5B1FDD8B27}" sibTransId="{B3E8E7FC-2C7D-4E25-985C-77164E89E770}"/>
    <dgm:cxn modelId="{3D29F96E-8854-45A2-B48B-8605C65037E4}" srcId="{C5F8154A-B50E-4CDF-BA4E-EDC43A7AC9B1}" destId="{07072F27-2C3A-42B3-A078-3C450D5BBA2F}" srcOrd="2" destOrd="0" parTransId="{CC1DD9C3-12B8-4165-89A5-15020FD49030}" sibTransId="{F8E1915E-670D-4584-9BAD-7AECAB674317}"/>
    <dgm:cxn modelId="{D18FF46F-1AAB-4E5D-A09D-4C12A3476E6D}" type="presOf" srcId="{EBF87A5D-E1DD-43E7-A3FD-312D74F853FE}" destId="{761FA167-FB37-4D19-A94F-BA8D78A366D8}" srcOrd="0" destOrd="0" presId="urn:microsoft.com/office/officeart/2016/7/layout/BasicLinearProcessNumbered"/>
    <dgm:cxn modelId="{F4E18553-D9C2-4207-8EE0-491CD8DADD15}" type="presOf" srcId="{6CF05388-5ACB-49D4-A915-F38FA7D6E907}" destId="{7F156ACD-869E-44B5-A874-EB996CCB0F68}" srcOrd="1" destOrd="0" presId="urn:microsoft.com/office/officeart/2016/7/layout/BasicLinearProcessNumbered"/>
    <dgm:cxn modelId="{1CB27983-A70B-48A9-AD52-FDA087E865BB}" type="presOf" srcId="{07072F27-2C3A-42B3-A078-3C450D5BBA2F}" destId="{B0060FB5-B566-4234-B2D9-6EC375C478A2}" srcOrd="1" destOrd="0" presId="urn:microsoft.com/office/officeart/2016/7/layout/BasicLinearProcessNumbered"/>
    <dgm:cxn modelId="{22036590-77A1-43B0-8824-39FC111902AF}" type="presOf" srcId="{E227E991-B576-4A8D-932C-35A32B59C571}" destId="{BF031504-DB95-4721-B616-117A4049E7E3}" srcOrd="1" destOrd="0" presId="urn:microsoft.com/office/officeart/2016/7/layout/BasicLinearProcessNumbered"/>
    <dgm:cxn modelId="{6218EC95-AAE0-47D1-9286-980978842EBC}" type="presOf" srcId="{C6656755-496E-494C-BB15-0DBD0C9099D7}" destId="{A149C1A8-DC9D-4875-99AB-30A556C23ECF}" srcOrd="0" destOrd="0" presId="urn:microsoft.com/office/officeart/2016/7/layout/BasicLinearProcessNumbered"/>
    <dgm:cxn modelId="{532E1B99-66CA-4AD7-A9ED-078EA4BBB7C3}" type="presOf" srcId="{6CF05388-5ACB-49D4-A915-F38FA7D6E907}" destId="{6D327069-2476-4D34-85A3-5E1E8DFAFD92}" srcOrd="0" destOrd="0" presId="urn:microsoft.com/office/officeart/2016/7/layout/BasicLinearProcessNumbered"/>
    <dgm:cxn modelId="{4E06FBAE-6370-405A-9D07-BF15A653811C}" type="presOf" srcId="{EBF87A5D-E1DD-43E7-A3FD-312D74F853FE}" destId="{505C81D9-065F-472E-AD93-1966E68904EB}" srcOrd="1" destOrd="0" presId="urn:microsoft.com/office/officeart/2016/7/layout/BasicLinearProcessNumbered"/>
    <dgm:cxn modelId="{BA91D9B8-8B32-4C4D-AC53-E9F1DB47462F}" type="presOf" srcId="{B3E8E7FC-2C7D-4E25-985C-77164E89E770}" destId="{497549E4-8FB1-4897-B53D-B6A344941FE5}" srcOrd="0" destOrd="0" presId="urn:microsoft.com/office/officeart/2016/7/layout/BasicLinearProcessNumbered"/>
    <dgm:cxn modelId="{80CF74EF-90C0-4BBC-B1DD-30D40F54A154}" srcId="{C5F8154A-B50E-4CDF-BA4E-EDC43A7AC9B1}" destId="{EBF87A5D-E1DD-43E7-A3FD-312D74F853FE}" srcOrd="3" destOrd="0" parTransId="{F5A2E505-7760-407F-A4EF-D7F6F94061E9}" sibTransId="{0E1E4917-49F7-4EF7-A5E6-4CE844EB9210}"/>
    <dgm:cxn modelId="{93E037FF-290B-4AD0-94D6-7CFC7937413E}" srcId="{C5F8154A-B50E-4CDF-BA4E-EDC43A7AC9B1}" destId="{E227E991-B576-4A8D-932C-35A32B59C571}" srcOrd="1" destOrd="0" parTransId="{41665E04-D3B7-48C4-A5B2-D56020FEBEF1}" sibTransId="{EEF65005-49F3-4DFA-9ED7-42DE0165F6BB}"/>
    <dgm:cxn modelId="{0CC6E8EA-C1DF-4F7C-8F9F-A5EA20807513}" type="presParOf" srcId="{5E6A0588-1C4B-4639-B717-9C37D79A1D4A}" destId="{F6C2B2A9-6FF3-4E75-9834-C0DB7BF52037}" srcOrd="0" destOrd="0" presId="urn:microsoft.com/office/officeart/2016/7/layout/BasicLinearProcessNumbered"/>
    <dgm:cxn modelId="{B33F018C-9602-46E0-9CF0-580B710CA977}" type="presParOf" srcId="{F6C2B2A9-6FF3-4E75-9834-C0DB7BF52037}" destId="{6D327069-2476-4D34-85A3-5E1E8DFAFD92}" srcOrd="0" destOrd="0" presId="urn:microsoft.com/office/officeart/2016/7/layout/BasicLinearProcessNumbered"/>
    <dgm:cxn modelId="{99FFE07C-F30F-4827-B111-754003CA4B8C}" type="presParOf" srcId="{F6C2B2A9-6FF3-4E75-9834-C0DB7BF52037}" destId="{497549E4-8FB1-4897-B53D-B6A344941FE5}" srcOrd="1" destOrd="0" presId="urn:microsoft.com/office/officeart/2016/7/layout/BasicLinearProcessNumbered"/>
    <dgm:cxn modelId="{0D8FC0AE-CE70-429B-94A0-A603BDFD6B69}" type="presParOf" srcId="{F6C2B2A9-6FF3-4E75-9834-C0DB7BF52037}" destId="{FD225A42-9857-4EF5-A3A2-7CFA5407B396}" srcOrd="2" destOrd="0" presId="urn:microsoft.com/office/officeart/2016/7/layout/BasicLinearProcessNumbered"/>
    <dgm:cxn modelId="{A870D0C2-6781-4792-920A-824FD78305B6}" type="presParOf" srcId="{F6C2B2A9-6FF3-4E75-9834-C0DB7BF52037}" destId="{7F156ACD-869E-44B5-A874-EB996CCB0F68}" srcOrd="3" destOrd="0" presId="urn:microsoft.com/office/officeart/2016/7/layout/BasicLinearProcessNumbered"/>
    <dgm:cxn modelId="{907819DD-3395-47B0-A8F7-FF0048E0FA5F}" type="presParOf" srcId="{5E6A0588-1C4B-4639-B717-9C37D79A1D4A}" destId="{127EE216-A895-4D98-BF93-FFF0AC40400F}" srcOrd="1" destOrd="0" presId="urn:microsoft.com/office/officeart/2016/7/layout/BasicLinearProcessNumbered"/>
    <dgm:cxn modelId="{60F620C2-5EA7-47FA-B493-7E9B796F42DD}" type="presParOf" srcId="{5E6A0588-1C4B-4639-B717-9C37D79A1D4A}" destId="{BF31E1AC-5FA5-450B-966F-2CAEBD6F4329}" srcOrd="2" destOrd="0" presId="urn:microsoft.com/office/officeart/2016/7/layout/BasicLinearProcessNumbered"/>
    <dgm:cxn modelId="{C68FCAAB-FF96-478F-BA8C-B555F73929B1}" type="presParOf" srcId="{BF31E1AC-5FA5-450B-966F-2CAEBD6F4329}" destId="{D80097B7-449A-41C2-9214-D65F4FF6AC04}" srcOrd="0" destOrd="0" presId="urn:microsoft.com/office/officeart/2016/7/layout/BasicLinearProcessNumbered"/>
    <dgm:cxn modelId="{19C7185D-6CBD-4B2B-87E2-97C9753C75B7}" type="presParOf" srcId="{BF31E1AC-5FA5-450B-966F-2CAEBD6F4329}" destId="{E8BC76C8-A8FD-42C5-AE6F-EC690AC4E66B}" srcOrd="1" destOrd="0" presId="urn:microsoft.com/office/officeart/2016/7/layout/BasicLinearProcessNumbered"/>
    <dgm:cxn modelId="{8D6BE948-F647-4EDE-AE9A-B889239154FE}" type="presParOf" srcId="{BF31E1AC-5FA5-450B-966F-2CAEBD6F4329}" destId="{47C38FDE-0EBB-4E8B-8272-9133DECDB430}" srcOrd="2" destOrd="0" presId="urn:microsoft.com/office/officeart/2016/7/layout/BasicLinearProcessNumbered"/>
    <dgm:cxn modelId="{D7D049DC-3135-4F46-94C7-3B2344A380DA}" type="presParOf" srcId="{BF31E1AC-5FA5-450B-966F-2CAEBD6F4329}" destId="{BF031504-DB95-4721-B616-117A4049E7E3}" srcOrd="3" destOrd="0" presId="urn:microsoft.com/office/officeart/2016/7/layout/BasicLinearProcessNumbered"/>
    <dgm:cxn modelId="{F3464525-7DC5-4C0D-9D76-16BE859BCA34}" type="presParOf" srcId="{5E6A0588-1C4B-4639-B717-9C37D79A1D4A}" destId="{00A0F532-8414-40E0-B2F6-BA291CA48CDD}" srcOrd="3" destOrd="0" presId="urn:microsoft.com/office/officeart/2016/7/layout/BasicLinearProcessNumbered"/>
    <dgm:cxn modelId="{5E272E78-6F1A-43F2-AF9B-1F894A49DC8B}" type="presParOf" srcId="{5E6A0588-1C4B-4639-B717-9C37D79A1D4A}" destId="{133DF15E-35E5-4CAA-B8EF-835C67BD1895}" srcOrd="4" destOrd="0" presId="urn:microsoft.com/office/officeart/2016/7/layout/BasicLinearProcessNumbered"/>
    <dgm:cxn modelId="{ABA31EDC-34D5-41AC-930A-A77C02B99DA6}" type="presParOf" srcId="{133DF15E-35E5-4CAA-B8EF-835C67BD1895}" destId="{D24B6A28-A87D-433D-8EF0-6E6A769A04AC}" srcOrd="0" destOrd="0" presId="urn:microsoft.com/office/officeart/2016/7/layout/BasicLinearProcessNumbered"/>
    <dgm:cxn modelId="{29659500-FE70-4688-BE76-AB6153D58AF2}" type="presParOf" srcId="{133DF15E-35E5-4CAA-B8EF-835C67BD1895}" destId="{30578B2C-7FC4-4D4B-B105-184FD391500E}" srcOrd="1" destOrd="0" presId="urn:microsoft.com/office/officeart/2016/7/layout/BasicLinearProcessNumbered"/>
    <dgm:cxn modelId="{BFDFD81F-817B-4DF5-867F-B6DBAC534975}" type="presParOf" srcId="{133DF15E-35E5-4CAA-B8EF-835C67BD1895}" destId="{6BA8EED3-570F-4859-901D-E5215A9BA74C}" srcOrd="2" destOrd="0" presId="urn:microsoft.com/office/officeart/2016/7/layout/BasicLinearProcessNumbered"/>
    <dgm:cxn modelId="{1A623E80-90C1-4424-B62A-9572C0C6DBC5}" type="presParOf" srcId="{133DF15E-35E5-4CAA-B8EF-835C67BD1895}" destId="{B0060FB5-B566-4234-B2D9-6EC375C478A2}" srcOrd="3" destOrd="0" presId="urn:microsoft.com/office/officeart/2016/7/layout/BasicLinearProcessNumbered"/>
    <dgm:cxn modelId="{07AA8DCF-924A-42CA-9E55-8D4A39C651FE}" type="presParOf" srcId="{5E6A0588-1C4B-4639-B717-9C37D79A1D4A}" destId="{2FC89DC8-9929-449C-B84D-AD93FDEC1A3C}" srcOrd="5" destOrd="0" presId="urn:microsoft.com/office/officeart/2016/7/layout/BasicLinearProcessNumbered"/>
    <dgm:cxn modelId="{DCC44F1A-BA66-485F-9156-BBCE4FB5A537}" type="presParOf" srcId="{5E6A0588-1C4B-4639-B717-9C37D79A1D4A}" destId="{4802816E-BFEE-4B56-A83F-3FA7B3306AA7}" srcOrd="6" destOrd="0" presId="urn:microsoft.com/office/officeart/2016/7/layout/BasicLinearProcessNumbered"/>
    <dgm:cxn modelId="{18A03B04-7989-45D9-AB45-BD7125AAC403}" type="presParOf" srcId="{4802816E-BFEE-4B56-A83F-3FA7B3306AA7}" destId="{761FA167-FB37-4D19-A94F-BA8D78A366D8}" srcOrd="0" destOrd="0" presId="urn:microsoft.com/office/officeart/2016/7/layout/BasicLinearProcessNumbered"/>
    <dgm:cxn modelId="{AC2D9BC5-26B2-49D1-BB83-1D547B94B8AC}" type="presParOf" srcId="{4802816E-BFEE-4B56-A83F-3FA7B3306AA7}" destId="{BD777F8B-94F9-4DAF-BB31-7774F641A3A3}" srcOrd="1" destOrd="0" presId="urn:microsoft.com/office/officeart/2016/7/layout/BasicLinearProcessNumbered"/>
    <dgm:cxn modelId="{6AAC3988-F15E-4C38-BF0E-E4390495087F}" type="presParOf" srcId="{4802816E-BFEE-4B56-A83F-3FA7B3306AA7}" destId="{FE0DE0BD-3A25-4AB0-926E-F81C82B547F0}" srcOrd="2" destOrd="0" presId="urn:microsoft.com/office/officeart/2016/7/layout/BasicLinearProcessNumbered"/>
    <dgm:cxn modelId="{8B1BEFCD-017F-470E-87D0-B0FACEDE77EF}" type="presParOf" srcId="{4802816E-BFEE-4B56-A83F-3FA7B3306AA7}" destId="{505C81D9-065F-472E-AD93-1966E68904EB}" srcOrd="3" destOrd="0" presId="urn:microsoft.com/office/officeart/2016/7/layout/BasicLinearProcessNumbered"/>
    <dgm:cxn modelId="{BDE7F412-5678-4BC2-A60B-DDB0809C9E2B}" type="presParOf" srcId="{5E6A0588-1C4B-4639-B717-9C37D79A1D4A}" destId="{8E58DEBB-8DBA-4E9D-91ED-BD7A93A7695B}" srcOrd="7" destOrd="0" presId="urn:microsoft.com/office/officeart/2016/7/layout/BasicLinearProcessNumbered"/>
    <dgm:cxn modelId="{57C02B5C-4400-4022-9B73-5794ED9604E3}" type="presParOf" srcId="{5E6A0588-1C4B-4639-B717-9C37D79A1D4A}" destId="{343B942D-E79B-4C39-BC6E-DC3F826323AD}" srcOrd="8" destOrd="0" presId="urn:microsoft.com/office/officeart/2016/7/layout/BasicLinearProcessNumbered"/>
    <dgm:cxn modelId="{27654925-B90F-4311-BAA3-FC8D87759313}" type="presParOf" srcId="{343B942D-E79B-4C39-BC6E-DC3F826323AD}" destId="{892A3BA8-7B80-4289-AF52-284996A5CBF1}" srcOrd="0" destOrd="0" presId="urn:microsoft.com/office/officeart/2016/7/layout/BasicLinearProcessNumbered"/>
    <dgm:cxn modelId="{2B43889C-E067-412E-8764-82502E9FCB3F}" type="presParOf" srcId="{343B942D-E79B-4C39-BC6E-DC3F826323AD}" destId="{A149C1A8-DC9D-4875-99AB-30A556C23ECF}" srcOrd="1" destOrd="0" presId="urn:microsoft.com/office/officeart/2016/7/layout/BasicLinearProcessNumbered"/>
    <dgm:cxn modelId="{EE6C02F9-39FB-4616-A0BD-1341047B1394}" type="presParOf" srcId="{343B942D-E79B-4C39-BC6E-DC3F826323AD}" destId="{C1B3B87A-3356-4FA4-B97C-E75CD3395617}" srcOrd="2" destOrd="0" presId="urn:microsoft.com/office/officeart/2016/7/layout/BasicLinearProcessNumbered"/>
    <dgm:cxn modelId="{8294A23F-FDEB-41D5-AC45-D031158CE667}" type="presParOf" srcId="{343B942D-E79B-4C39-BC6E-DC3F826323AD}" destId="{79D3657F-F8FE-4D31-B2CE-723CC2C0F134}"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62613F-A14B-4C48-8399-C26E9D0FAD8E}">
      <dsp:nvSpPr>
        <dsp:cNvPr id="0" name=""/>
        <dsp:cNvSpPr/>
      </dsp:nvSpPr>
      <dsp:spPr>
        <a:xfrm>
          <a:off x="0" y="108773"/>
          <a:ext cx="5721484" cy="9149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CA" sz="2300" kern="1200"/>
            <a:t>This is the real work horse of the system and “pumps” out the code and tests.</a:t>
          </a:r>
          <a:endParaRPr lang="en-US" sz="2300" kern="1200"/>
        </a:p>
      </dsp:txBody>
      <dsp:txXfrm>
        <a:off x="44664" y="153437"/>
        <a:ext cx="5632156" cy="825612"/>
      </dsp:txXfrm>
    </dsp:sp>
    <dsp:sp modelId="{B969FE15-8D0A-4758-9820-171A2E4755F7}">
      <dsp:nvSpPr>
        <dsp:cNvPr id="0" name=""/>
        <dsp:cNvSpPr/>
      </dsp:nvSpPr>
      <dsp:spPr>
        <a:xfrm>
          <a:off x="0" y="1089954"/>
          <a:ext cx="5721484" cy="9149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CA" sz="2300" kern="1200"/>
            <a:t>The [coder] agent is given instructions to:</a:t>
          </a:r>
          <a:endParaRPr lang="en-US" sz="2300" kern="1200"/>
        </a:p>
      </dsp:txBody>
      <dsp:txXfrm>
        <a:off x="44664" y="1134618"/>
        <a:ext cx="5632156" cy="825612"/>
      </dsp:txXfrm>
    </dsp:sp>
    <dsp:sp modelId="{8C077975-D15D-48B1-8FBB-686C449DF6CD}">
      <dsp:nvSpPr>
        <dsp:cNvPr id="0" name=""/>
        <dsp:cNvSpPr/>
      </dsp:nvSpPr>
      <dsp:spPr>
        <a:xfrm>
          <a:off x="0" y="2004894"/>
          <a:ext cx="5721484" cy="2237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65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CA" sz="1800" kern="1200"/>
            <a:t>Be concise and efficient with coding changes and to minimize refactoring (unless explicitly instructed to do so).</a:t>
          </a:r>
          <a:endParaRPr lang="en-US" sz="1800" kern="1200"/>
        </a:p>
        <a:p>
          <a:pPr marL="171450" lvl="1" indent="-171450" algn="l" defTabSz="800100">
            <a:lnSpc>
              <a:spcPct val="90000"/>
            </a:lnSpc>
            <a:spcBef>
              <a:spcPct val="0"/>
            </a:spcBef>
            <a:spcAft>
              <a:spcPct val="20000"/>
            </a:spcAft>
            <a:buChar char="•"/>
          </a:pPr>
          <a:r>
            <a:rPr lang="en-CA" sz="1800" kern="1200"/>
            <a:t>Read and understand existing design patterns and architecture decisions. </a:t>
          </a:r>
          <a:endParaRPr lang="en-US" sz="1800" kern="1200"/>
        </a:p>
        <a:p>
          <a:pPr marL="171450" lvl="1" indent="-171450" algn="l" defTabSz="800100">
            <a:lnSpc>
              <a:spcPct val="90000"/>
            </a:lnSpc>
            <a:spcBef>
              <a:spcPct val="0"/>
            </a:spcBef>
            <a:spcAft>
              <a:spcPct val="20000"/>
            </a:spcAft>
            <a:buChar char="•"/>
          </a:pPr>
          <a:r>
            <a:rPr lang="en-CA" sz="1800" kern="1200"/>
            <a:t>Write appropriate unit tests.</a:t>
          </a:r>
          <a:endParaRPr lang="en-US" sz="1800" kern="1200"/>
        </a:p>
        <a:p>
          <a:pPr marL="171450" lvl="1" indent="-171450" algn="l" defTabSz="800100">
            <a:lnSpc>
              <a:spcPct val="90000"/>
            </a:lnSpc>
            <a:spcBef>
              <a:spcPct val="0"/>
            </a:spcBef>
            <a:spcAft>
              <a:spcPct val="20000"/>
            </a:spcAft>
            <a:buChar char="•"/>
          </a:pPr>
          <a:r>
            <a:rPr lang="en-CA" sz="1800" kern="1200"/>
            <a:t>Write well documented pull requests with screenshots where it makes sense.</a:t>
          </a:r>
          <a:endParaRPr lang="en-US" sz="1800" kern="1200"/>
        </a:p>
      </dsp:txBody>
      <dsp:txXfrm>
        <a:off x="0" y="2004894"/>
        <a:ext cx="5721484" cy="22376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E19A0C-B858-4BE8-8781-E233402027A6}">
      <dsp:nvSpPr>
        <dsp:cNvPr id="0" name=""/>
        <dsp:cNvSpPr/>
      </dsp:nvSpPr>
      <dsp:spPr>
        <a:xfrm>
          <a:off x="1093" y="278908"/>
          <a:ext cx="1790638" cy="71625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a:t>Plan</a:t>
          </a:r>
        </a:p>
      </dsp:txBody>
      <dsp:txXfrm>
        <a:off x="1093" y="278908"/>
        <a:ext cx="1611574" cy="716255"/>
      </dsp:txXfrm>
    </dsp:sp>
    <dsp:sp modelId="{0B1E767E-37A3-4CC1-B84D-C3645DF7B139}">
      <dsp:nvSpPr>
        <dsp:cNvPr id="0" name=""/>
        <dsp:cNvSpPr/>
      </dsp:nvSpPr>
      <dsp:spPr>
        <a:xfrm>
          <a:off x="1433604"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Design</a:t>
          </a:r>
        </a:p>
      </dsp:txBody>
      <dsp:txXfrm>
        <a:off x="1791732" y="278908"/>
        <a:ext cx="1074383" cy="716255"/>
      </dsp:txXfrm>
    </dsp:sp>
    <dsp:sp modelId="{90E19628-AAC4-47A5-9BE5-C20911138BCF}">
      <dsp:nvSpPr>
        <dsp:cNvPr id="0" name=""/>
        <dsp:cNvSpPr/>
      </dsp:nvSpPr>
      <dsp:spPr>
        <a:xfrm>
          <a:off x="2866115"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Implement</a:t>
          </a:r>
        </a:p>
      </dsp:txBody>
      <dsp:txXfrm>
        <a:off x="3224243" y="278908"/>
        <a:ext cx="1074383" cy="716255"/>
      </dsp:txXfrm>
    </dsp:sp>
    <dsp:sp modelId="{8CA84BAF-9B13-41BF-855F-F424D1ECFCF2}">
      <dsp:nvSpPr>
        <dsp:cNvPr id="0" name=""/>
        <dsp:cNvSpPr/>
      </dsp:nvSpPr>
      <dsp:spPr>
        <a:xfrm>
          <a:off x="4303908" y="278163"/>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Review</a:t>
          </a:r>
        </a:p>
      </dsp:txBody>
      <dsp:txXfrm>
        <a:off x="4662036" y="278163"/>
        <a:ext cx="1074383" cy="716255"/>
      </dsp:txXfrm>
    </dsp:sp>
    <dsp:sp modelId="{84A1143A-78CC-41F7-A42C-1BD47A9CE203}">
      <dsp:nvSpPr>
        <dsp:cNvPr id="0" name=""/>
        <dsp:cNvSpPr/>
      </dsp:nvSpPr>
      <dsp:spPr>
        <a:xfrm>
          <a:off x="5731137"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Deploy</a:t>
          </a:r>
        </a:p>
      </dsp:txBody>
      <dsp:txXfrm>
        <a:off x="6089265" y="278908"/>
        <a:ext cx="1074383" cy="716255"/>
      </dsp:txXfrm>
    </dsp:sp>
    <dsp:sp modelId="{FCFC7365-5697-464E-B230-8053E5F4A0CD}">
      <dsp:nvSpPr>
        <dsp:cNvPr id="0" name=""/>
        <dsp:cNvSpPr/>
      </dsp:nvSpPr>
      <dsp:spPr>
        <a:xfrm>
          <a:off x="7163648"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a:t>Verify</a:t>
          </a:r>
          <a:endParaRPr lang="en-CA" sz="1600" kern="1200" dirty="0"/>
        </a:p>
      </dsp:txBody>
      <dsp:txXfrm>
        <a:off x="7521776" y="278908"/>
        <a:ext cx="1074383" cy="7162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327069-2476-4D34-85A3-5E1E8DFAFD92}">
      <dsp:nvSpPr>
        <dsp:cNvPr id="0" name=""/>
        <dsp:cNvSpPr/>
      </dsp:nvSpPr>
      <dsp:spPr>
        <a:xfrm>
          <a:off x="3594" y="1118656"/>
          <a:ext cx="1946002" cy="2724403"/>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488950">
            <a:lnSpc>
              <a:spcPct val="90000"/>
            </a:lnSpc>
            <a:spcBef>
              <a:spcPct val="0"/>
            </a:spcBef>
            <a:spcAft>
              <a:spcPct val="35000"/>
            </a:spcAft>
            <a:buNone/>
          </a:pPr>
          <a:r>
            <a:rPr lang="en-US" sz="1100" kern="1200" dirty="0"/>
            <a:t>Secure key resources including Jeff, PVZ, Nick</a:t>
          </a:r>
        </a:p>
        <a:p>
          <a:pPr marL="0" lvl="0" indent="0" algn="l" defTabSz="488950">
            <a:lnSpc>
              <a:spcPct val="90000"/>
            </a:lnSpc>
            <a:spcBef>
              <a:spcPct val="0"/>
            </a:spcBef>
            <a:spcAft>
              <a:spcPct val="35000"/>
            </a:spcAft>
            <a:buNone/>
          </a:pPr>
          <a:r>
            <a:rPr lang="en-US" sz="1100" kern="1200" dirty="0"/>
            <a:t>Take a modest salary to focus 100% of my attention on A2D</a:t>
          </a:r>
        </a:p>
      </dsp:txBody>
      <dsp:txXfrm>
        <a:off x="3594" y="2153930"/>
        <a:ext cx="1946002" cy="1634641"/>
      </dsp:txXfrm>
    </dsp:sp>
    <dsp:sp modelId="{497549E4-8FB1-4897-B53D-B6A344941FE5}">
      <dsp:nvSpPr>
        <dsp:cNvPr id="0" name=""/>
        <dsp:cNvSpPr/>
      </dsp:nvSpPr>
      <dsp:spPr>
        <a:xfrm>
          <a:off x="567934" y="1391097"/>
          <a:ext cx="817320" cy="817320"/>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1</a:t>
          </a:r>
        </a:p>
      </dsp:txBody>
      <dsp:txXfrm>
        <a:off x="687628" y="1510791"/>
        <a:ext cx="577932" cy="577932"/>
      </dsp:txXfrm>
    </dsp:sp>
    <dsp:sp modelId="{FD225A42-9857-4EF5-A3A2-7CFA5407B396}">
      <dsp:nvSpPr>
        <dsp:cNvPr id="0" name=""/>
        <dsp:cNvSpPr/>
      </dsp:nvSpPr>
      <dsp:spPr>
        <a:xfrm>
          <a:off x="3594" y="3842988"/>
          <a:ext cx="1946002" cy="72"/>
        </a:xfrm>
        <a:prstGeom prst="rect">
          <a:avLst/>
        </a:prstGeom>
        <a:solidFill>
          <a:schemeClr val="accent2">
            <a:hueOff val="715957"/>
            <a:satOff val="-2055"/>
            <a:lumOff val="-3290"/>
            <a:alphaOff val="0"/>
          </a:schemeClr>
        </a:solidFill>
        <a:ln w="19050" cap="flat" cmpd="sng" algn="ctr">
          <a:solidFill>
            <a:schemeClr val="accent2">
              <a:hueOff val="715957"/>
              <a:satOff val="-2055"/>
              <a:lumOff val="-32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0097B7-449A-41C2-9214-D65F4FF6AC04}">
      <dsp:nvSpPr>
        <dsp:cNvPr id="0" name=""/>
        <dsp:cNvSpPr/>
      </dsp:nvSpPr>
      <dsp:spPr>
        <a:xfrm>
          <a:off x="2144196" y="1118656"/>
          <a:ext cx="1946002" cy="2724403"/>
        </a:xfrm>
        <a:prstGeom prst="rect">
          <a:avLst/>
        </a:prstGeom>
        <a:solidFill>
          <a:schemeClr val="accent2">
            <a:tint val="40000"/>
            <a:alpha val="90000"/>
            <a:hueOff val="1683680"/>
            <a:satOff val="-15558"/>
            <a:lumOff val="-1754"/>
            <a:alphaOff val="0"/>
          </a:schemeClr>
        </a:solidFill>
        <a:ln w="19050" cap="flat" cmpd="sng" algn="ctr">
          <a:solidFill>
            <a:schemeClr val="accent2">
              <a:tint val="40000"/>
              <a:alpha val="90000"/>
              <a:hueOff val="1683680"/>
              <a:satOff val="-15558"/>
              <a:lumOff val="-17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488950">
            <a:lnSpc>
              <a:spcPct val="90000"/>
            </a:lnSpc>
            <a:spcBef>
              <a:spcPct val="0"/>
            </a:spcBef>
            <a:spcAft>
              <a:spcPct val="35000"/>
            </a:spcAft>
            <a:buNone/>
          </a:pPr>
          <a:r>
            <a:rPr lang="en-US" sz="1100" kern="1200" dirty="0"/>
            <a:t>Build out the key artifacts, workflows with custom MCP integrations, and confirm feasibility of building our own custom MCP server to hide IP.</a:t>
          </a:r>
        </a:p>
      </dsp:txBody>
      <dsp:txXfrm>
        <a:off x="2144196" y="2153930"/>
        <a:ext cx="1946002" cy="1634641"/>
      </dsp:txXfrm>
    </dsp:sp>
    <dsp:sp modelId="{E8BC76C8-A8FD-42C5-AE6F-EC690AC4E66B}">
      <dsp:nvSpPr>
        <dsp:cNvPr id="0" name=""/>
        <dsp:cNvSpPr/>
      </dsp:nvSpPr>
      <dsp:spPr>
        <a:xfrm>
          <a:off x="2708537" y="1391097"/>
          <a:ext cx="817320" cy="817320"/>
        </a:xfrm>
        <a:prstGeom prst="ellipse">
          <a:avLst/>
        </a:prstGeom>
        <a:solidFill>
          <a:schemeClr val="accent2">
            <a:hueOff val="1431914"/>
            <a:satOff val="-4110"/>
            <a:lumOff val="-6580"/>
            <a:alphaOff val="0"/>
          </a:schemeClr>
        </a:solidFill>
        <a:ln w="19050" cap="flat" cmpd="sng" algn="ctr">
          <a:solidFill>
            <a:schemeClr val="accent2">
              <a:hueOff val="1431914"/>
              <a:satOff val="-4110"/>
              <a:lumOff val="-658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2</a:t>
          </a:r>
        </a:p>
      </dsp:txBody>
      <dsp:txXfrm>
        <a:off x="2828231" y="1510791"/>
        <a:ext cx="577932" cy="577932"/>
      </dsp:txXfrm>
    </dsp:sp>
    <dsp:sp modelId="{47C38FDE-0EBB-4E8B-8272-9133DECDB430}">
      <dsp:nvSpPr>
        <dsp:cNvPr id="0" name=""/>
        <dsp:cNvSpPr/>
      </dsp:nvSpPr>
      <dsp:spPr>
        <a:xfrm>
          <a:off x="2144196" y="3842988"/>
          <a:ext cx="1946002" cy="72"/>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4B6A28-A87D-433D-8EF0-6E6A769A04AC}">
      <dsp:nvSpPr>
        <dsp:cNvPr id="0" name=""/>
        <dsp:cNvSpPr/>
      </dsp:nvSpPr>
      <dsp:spPr>
        <a:xfrm>
          <a:off x="4284798" y="1118656"/>
          <a:ext cx="1946002" cy="2724403"/>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488950">
            <a:lnSpc>
              <a:spcPct val="90000"/>
            </a:lnSpc>
            <a:spcBef>
              <a:spcPct val="0"/>
            </a:spcBef>
            <a:spcAft>
              <a:spcPct val="35000"/>
            </a:spcAft>
            <a:buNone/>
          </a:pPr>
          <a:r>
            <a:rPr lang="en-US" sz="1100" kern="1200" dirty="0"/>
            <a:t>Build demos and material to attract and train key delivery consultants.</a:t>
          </a:r>
        </a:p>
      </dsp:txBody>
      <dsp:txXfrm>
        <a:off x="4284798" y="2153930"/>
        <a:ext cx="1946002" cy="1634641"/>
      </dsp:txXfrm>
    </dsp:sp>
    <dsp:sp modelId="{30578B2C-7FC4-4D4B-B105-184FD391500E}">
      <dsp:nvSpPr>
        <dsp:cNvPr id="0" name=""/>
        <dsp:cNvSpPr/>
      </dsp:nvSpPr>
      <dsp:spPr>
        <a:xfrm>
          <a:off x="4849139" y="1391097"/>
          <a:ext cx="817320" cy="817320"/>
        </a:xfrm>
        <a:prstGeom prst="ellipse">
          <a:avLst/>
        </a:prstGeom>
        <a:solidFill>
          <a:schemeClr val="accent2">
            <a:hueOff val="2863828"/>
            <a:satOff val="-8219"/>
            <a:lumOff val="-13160"/>
            <a:alphaOff val="0"/>
          </a:schemeClr>
        </a:solidFill>
        <a:ln w="19050" cap="flat" cmpd="sng" algn="ctr">
          <a:solidFill>
            <a:schemeClr val="accent2">
              <a:hueOff val="2863828"/>
              <a:satOff val="-8219"/>
              <a:lumOff val="-131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3</a:t>
          </a:r>
        </a:p>
      </dsp:txBody>
      <dsp:txXfrm>
        <a:off x="4968833" y="1510791"/>
        <a:ext cx="577932" cy="577932"/>
      </dsp:txXfrm>
    </dsp:sp>
    <dsp:sp modelId="{6BA8EED3-570F-4859-901D-E5215A9BA74C}">
      <dsp:nvSpPr>
        <dsp:cNvPr id="0" name=""/>
        <dsp:cNvSpPr/>
      </dsp:nvSpPr>
      <dsp:spPr>
        <a:xfrm>
          <a:off x="4284798" y="3842988"/>
          <a:ext cx="1946002" cy="72"/>
        </a:xfrm>
        <a:prstGeom prst="rect">
          <a:avLst/>
        </a:prstGeom>
        <a:solidFill>
          <a:schemeClr val="accent2">
            <a:hueOff val="3579786"/>
            <a:satOff val="-10274"/>
            <a:lumOff val="-16449"/>
            <a:alphaOff val="0"/>
          </a:schemeClr>
        </a:solidFill>
        <a:ln w="19050" cap="flat" cmpd="sng" algn="ctr">
          <a:solidFill>
            <a:schemeClr val="accent2">
              <a:hueOff val="3579786"/>
              <a:satOff val="-10274"/>
              <a:lumOff val="-164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1FA167-FB37-4D19-A94F-BA8D78A366D8}">
      <dsp:nvSpPr>
        <dsp:cNvPr id="0" name=""/>
        <dsp:cNvSpPr/>
      </dsp:nvSpPr>
      <dsp:spPr>
        <a:xfrm>
          <a:off x="6425401" y="1118656"/>
          <a:ext cx="1946002" cy="2724403"/>
        </a:xfrm>
        <a:prstGeom prst="rect">
          <a:avLst/>
        </a:prstGeom>
        <a:solidFill>
          <a:schemeClr val="accent2">
            <a:tint val="40000"/>
            <a:alpha val="90000"/>
            <a:hueOff val="5051039"/>
            <a:satOff val="-46674"/>
            <a:lumOff val="-5261"/>
            <a:alphaOff val="0"/>
          </a:schemeClr>
        </a:solidFill>
        <a:ln w="19050" cap="flat" cmpd="sng" algn="ctr">
          <a:solidFill>
            <a:schemeClr val="accent2">
              <a:tint val="40000"/>
              <a:alpha val="90000"/>
              <a:hueOff val="5051039"/>
              <a:satOff val="-46674"/>
              <a:lumOff val="-52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488950">
            <a:lnSpc>
              <a:spcPct val="90000"/>
            </a:lnSpc>
            <a:spcBef>
              <a:spcPct val="0"/>
            </a:spcBef>
            <a:spcAft>
              <a:spcPct val="35000"/>
            </a:spcAft>
            <a:buNone/>
          </a:pPr>
          <a:r>
            <a:rPr lang="en-US" sz="1100" kern="1200" dirty="0"/>
            <a:t>Pay for software licenses, operations, and key conferences/marketing opportunities.</a:t>
          </a:r>
        </a:p>
      </dsp:txBody>
      <dsp:txXfrm>
        <a:off x="6425401" y="2153930"/>
        <a:ext cx="1946002" cy="1634641"/>
      </dsp:txXfrm>
    </dsp:sp>
    <dsp:sp modelId="{BD777F8B-94F9-4DAF-BB31-7774F641A3A3}">
      <dsp:nvSpPr>
        <dsp:cNvPr id="0" name=""/>
        <dsp:cNvSpPr/>
      </dsp:nvSpPr>
      <dsp:spPr>
        <a:xfrm>
          <a:off x="6989741" y="1391097"/>
          <a:ext cx="817320" cy="817320"/>
        </a:xfrm>
        <a:prstGeom prst="ellipse">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4</a:t>
          </a:r>
        </a:p>
      </dsp:txBody>
      <dsp:txXfrm>
        <a:off x="7109435" y="1510791"/>
        <a:ext cx="577932" cy="577932"/>
      </dsp:txXfrm>
    </dsp:sp>
    <dsp:sp modelId="{FE0DE0BD-3A25-4AB0-926E-F81C82B547F0}">
      <dsp:nvSpPr>
        <dsp:cNvPr id="0" name=""/>
        <dsp:cNvSpPr/>
      </dsp:nvSpPr>
      <dsp:spPr>
        <a:xfrm>
          <a:off x="6425401" y="3842988"/>
          <a:ext cx="1946002" cy="72"/>
        </a:xfrm>
        <a:prstGeom prst="rect">
          <a:avLst/>
        </a:prstGeom>
        <a:solidFill>
          <a:schemeClr val="accent2">
            <a:hueOff val="5011700"/>
            <a:satOff val="-14383"/>
            <a:lumOff val="-23029"/>
            <a:alphaOff val="0"/>
          </a:schemeClr>
        </a:solidFill>
        <a:ln w="19050" cap="flat" cmpd="sng" algn="ctr">
          <a:solidFill>
            <a:schemeClr val="accent2">
              <a:hueOff val="5011700"/>
              <a:satOff val="-14383"/>
              <a:lumOff val="-2302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2A3BA8-7B80-4289-AF52-284996A5CBF1}">
      <dsp:nvSpPr>
        <dsp:cNvPr id="0" name=""/>
        <dsp:cNvSpPr/>
      </dsp:nvSpPr>
      <dsp:spPr>
        <a:xfrm>
          <a:off x="8566003" y="1118656"/>
          <a:ext cx="1946002" cy="2724403"/>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488950">
            <a:lnSpc>
              <a:spcPct val="90000"/>
            </a:lnSpc>
            <a:spcBef>
              <a:spcPct val="0"/>
            </a:spcBef>
            <a:spcAft>
              <a:spcPct val="35000"/>
            </a:spcAft>
            <a:buNone/>
          </a:pPr>
          <a:r>
            <a:rPr lang="en-US" sz="1100" kern="1200" dirty="0"/>
            <a:t>Get reference customers and start building Microsoft relationship</a:t>
          </a:r>
        </a:p>
        <a:p>
          <a:pPr marL="0" lvl="0" indent="0" algn="l" defTabSz="488950">
            <a:lnSpc>
              <a:spcPct val="90000"/>
            </a:lnSpc>
            <a:spcBef>
              <a:spcPct val="0"/>
            </a:spcBef>
            <a:spcAft>
              <a:spcPct val="35000"/>
            </a:spcAft>
            <a:buNone/>
          </a:pPr>
          <a:r>
            <a:rPr lang="en-US" sz="1100" kern="1200" dirty="0"/>
            <a:t>Sales collateral / brand /  social media presence</a:t>
          </a:r>
        </a:p>
        <a:p>
          <a:pPr marL="0" lvl="0" indent="0" algn="l" defTabSz="488950">
            <a:lnSpc>
              <a:spcPct val="90000"/>
            </a:lnSpc>
            <a:spcBef>
              <a:spcPct val="0"/>
            </a:spcBef>
            <a:spcAft>
              <a:spcPct val="35000"/>
            </a:spcAft>
            <a:buNone/>
          </a:pPr>
          <a:r>
            <a:rPr lang="en-US" sz="1100" b="1" kern="1200" dirty="0"/>
            <a:t>TESTIMONIALS</a:t>
          </a:r>
        </a:p>
      </dsp:txBody>
      <dsp:txXfrm>
        <a:off x="8566003" y="2153930"/>
        <a:ext cx="1946002" cy="1634641"/>
      </dsp:txXfrm>
    </dsp:sp>
    <dsp:sp modelId="{A149C1A8-DC9D-4875-99AB-30A556C23ECF}">
      <dsp:nvSpPr>
        <dsp:cNvPr id="0" name=""/>
        <dsp:cNvSpPr/>
      </dsp:nvSpPr>
      <dsp:spPr>
        <a:xfrm>
          <a:off x="9130344" y="1391097"/>
          <a:ext cx="817320" cy="817320"/>
        </a:xfrm>
        <a:prstGeom prst="ellipse">
          <a:avLst/>
        </a:prstGeom>
        <a:solidFill>
          <a:schemeClr val="accent2">
            <a:hueOff val="5727657"/>
            <a:satOff val="-16438"/>
            <a:lumOff val="-26319"/>
            <a:alphaOff val="0"/>
          </a:schemeClr>
        </a:solidFill>
        <a:ln w="19050" cap="flat" cmpd="sng" algn="ctr">
          <a:solidFill>
            <a:schemeClr val="accent2">
              <a:hueOff val="5727657"/>
              <a:satOff val="-16438"/>
              <a:lumOff val="-2631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5</a:t>
          </a:r>
        </a:p>
      </dsp:txBody>
      <dsp:txXfrm>
        <a:off x="9250038" y="1510791"/>
        <a:ext cx="577932" cy="577932"/>
      </dsp:txXfrm>
    </dsp:sp>
    <dsp:sp modelId="{C1B3B87A-3356-4FA4-B97C-E75CD3395617}">
      <dsp:nvSpPr>
        <dsp:cNvPr id="0" name=""/>
        <dsp:cNvSpPr/>
      </dsp:nvSpPr>
      <dsp:spPr>
        <a:xfrm>
          <a:off x="8566003" y="3842988"/>
          <a:ext cx="1946002" cy="72"/>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967163" y="0"/>
            <a:ext cx="3035300" cy="465138"/>
          </a:xfrm>
          <a:prstGeom prst="rect">
            <a:avLst/>
          </a:prstGeom>
        </p:spPr>
        <p:txBody>
          <a:bodyPr vert="horz" lIns="91440" tIns="45720" rIns="91440" bIns="45720" rtlCol="0"/>
          <a:lstStyle>
            <a:lvl1pPr algn="r">
              <a:defRPr sz="1200"/>
            </a:lvl1pPr>
          </a:lstStyle>
          <a:p>
            <a:fld id="{726AE30B-1C7C-4541-8B93-3B3E43E55C90}" type="datetimeFigureOut">
              <a:rPr lang="en-CA" smtClean="0"/>
              <a:t>2025-11-21</a:t>
            </a:fld>
            <a:endParaRPr lang="en-CA"/>
          </a:p>
        </p:txBody>
      </p:sp>
      <p:sp>
        <p:nvSpPr>
          <p:cNvPr id="4" name="Slide Image Placeholder 3"/>
          <p:cNvSpPr>
            <a:spLocks noGrp="1" noRot="1" noChangeAspect="1"/>
          </p:cNvSpPr>
          <p:nvPr>
            <p:ph type="sldImg" idx="2"/>
          </p:nvPr>
        </p:nvSpPr>
        <p:spPr>
          <a:xfrm>
            <a:off x="714375" y="1162050"/>
            <a:ext cx="5575300" cy="3135313"/>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00088" y="4470400"/>
            <a:ext cx="5603875" cy="36591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4913"/>
            <a:ext cx="3035300" cy="46513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967163" y="8824913"/>
            <a:ext cx="3035300" cy="465137"/>
          </a:xfrm>
          <a:prstGeom prst="rect">
            <a:avLst/>
          </a:prstGeom>
        </p:spPr>
        <p:txBody>
          <a:bodyPr vert="horz" lIns="91440" tIns="45720" rIns="91440" bIns="45720" rtlCol="0" anchor="b"/>
          <a:lstStyle>
            <a:lvl1pPr algn="r">
              <a:defRPr sz="1200"/>
            </a:lvl1pPr>
          </a:lstStyle>
          <a:p>
            <a:fld id="{A3144D42-F41E-4F01-8130-09084F64DC75}" type="slidenum">
              <a:rPr lang="en-CA" smtClean="0"/>
              <a:t>‹#›</a:t>
            </a:fld>
            <a:endParaRPr lang="en-CA"/>
          </a:p>
        </p:txBody>
      </p:sp>
    </p:spTree>
    <p:extLst>
      <p:ext uri="{BB962C8B-B14F-4D97-AF65-F5344CB8AC3E}">
        <p14:creationId xmlns:p14="http://schemas.microsoft.com/office/powerpoint/2010/main" val="894847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4</a:t>
            </a:fld>
            <a:endParaRPr lang="en-CA"/>
          </a:p>
        </p:txBody>
      </p:sp>
    </p:spTree>
    <p:extLst>
      <p:ext uri="{BB962C8B-B14F-4D97-AF65-F5344CB8AC3E}">
        <p14:creationId xmlns:p14="http://schemas.microsoft.com/office/powerpoint/2010/main" val="1820854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Defines the actual work to be completed, who participates (AI and Human), with a clear concise goal or outcome.</a:t>
            </a:r>
          </a:p>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7</a:t>
            </a:fld>
            <a:endParaRPr lang="en-CA"/>
          </a:p>
        </p:txBody>
      </p:sp>
    </p:spTree>
    <p:extLst>
      <p:ext uri="{BB962C8B-B14F-4D97-AF65-F5344CB8AC3E}">
        <p14:creationId xmlns:p14="http://schemas.microsoft.com/office/powerpoint/2010/main" val="1854959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10</a:t>
            </a:fld>
            <a:endParaRPr lang="en-CA"/>
          </a:p>
        </p:txBody>
      </p:sp>
    </p:spTree>
    <p:extLst>
      <p:ext uri="{BB962C8B-B14F-4D97-AF65-F5344CB8AC3E}">
        <p14:creationId xmlns:p14="http://schemas.microsoft.com/office/powerpoint/2010/main" val="675465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Might want a dedicated testing agent and workflow as well.</a:t>
            </a:r>
          </a:p>
        </p:txBody>
      </p:sp>
      <p:sp>
        <p:nvSpPr>
          <p:cNvPr id="4" name="Slide Number Placeholder 3"/>
          <p:cNvSpPr>
            <a:spLocks noGrp="1"/>
          </p:cNvSpPr>
          <p:nvPr>
            <p:ph type="sldNum" sz="quarter" idx="5"/>
          </p:nvPr>
        </p:nvSpPr>
        <p:spPr/>
        <p:txBody>
          <a:bodyPr/>
          <a:lstStyle/>
          <a:p>
            <a:fld id="{A3144D42-F41E-4F01-8130-09084F64DC75}" type="slidenum">
              <a:rPr lang="en-CA" smtClean="0"/>
              <a:t>17</a:t>
            </a:fld>
            <a:endParaRPr lang="en-CA"/>
          </a:p>
        </p:txBody>
      </p:sp>
    </p:spTree>
    <p:extLst>
      <p:ext uri="{BB962C8B-B14F-4D97-AF65-F5344CB8AC3E}">
        <p14:creationId xmlns:p14="http://schemas.microsoft.com/office/powerpoint/2010/main" val="562623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5EE4-54D4-69D1-0170-181416E37D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655EEEE-07EC-690C-EF8F-CA531008FD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29E6574-4CFE-B423-D374-8765D9A6458A}"/>
              </a:ext>
            </a:extLst>
          </p:cNvPr>
          <p:cNvSpPr>
            <a:spLocks noGrp="1"/>
          </p:cNvSpPr>
          <p:nvPr>
            <p:ph type="dt" sz="half" idx="10"/>
          </p:nvPr>
        </p:nvSpPr>
        <p:spPr/>
        <p:txBody>
          <a:bodyPr/>
          <a:lstStyle/>
          <a:p>
            <a:fld id="{F12842A0-BC8A-4D15-9ACA-9710C32CF85F}" type="datetimeFigureOut">
              <a:rPr lang="en-CA" smtClean="0"/>
              <a:t>2025-11-21</a:t>
            </a:fld>
            <a:endParaRPr lang="en-CA"/>
          </a:p>
        </p:txBody>
      </p:sp>
      <p:sp>
        <p:nvSpPr>
          <p:cNvPr id="5" name="Footer Placeholder 4">
            <a:extLst>
              <a:ext uri="{FF2B5EF4-FFF2-40B4-BE49-F238E27FC236}">
                <a16:creationId xmlns:a16="http://schemas.microsoft.com/office/drawing/2014/main" id="{D60F660A-4E37-187F-3C5D-CCBEB19E58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C9DB40E-C822-8824-0803-7DF57F92F9D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54740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B757A-72D1-20D5-3777-FAFDB22FD2F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A33B839-8E94-9829-852F-0EB324A267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41D53CC-D543-5EA9-D90E-6C960646B926}"/>
              </a:ext>
            </a:extLst>
          </p:cNvPr>
          <p:cNvSpPr>
            <a:spLocks noGrp="1"/>
          </p:cNvSpPr>
          <p:nvPr>
            <p:ph type="dt" sz="half" idx="10"/>
          </p:nvPr>
        </p:nvSpPr>
        <p:spPr/>
        <p:txBody>
          <a:bodyPr/>
          <a:lstStyle/>
          <a:p>
            <a:fld id="{F12842A0-BC8A-4D15-9ACA-9710C32CF85F}" type="datetimeFigureOut">
              <a:rPr lang="en-CA" smtClean="0"/>
              <a:t>2025-11-21</a:t>
            </a:fld>
            <a:endParaRPr lang="en-CA"/>
          </a:p>
        </p:txBody>
      </p:sp>
      <p:sp>
        <p:nvSpPr>
          <p:cNvPr id="5" name="Footer Placeholder 4">
            <a:extLst>
              <a:ext uri="{FF2B5EF4-FFF2-40B4-BE49-F238E27FC236}">
                <a16:creationId xmlns:a16="http://schemas.microsoft.com/office/drawing/2014/main" id="{87B8F269-1397-455F-C371-7D2AE4F41FF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4225497-743F-4C1C-7137-959CA6ECB074}"/>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305497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7B68D-C0BF-AAE3-130E-F87132DDAD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C10B29F-4EA3-8CE2-4975-9241F2009F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067860-6A6E-AAF4-F9CD-CACB6988DC30}"/>
              </a:ext>
            </a:extLst>
          </p:cNvPr>
          <p:cNvSpPr>
            <a:spLocks noGrp="1"/>
          </p:cNvSpPr>
          <p:nvPr>
            <p:ph type="dt" sz="half" idx="10"/>
          </p:nvPr>
        </p:nvSpPr>
        <p:spPr/>
        <p:txBody>
          <a:bodyPr/>
          <a:lstStyle/>
          <a:p>
            <a:fld id="{F12842A0-BC8A-4D15-9ACA-9710C32CF85F}" type="datetimeFigureOut">
              <a:rPr lang="en-CA" smtClean="0"/>
              <a:t>2025-11-21</a:t>
            </a:fld>
            <a:endParaRPr lang="en-CA"/>
          </a:p>
        </p:txBody>
      </p:sp>
      <p:sp>
        <p:nvSpPr>
          <p:cNvPr id="5" name="Footer Placeholder 4">
            <a:extLst>
              <a:ext uri="{FF2B5EF4-FFF2-40B4-BE49-F238E27FC236}">
                <a16:creationId xmlns:a16="http://schemas.microsoft.com/office/drawing/2014/main" id="{58A44F11-F48A-D218-4E36-BA89790F24F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8BF5FA2-C800-3747-FA9B-E04642AEAD69}"/>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1821892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2D5A8-FA21-3145-A108-DF1D853665F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B094D39-690A-27BC-662E-C00E53A8DC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339E306-4527-C643-F53E-0AED764346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E8256F1-3151-4468-B110-C1A257CDE44C}"/>
              </a:ext>
            </a:extLst>
          </p:cNvPr>
          <p:cNvSpPr>
            <a:spLocks noGrp="1"/>
          </p:cNvSpPr>
          <p:nvPr>
            <p:ph type="dt" sz="half" idx="10"/>
          </p:nvPr>
        </p:nvSpPr>
        <p:spPr/>
        <p:txBody>
          <a:bodyPr/>
          <a:lstStyle/>
          <a:p>
            <a:fld id="{F12842A0-BC8A-4D15-9ACA-9710C32CF85F}" type="datetimeFigureOut">
              <a:rPr lang="en-CA" smtClean="0"/>
              <a:t>2025-11-21</a:t>
            </a:fld>
            <a:endParaRPr lang="en-CA"/>
          </a:p>
        </p:txBody>
      </p:sp>
      <p:sp>
        <p:nvSpPr>
          <p:cNvPr id="6" name="Footer Placeholder 5">
            <a:extLst>
              <a:ext uri="{FF2B5EF4-FFF2-40B4-BE49-F238E27FC236}">
                <a16:creationId xmlns:a16="http://schemas.microsoft.com/office/drawing/2014/main" id="{CF4885AD-6B04-225B-57FA-37511175799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E95102A-D4DD-0EDE-FE80-204EA143BA1A}"/>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87561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0031-ADCA-AB5D-61D5-E039F5ACF9D2}"/>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DB9FB9A-44C6-40BC-7C47-D51BB1A8D6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73F447-09AA-A92E-5AC6-8F4C7A4FD3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6B27CC8-1473-1C71-E4FC-8BCF381F83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3378EF-090E-67E8-C734-659A9FF492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BD4EA21-9166-C412-E6AA-0055098EFA43}"/>
              </a:ext>
            </a:extLst>
          </p:cNvPr>
          <p:cNvSpPr>
            <a:spLocks noGrp="1"/>
          </p:cNvSpPr>
          <p:nvPr>
            <p:ph type="dt" sz="half" idx="10"/>
          </p:nvPr>
        </p:nvSpPr>
        <p:spPr/>
        <p:txBody>
          <a:bodyPr/>
          <a:lstStyle/>
          <a:p>
            <a:fld id="{F12842A0-BC8A-4D15-9ACA-9710C32CF85F}" type="datetimeFigureOut">
              <a:rPr lang="en-CA" smtClean="0"/>
              <a:t>2025-11-21</a:t>
            </a:fld>
            <a:endParaRPr lang="en-CA"/>
          </a:p>
        </p:txBody>
      </p:sp>
      <p:sp>
        <p:nvSpPr>
          <p:cNvPr id="8" name="Footer Placeholder 7">
            <a:extLst>
              <a:ext uri="{FF2B5EF4-FFF2-40B4-BE49-F238E27FC236}">
                <a16:creationId xmlns:a16="http://schemas.microsoft.com/office/drawing/2014/main" id="{43015680-FC25-FDF8-0283-1CB032A4D12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D97C088-B983-2945-2C4D-0F08F3CE12D3}"/>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628261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266D6-A133-40E9-96C8-D0658A7736FB}"/>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AF3AD6C-2F4A-ADCA-964E-C7B85DD86814}"/>
              </a:ext>
            </a:extLst>
          </p:cNvPr>
          <p:cNvSpPr>
            <a:spLocks noGrp="1"/>
          </p:cNvSpPr>
          <p:nvPr>
            <p:ph type="dt" sz="half" idx="10"/>
          </p:nvPr>
        </p:nvSpPr>
        <p:spPr/>
        <p:txBody>
          <a:bodyPr/>
          <a:lstStyle/>
          <a:p>
            <a:fld id="{F12842A0-BC8A-4D15-9ACA-9710C32CF85F}" type="datetimeFigureOut">
              <a:rPr lang="en-CA" smtClean="0"/>
              <a:t>2025-11-21</a:t>
            </a:fld>
            <a:endParaRPr lang="en-CA"/>
          </a:p>
        </p:txBody>
      </p:sp>
      <p:sp>
        <p:nvSpPr>
          <p:cNvPr id="4" name="Footer Placeholder 3">
            <a:extLst>
              <a:ext uri="{FF2B5EF4-FFF2-40B4-BE49-F238E27FC236}">
                <a16:creationId xmlns:a16="http://schemas.microsoft.com/office/drawing/2014/main" id="{031A4683-922A-18EF-840A-D025147A6B36}"/>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EB731F35-DB6B-1B8D-9CBF-496CE114E6B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2904987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2A1F41-521C-581B-7809-642238922D6F}"/>
              </a:ext>
            </a:extLst>
          </p:cNvPr>
          <p:cNvSpPr>
            <a:spLocks noGrp="1"/>
          </p:cNvSpPr>
          <p:nvPr>
            <p:ph type="dt" sz="half" idx="10"/>
          </p:nvPr>
        </p:nvSpPr>
        <p:spPr/>
        <p:txBody>
          <a:bodyPr/>
          <a:lstStyle/>
          <a:p>
            <a:fld id="{F12842A0-BC8A-4D15-9ACA-9710C32CF85F}" type="datetimeFigureOut">
              <a:rPr lang="en-CA" smtClean="0"/>
              <a:t>2025-11-21</a:t>
            </a:fld>
            <a:endParaRPr lang="en-CA"/>
          </a:p>
        </p:txBody>
      </p:sp>
      <p:sp>
        <p:nvSpPr>
          <p:cNvPr id="3" name="Footer Placeholder 2">
            <a:extLst>
              <a:ext uri="{FF2B5EF4-FFF2-40B4-BE49-F238E27FC236}">
                <a16:creationId xmlns:a16="http://schemas.microsoft.com/office/drawing/2014/main" id="{39FE8D4B-36C5-1585-DDB6-96FB270F2E4F}"/>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83115E84-3CCE-06DF-5E47-45F69C3DB7E6}"/>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1911686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C23AD-8C50-0D17-6DFE-20E2AD35F6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E7A96967-AF51-CA22-E8D7-917E783B53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39541707-53F5-BF86-3F16-F3861B3D3C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32B8E8-A055-927C-FB38-53B095974410}"/>
              </a:ext>
            </a:extLst>
          </p:cNvPr>
          <p:cNvSpPr>
            <a:spLocks noGrp="1"/>
          </p:cNvSpPr>
          <p:nvPr>
            <p:ph type="dt" sz="half" idx="10"/>
          </p:nvPr>
        </p:nvSpPr>
        <p:spPr/>
        <p:txBody>
          <a:bodyPr/>
          <a:lstStyle/>
          <a:p>
            <a:fld id="{F12842A0-BC8A-4D15-9ACA-9710C32CF85F}" type="datetimeFigureOut">
              <a:rPr lang="en-CA" smtClean="0"/>
              <a:t>2025-11-21</a:t>
            </a:fld>
            <a:endParaRPr lang="en-CA"/>
          </a:p>
        </p:txBody>
      </p:sp>
      <p:sp>
        <p:nvSpPr>
          <p:cNvPr id="6" name="Footer Placeholder 5">
            <a:extLst>
              <a:ext uri="{FF2B5EF4-FFF2-40B4-BE49-F238E27FC236}">
                <a16:creationId xmlns:a16="http://schemas.microsoft.com/office/drawing/2014/main" id="{E1459972-F457-B35D-D012-5435A356473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8E60A1F-EE02-5F0D-7BF4-4D9C554440C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2150814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0BE5F-CA85-507D-4804-69744DB44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90ACCEF-7B14-7C2E-42A0-A3323FD9C1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20AAA63-4787-E516-D7A4-7FBAF65B3C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336B41-A6CF-D950-E584-8A122335C9A1}"/>
              </a:ext>
            </a:extLst>
          </p:cNvPr>
          <p:cNvSpPr>
            <a:spLocks noGrp="1"/>
          </p:cNvSpPr>
          <p:nvPr>
            <p:ph type="dt" sz="half" idx="10"/>
          </p:nvPr>
        </p:nvSpPr>
        <p:spPr/>
        <p:txBody>
          <a:bodyPr/>
          <a:lstStyle/>
          <a:p>
            <a:fld id="{F12842A0-BC8A-4D15-9ACA-9710C32CF85F}" type="datetimeFigureOut">
              <a:rPr lang="en-CA" smtClean="0"/>
              <a:t>2025-11-21</a:t>
            </a:fld>
            <a:endParaRPr lang="en-CA"/>
          </a:p>
        </p:txBody>
      </p:sp>
      <p:sp>
        <p:nvSpPr>
          <p:cNvPr id="6" name="Footer Placeholder 5">
            <a:extLst>
              <a:ext uri="{FF2B5EF4-FFF2-40B4-BE49-F238E27FC236}">
                <a16:creationId xmlns:a16="http://schemas.microsoft.com/office/drawing/2014/main" id="{39B1F2BB-3D8B-6394-5D9F-7AFD3745B10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C22C28D-7F91-5B81-C7BD-94CD42F3914B}"/>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07817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1B10B-4E8A-A045-33E9-1A2DF909FE3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B5426DE-D77A-D0CA-C399-A2D65198B9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8D2FC31-A0C9-41D2-AC46-EB5D40F87297}"/>
              </a:ext>
            </a:extLst>
          </p:cNvPr>
          <p:cNvSpPr>
            <a:spLocks noGrp="1"/>
          </p:cNvSpPr>
          <p:nvPr>
            <p:ph type="dt" sz="half" idx="10"/>
          </p:nvPr>
        </p:nvSpPr>
        <p:spPr/>
        <p:txBody>
          <a:bodyPr/>
          <a:lstStyle/>
          <a:p>
            <a:fld id="{F12842A0-BC8A-4D15-9ACA-9710C32CF85F}" type="datetimeFigureOut">
              <a:rPr lang="en-CA" smtClean="0"/>
              <a:t>2025-11-21</a:t>
            </a:fld>
            <a:endParaRPr lang="en-CA"/>
          </a:p>
        </p:txBody>
      </p:sp>
      <p:sp>
        <p:nvSpPr>
          <p:cNvPr id="5" name="Footer Placeholder 4">
            <a:extLst>
              <a:ext uri="{FF2B5EF4-FFF2-40B4-BE49-F238E27FC236}">
                <a16:creationId xmlns:a16="http://schemas.microsoft.com/office/drawing/2014/main" id="{47EC2BBC-533D-0CC3-C51C-A91C1C94DC4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534A76C-69DD-606B-4EFA-BC320432395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01036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868DD5-5E32-7CE3-988F-F2345BB3D6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B08F256-6ED7-2615-E8C2-605A0B67F4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BEC0ED0-8A32-D507-1B9B-BF7FF79E0524}"/>
              </a:ext>
            </a:extLst>
          </p:cNvPr>
          <p:cNvSpPr>
            <a:spLocks noGrp="1"/>
          </p:cNvSpPr>
          <p:nvPr>
            <p:ph type="dt" sz="half" idx="10"/>
          </p:nvPr>
        </p:nvSpPr>
        <p:spPr/>
        <p:txBody>
          <a:bodyPr/>
          <a:lstStyle/>
          <a:p>
            <a:fld id="{F12842A0-BC8A-4D15-9ACA-9710C32CF85F}" type="datetimeFigureOut">
              <a:rPr lang="en-CA" smtClean="0"/>
              <a:t>2025-11-21</a:t>
            </a:fld>
            <a:endParaRPr lang="en-CA"/>
          </a:p>
        </p:txBody>
      </p:sp>
      <p:sp>
        <p:nvSpPr>
          <p:cNvPr id="5" name="Footer Placeholder 4">
            <a:extLst>
              <a:ext uri="{FF2B5EF4-FFF2-40B4-BE49-F238E27FC236}">
                <a16:creationId xmlns:a16="http://schemas.microsoft.com/office/drawing/2014/main" id="{A8F50E48-18CB-FDA4-F236-0CF859F9203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E54229F-7663-C852-666E-5585853AC0EF}"/>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560493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09E788-1FFD-BFAB-8507-F3F9A902C6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78FC2DF-5B45-D662-192E-BEF3071209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F0430FD-AB7E-A8F4-BE84-68B9690CED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2842A0-BC8A-4D15-9ACA-9710C32CF85F}" type="datetimeFigureOut">
              <a:rPr lang="en-CA" smtClean="0"/>
              <a:t>2025-11-21</a:t>
            </a:fld>
            <a:endParaRPr lang="en-CA"/>
          </a:p>
        </p:txBody>
      </p:sp>
      <p:sp>
        <p:nvSpPr>
          <p:cNvPr id="5" name="Footer Placeholder 4">
            <a:extLst>
              <a:ext uri="{FF2B5EF4-FFF2-40B4-BE49-F238E27FC236}">
                <a16:creationId xmlns:a16="http://schemas.microsoft.com/office/drawing/2014/main" id="{EE46924C-EEB8-C2AA-3B25-DC8481E0DD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30755AD6-3987-6050-92FD-DCDBDF72FC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172C30-ABF4-493D-B0C8-A68D5B867860}" type="slidenum">
              <a:rPr lang="en-CA" smtClean="0"/>
              <a:t>‹#›</a:t>
            </a:fld>
            <a:endParaRPr lang="en-CA"/>
          </a:p>
        </p:txBody>
      </p:sp>
    </p:spTree>
    <p:extLst>
      <p:ext uri="{BB962C8B-B14F-4D97-AF65-F5344CB8AC3E}">
        <p14:creationId xmlns:p14="http://schemas.microsoft.com/office/powerpoint/2010/main" val="1183640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667DB-3C19-DD1B-0E72-EE64B2854079}"/>
              </a:ext>
            </a:extLst>
          </p:cNvPr>
          <p:cNvSpPr>
            <a:spLocks noGrp="1"/>
          </p:cNvSpPr>
          <p:nvPr>
            <p:ph type="ctrTitle"/>
          </p:nvPr>
        </p:nvSpPr>
        <p:spPr/>
        <p:txBody>
          <a:bodyPr/>
          <a:lstStyle/>
          <a:p>
            <a:r>
              <a:rPr lang="en-CA" b="1" dirty="0"/>
              <a:t>A   D</a:t>
            </a:r>
          </a:p>
        </p:txBody>
      </p:sp>
      <p:sp>
        <p:nvSpPr>
          <p:cNvPr id="5" name="Subtitle 4">
            <a:extLst>
              <a:ext uri="{FF2B5EF4-FFF2-40B4-BE49-F238E27FC236}">
                <a16:creationId xmlns:a16="http://schemas.microsoft.com/office/drawing/2014/main" id="{732FDC51-1B50-E11F-94FE-9E77E5DE6133}"/>
              </a:ext>
            </a:extLst>
          </p:cNvPr>
          <p:cNvSpPr>
            <a:spLocks noGrp="1"/>
          </p:cNvSpPr>
          <p:nvPr>
            <p:ph type="subTitle" idx="1"/>
          </p:nvPr>
        </p:nvSpPr>
        <p:spPr/>
        <p:txBody>
          <a:bodyPr/>
          <a:lstStyle/>
          <a:p>
            <a:r>
              <a:rPr lang="en-CA" b="1" dirty="0"/>
              <a:t>A</a:t>
            </a:r>
            <a:r>
              <a:rPr lang="en-CA" dirty="0"/>
              <a:t>I </a:t>
            </a:r>
            <a:r>
              <a:rPr lang="en-CA" b="1" dirty="0"/>
              <a:t>A</a:t>
            </a:r>
            <a:r>
              <a:rPr lang="en-CA" dirty="0"/>
              <a:t>ugmented </a:t>
            </a:r>
            <a:r>
              <a:rPr lang="en-CA" b="1" dirty="0"/>
              <a:t>D</a:t>
            </a:r>
            <a:r>
              <a:rPr lang="en-CA" dirty="0"/>
              <a:t>evelopment</a:t>
            </a:r>
          </a:p>
          <a:p>
            <a:r>
              <a:rPr lang="en-CA" b="1" dirty="0"/>
              <a:t>A</a:t>
            </a:r>
            <a:r>
              <a:rPr lang="en-CA" dirty="0"/>
              <a:t>I </a:t>
            </a:r>
            <a:r>
              <a:rPr lang="en-CA" b="1" dirty="0"/>
              <a:t>A</a:t>
            </a:r>
            <a:r>
              <a:rPr lang="en-CA" dirty="0"/>
              <a:t>ssisted </a:t>
            </a:r>
            <a:r>
              <a:rPr lang="en-CA" b="1" dirty="0"/>
              <a:t>D</a:t>
            </a:r>
            <a:r>
              <a:rPr lang="en-CA" dirty="0"/>
              <a:t>evelopment</a:t>
            </a:r>
          </a:p>
          <a:p>
            <a:endParaRPr lang="en-CA" dirty="0"/>
          </a:p>
        </p:txBody>
      </p:sp>
      <p:sp>
        <p:nvSpPr>
          <p:cNvPr id="4" name="TextBox 3">
            <a:extLst>
              <a:ext uri="{FF2B5EF4-FFF2-40B4-BE49-F238E27FC236}">
                <a16:creationId xmlns:a16="http://schemas.microsoft.com/office/drawing/2014/main" id="{4C87EADE-BBF1-7D9B-E5DA-7ADAD6FB60B1}"/>
              </a:ext>
            </a:extLst>
          </p:cNvPr>
          <p:cNvSpPr txBox="1"/>
          <p:nvPr/>
        </p:nvSpPr>
        <p:spPr>
          <a:xfrm>
            <a:off x="5804750" y="2771041"/>
            <a:ext cx="582500" cy="830997"/>
          </a:xfrm>
          <a:prstGeom prst="rect">
            <a:avLst/>
          </a:prstGeom>
          <a:noFill/>
        </p:spPr>
        <p:txBody>
          <a:bodyPr wrap="square">
            <a:spAutoFit/>
          </a:bodyPr>
          <a:lstStyle/>
          <a:p>
            <a:pPr algn="ctr"/>
            <a:r>
              <a:rPr lang="en-CA" sz="4800" b="1" dirty="0">
                <a:latin typeface="+mj-lt"/>
              </a:rPr>
              <a:t>2</a:t>
            </a:r>
            <a:endParaRPr lang="en-CA" sz="4000" dirty="0">
              <a:latin typeface="+mj-lt"/>
            </a:endParaRPr>
          </a:p>
        </p:txBody>
      </p:sp>
    </p:spTree>
    <p:extLst>
      <p:ext uri="{BB962C8B-B14F-4D97-AF65-F5344CB8AC3E}">
        <p14:creationId xmlns:p14="http://schemas.microsoft.com/office/powerpoint/2010/main" val="4188255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7C02B8-E412-3924-4ACE-F3E8C4479275}"/>
              </a:ext>
            </a:extLst>
          </p:cNvPr>
          <p:cNvSpPr>
            <a:spLocks noGrp="1"/>
          </p:cNvSpPr>
          <p:nvPr>
            <p:ph type="title"/>
          </p:nvPr>
        </p:nvSpPr>
        <p:spPr>
          <a:xfrm>
            <a:off x="0" y="1"/>
            <a:ext cx="12192000" cy="963706"/>
          </a:xfrm>
          <a:solidFill>
            <a:schemeClr val="tx1"/>
          </a:solidFill>
        </p:spPr>
        <p:txBody>
          <a:bodyPr/>
          <a:lstStyle/>
          <a:p>
            <a:r>
              <a:rPr lang="en-CA" dirty="0">
                <a:solidFill>
                  <a:schemeClr val="bg1"/>
                </a:solidFill>
              </a:rPr>
              <a:t>A2D is not vibe coding</a:t>
            </a:r>
          </a:p>
        </p:txBody>
      </p:sp>
      <p:pic>
        <p:nvPicPr>
          <p:cNvPr id="6" name="Picture 5">
            <a:extLst>
              <a:ext uri="{FF2B5EF4-FFF2-40B4-BE49-F238E27FC236}">
                <a16:creationId xmlns:a16="http://schemas.microsoft.com/office/drawing/2014/main" id="{83FF632B-ED2B-3D90-C32D-954A52B053FA}"/>
              </a:ext>
            </a:extLst>
          </p:cNvPr>
          <p:cNvPicPr>
            <a:picLocks noChangeAspect="1"/>
          </p:cNvPicPr>
          <p:nvPr/>
        </p:nvPicPr>
        <p:blipFill>
          <a:blip r:embed="rId2"/>
          <a:srcRect t="10512"/>
          <a:stretch>
            <a:fillRect/>
          </a:stretch>
        </p:blipFill>
        <p:spPr>
          <a:xfrm>
            <a:off x="0" y="1098045"/>
            <a:ext cx="5765421" cy="5235800"/>
          </a:xfrm>
          <a:prstGeom prst="rect">
            <a:avLst/>
          </a:prstGeom>
        </p:spPr>
      </p:pic>
      <p:pic>
        <p:nvPicPr>
          <p:cNvPr id="8" name="Picture 7">
            <a:extLst>
              <a:ext uri="{FF2B5EF4-FFF2-40B4-BE49-F238E27FC236}">
                <a16:creationId xmlns:a16="http://schemas.microsoft.com/office/drawing/2014/main" id="{1939117A-CB27-2AD8-E5F0-21C0FDF3BA0B}"/>
              </a:ext>
            </a:extLst>
          </p:cNvPr>
          <p:cNvPicPr>
            <a:picLocks noChangeAspect="1"/>
          </p:cNvPicPr>
          <p:nvPr/>
        </p:nvPicPr>
        <p:blipFill>
          <a:blip r:embed="rId3"/>
          <a:stretch>
            <a:fillRect/>
          </a:stretch>
        </p:blipFill>
        <p:spPr>
          <a:xfrm>
            <a:off x="6426581" y="963707"/>
            <a:ext cx="5106231" cy="3231792"/>
          </a:xfrm>
          <a:prstGeom prst="rect">
            <a:avLst/>
          </a:prstGeom>
        </p:spPr>
      </p:pic>
      <p:pic>
        <p:nvPicPr>
          <p:cNvPr id="10" name="Picture 9">
            <a:extLst>
              <a:ext uri="{FF2B5EF4-FFF2-40B4-BE49-F238E27FC236}">
                <a16:creationId xmlns:a16="http://schemas.microsoft.com/office/drawing/2014/main" id="{5A5A8A53-9727-2B71-1E7D-3C821A10F976}"/>
              </a:ext>
            </a:extLst>
          </p:cNvPr>
          <p:cNvPicPr>
            <a:picLocks noChangeAspect="1"/>
          </p:cNvPicPr>
          <p:nvPr/>
        </p:nvPicPr>
        <p:blipFill>
          <a:blip r:embed="rId4"/>
          <a:stretch>
            <a:fillRect/>
          </a:stretch>
        </p:blipFill>
        <p:spPr>
          <a:xfrm>
            <a:off x="6281923" y="4449418"/>
            <a:ext cx="5517588" cy="2008094"/>
          </a:xfrm>
          <a:prstGeom prst="rect">
            <a:avLst/>
          </a:prstGeom>
        </p:spPr>
      </p:pic>
    </p:spTree>
    <p:extLst>
      <p:ext uri="{BB962C8B-B14F-4D97-AF65-F5344CB8AC3E}">
        <p14:creationId xmlns:p14="http://schemas.microsoft.com/office/powerpoint/2010/main" val="389581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13D8D-F803-BFD0-390A-4C7A48B102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C3F3A5-27C1-1A04-DFB1-EFCB904C6E0E}"/>
              </a:ext>
            </a:extLst>
          </p:cNvPr>
          <p:cNvSpPr>
            <a:spLocks noGrp="1"/>
          </p:cNvSpPr>
          <p:nvPr>
            <p:ph type="title"/>
          </p:nvPr>
        </p:nvSpPr>
        <p:spPr>
          <a:xfrm>
            <a:off x="0" y="1"/>
            <a:ext cx="2111188" cy="6904034"/>
          </a:xfrm>
          <a:solidFill>
            <a:schemeClr val="tx1"/>
          </a:solidFill>
        </p:spPr>
        <p:txBody>
          <a:bodyPr>
            <a:normAutofit/>
          </a:bodyPr>
          <a:lstStyle/>
          <a:p>
            <a:r>
              <a:rPr lang="en-CA">
                <a:solidFill>
                  <a:schemeClr val="bg1"/>
                </a:solidFill>
              </a:rPr>
              <a:t>A2D is not vibe coding</a:t>
            </a:r>
            <a:endParaRPr lang="en-CA" dirty="0">
              <a:solidFill>
                <a:schemeClr val="bg1"/>
              </a:solidFill>
            </a:endParaRPr>
          </a:p>
        </p:txBody>
      </p:sp>
      <p:pic>
        <p:nvPicPr>
          <p:cNvPr id="3" name="Picture 2">
            <a:extLst>
              <a:ext uri="{FF2B5EF4-FFF2-40B4-BE49-F238E27FC236}">
                <a16:creationId xmlns:a16="http://schemas.microsoft.com/office/drawing/2014/main" id="{FC8BF87C-58E3-6DF9-E101-5686FD660772}"/>
              </a:ext>
            </a:extLst>
          </p:cNvPr>
          <p:cNvPicPr>
            <a:picLocks noChangeAspect="1"/>
          </p:cNvPicPr>
          <p:nvPr/>
        </p:nvPicPr>
        <p:blipFill>
          <a:blip r:embed="rId2"/>
          <a:stretch>
            <a:fillRect/>
          </a:stretch>
        </p:blipFill>
        <p:spPr>
          <a:xfrm>
            <a:off x="2049670" y="-6054"/>
            <a:ext cx="10142330" cy="6910090"/>
          </a:xfrm>
          <a:prstGeom prst="rect">
            <a:avLst/>
          </a:prstGeom>
        </p:spPr>
      </p:pic>
    </p:spTree>
    <p:extLst>
      <p:ext uri="{BB962C8B-B14F-4D97-AF65-F5344CB8AC3E}">
        <p14:creationId xmlns:p14="http://schemas.microsoft.com/office/powerpoint/2010/main" val="3443487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Close-up of hopscotch on a sidewalk">
            <a:extLst>
              <a:ext uri="{FF2B5EF4-FFF2-40B4-BE49-F238E27FC236}">
                <a16:creationId xmlns:a16="http://schemas.microsoft.com/office/drawing/2014/main" id="{01E65753-3203-8B20-DC6C-4781C0A3E2D7}"/>
              </a:ext>
            </a:extLst>
          </p:cNvPr>
          <p:cNvPicPr>
            <a:picLocks noChangeAspect="1"/>
          </p:cNvPicPr>
          <p:nvPr/>
        </p:nvPicPr>
        <p:blipFill>
          <a:blip r:embed="rId3"/>
          <a:srcRect t="8311" b="7419"/>
          <a:stretch>
            <a:fillRect/>
          </a:stretch>
        </p:blipFill>
        <p:spPr>
          <a:xfrm>
            <a:off x="20" y="-22"/>
            <a:ext cx="12191977" cy="6858022"/>
          </a:xfrm>
          <a:prstGeom prst="rect">
            <a:avLst/>
          </a:prstGeom>
        </p:spPr>
      </p:pic>
      <p:sp>
        <p:nvSpPr>
          <p:cNvPr id="24" name="Rectangle 23">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94D7086-FAF5-D409-CC46-E64533FFB40B}"/>
              </a:ext>
            </a:extLst>
          </p:cNvPr>
          <p:cNvSpPr>
            <a:spLocks noGrp="1"/>
          </p:cNvSpPr>
          <p:nvPr>
            <p:ph type="title"/>
          </p:nvPr>
        </p:nvSpPr>
        <p:spPr>
          <a:xfrm>
            <a:off x="643466" y="643467"/>
            <a:ext cx="5452529" cy="3569242"/>
          </a:xfrm>
        </p:spPr>
        <p:txBody>
          <a:bodyPr vert="horz" lIns="91440" tIns="45720" rIns="91440" bIns="45720" rtlCol="0" anchor="t">
            <a:normAutofit/>
          </a:bodyPr>
          <a:lstStyle/>
          <a:p>
            <a:r>
              <a:rPr lang="en-US" sz="5200">
                <a:solidFill>
                  <a:srgbClr val="FFFFFF"/>
                </a:solidFill>
              </a:rPr>
              <a:t>Demo Time</a:t>
            </a:r>
            <a:endParaRPr lang="en-US" sz="5200" dirty="0">
              <a:solidFill>
                <a:srgbClr val="FFFFFF"/>
              </a:solidFill>
            </a:endParaRPr>
          </a:p>
        </p:txBody>
      </p:sp>
      <p:sp>
        <p:nvSpPr>
          <p:cNvPr id="5" name="Text Placeholder 4">
            <a:extLst>
              <a:ext uri="{FF2B5EF4-FFF2-40B4-BE49-F238E27FC236}">
                <a16:creationId xmlns:a16="http://schemas.microsoft.com/office/drawing/2014/main" id="{83DBCB44-8C5B-A1DE-8955-47FDC2768884}"/>
              </a:ext>
            </a:extLst>
          </p:cNvPr>
          <p:cNvSpPr>
            <a:spLocks noGrp="1"/>
          </p:cNvSpPr>
          <p:nvPr>
            <p:ph type="body" idx="1"/>
          </p:nvPr>
        </p:nvSpPr>
        <p:spPr>
          <a:xfrm>
            <a:off x="643466" y="4551037"/>
            <a:ext cx="5449479" cy="1578054"/>
          </a:xfrm>
        </p:spPr>
        <p:txBody>
          <a:bodyPr vert="horz" lIns="91440" tIns="45720" rIns="91440" bIns="45720" rtlCol="0" anchor="b">
            <a:normAutofit/>
          </a:bodyPr>
          <a:lstStyle/>
          <a:p>
            <a:endParaRPr lang="en-US">
              <a:solidFill>
                <a:srgbClr val="FFFFFF"/>
              </a:solidFill>
            </a:endParaRPr>
          </a:p>
        </p:txBody>
      </p:sp>
      <p:sp>
        <p:nvSpPr>
          <p:cNvPr id="26" name="Rectangle 25">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2EAD7CC-697A-17D2-891D-C1D913C1B534}"/>
              </a:ext>
            </a:extLst>
          </p:cNvPr>
          <p:cNvPicPr>
            <a:picLocks noChangeAspect="1"/>
          </p:cNvPicPr>
          <p:nvPr/>
        </p:nvPicPr>
        <p:blipFill>
          <a:blip r:embed="rId4"/>
          <a:stretch>
            <a:fillRect/>
          </a:stretch>
        </p:blipFill>
        <p:spPr>
          <a:xfrm>
            <a:off x="2061832" y="1778792"/>
            <a:ext cx="7763947" cy="4867836"/>
          </a:xfrm>
          <a:prstGeom prst="rect">
            <a:avLst/>
          </a:prstGeom>
        </p:spPr>
      </p:pic>
    </p:spTree>
    <p:extLst>
      <p:ext uri="{BB962C8B-B14F-4D97-AF65-F5344CB8AC3E}">
        <p14:creationId xmlns:p14="http://schemas.microsoft.com/office/powerpoint/2010/main" val="3116881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B0252-16B2-1A83-1E72-12F8342C7F5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DA4D2B1-45D6-3A18-07B2-6C986C063479}"/>
              </a:ext>
            </a:extLst>
          </p:cNvPr>
          <p:cNvPicPr>
            <a:picLocks noChangeAspect="1"/>
          </p:cNvPicPr>
          <p:nvPr/>
        </p:nvPicPr>
        <p:blipFill>
          <a:blip r:embed="rId2"/>
          <a:stretch>
            <a:fillRect/>
          </a:stretch>
        </p:blipFill>
        <p:spPr>
          <a:xfrm>
            <a:off x="3840734" y="0"/>
            <a:ext cx="4510531" cy="6858000"/>
          </a:xfrm>
          <a:prstGeom prst="rect">
            <a:avLst/>
          </a:prstGeom>
        </p:spPr>
      </p:pic>
    </p:spTree>
    <p:extLst>
      <p:ext uri="{BB962C8B-B14F-4D97-AF65-F5344CB8AC3E}">
        <p14:creationId xmlns:p14="http://schemas.microsoft.com/office/powerpoint/2010/main" val="273609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5E24104-D82A-26A2-1164-BEF82BFFC10B}"/>
              </a:ext>
            </a:extLst>
          </p:cNvPr>
          <p:cNvPicPr>
            <a:picLocks noChangeAspect="1"/>
          </p:cNvPicPr>
          <p:nvPr/>
        </p:nvPicPr>
        <p:blipFill>
          <a:blip r:embed="rId2"/>
          <a:stretch>
            <a:fillRect/>
          </a:stretch>
        </p:blipFill>
        <p:spPr>
          <a:xfrm>
            <a:off x="789578" y="0"/>
            <a:ext cx="10612843" cy="6858000"/>
          </a:xfrm>
          <a:prstGeom prst="rect">
            <a:avLst/>
          </a:prstGeom>
        </p:spPr>
      </p:pic>
    </p:spTree>
    <p:extLst>
      <p:ext uri="{BB962C8B-B14F-4D97-AF65-F5344CB8AC3E}">
        <p14:creationId xmlns:p14="http://schemas.microsoft.com/office/powerpoint/2010/main" val="786228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78DC26-45C6-0EF8-907B-BF240F3B51F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93F4120F-B5BB-7445-3EDE-515EC6AD9723}"/>
              </a:ext>
            </a:extLst>
          </p:cNvPr>
          <p:cNvSpPr>
            <a:spLocks noGrp="1"/>
          </p:cNvSpPr>
          <p:nvPr>
            <p:ph type="title"/>
          </p:nvPr>
        </p:nvSpPr>
        <p:spPr>
          <a:xfrm>
            <a:off x="838200" y="365125"/>
            <a:ext cx="10515600" cy="930275"/>
          </a:xfrm>
        </p:spPr>
        <p:txBody>
          <a:bodyPr>
            <a:normAutofit/>
          </a:bodyPr>
          <a:lstStyle/>
          <a:p>
            <a:r>
              <a:rPr lang="en-CA" dirty="0"/>
              <a:t>Component Definition</a:t>
            </a:r>
          </a:p>
        </p:txBody>
      </p:sp>
      <p:graphicFrame>
        <p:nvGraphicFramePr>
          <p:cNvPr id="4" name="Content Placeholder 3">
            <a:extLst>
              <a:ext uri="{FF2B5EF4-FFF2-40B4-BE49-F238E27FC236}">
                <a16:creationId xmlns:a16="http://schemas.microsoft.com/office/drawing/2014/main" id="{43CDDF9C-6CE1-179C-E2F6-D8E89D272C70}"/>
              </a:ext>
            </a:extLst>
          </p:cNvPr>
          <p:cNvGraphicFramePr>
            <a:graphicFrameLocks noGrp="1"/>
          </p:cNvGraphicFramePr>
          <p:nvPr>
            <p:ph idx="1"/>
            <p:extLst>
              <p:ext uri="{D42A27DB-BD31-4B8C-83A1-F6EECF244321}">
                <p14:modId xmlns:p14="http://schemas.microsoft.com/office/powerpoint/2010/main" val="2598520054"/>
              </p:ext>
            </p:extLst>
          </p:nvPr>
        </p:nvGraphicFramePr>
        <p:xfrm>
          <a:off x="836675" y="1660525"/>
          <a:ext cx="10515601" cy="4874785"/>
        </p:xfrm>
        <a:graphic>
          <a:graphicData uri="http://schemas.openxmlformats.org/drawingml/2006/table">
            <a:tbl>
              <a:tblPr firstRow="1" bandRow="1">
                <a:tableStyleId>{3B4B98B0-60AC-42C2-AFA5-B58CD77FA1E5}</a:tableStyleId>
              </a:tblPr>
              <a:tblGrid>
                <a:gridCol w="2258391">
                  <a:extLst>
                    <a:ext uri="{9D8B030D-6E8A-4147-A177-3AD203B41FA5}">
                      <a16:colId xmlns:a16="http://schemas.microsoft.com/office/drawing/2014/main" val="2567470663"/>
                    </a:ext>
                  </a:extLst>
                </a:gridCol>
                <a:gridCol w="8257210">
                  <a:extLst>
                    <a:ext uri="{9D8B030D-6E8A-4147-A177-3AD203B41FA5}">
                      <a16:colId xmlns:a16="http://schemas.microsoft.com/office/drawing/2014/main" val="2198357558"/>
                    </a:ext>
                  </a:extLst>
                </a:gridCol>
              </a:tblGrid>
              <a:tr h="425268">
                <a:tc>
                  <a:txBody>
                    <a:bodyPr/>
                    <a:lstStyle/>
                    <a:p>
                      <a:r>
                        <a:rPr lang="en-CA" sz="2000" dirty="0"/>
                        <a:t>Artifact</a:t>
                      </a:r>
                    </a:p>
                  </a:txBody>
                  <a:tcPr marL="127333" marR="127333" marT="63667" marB="63667"/>
                </a:tc>
                <a:tc>
                  <a:txBody>
                    <a:bodyPr/>
                    <a:lstStyle/>
                    <a:p>
                      <a:r>
                        <a:rPr lang="en-CA" sz="2000"/>
                        <a:t>Description</a:t>
                      </a:r>
                    </a:p>
                  </a:txBody>
                  <a:tcPr marL="127333" marR="127333" marT="63667" marB="63667"/>
                </a:tc>
                <a:extLst>
                  <a:ext uri="{0D108BD9-81ED-4DB2-BD59-A6C34878D82A}">
                    <a16:rowId xmlns:a16="http://schemas.microsoft.com/office/drawing/2014/main" val="3342386489"/>
                  </a:ext>
                </a:extLst>
              </a:tr>
              <a:tr h="1197376">
                <a:tc>
                  <a:txBody>
                    <a:bodyPr/>
                    <a:lstStyle/>
                    <a:p>
                      <a:r>
                        <a:rPr lang="en-CA" sz="2000" b="1" dirty="0"/>
                        <a:t>Work Item Templates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Issues, Sub-Issues, Pull requests all must structured in a consistent form. Agent definitions will reference these templates for both read/write operations. </a:t>
                      </a:r>
                    </a:p>
                  </a:txBody>
                  <a:tcPr marL="127333" marR="127333" marT="63667" marB="63667"/>
                </a:tc>
                <a:extLst>
                  <a:ext uri="{0D108BD9-81ED-4DB2-BD59-A6C34878D82A}">
                    <a16:rowId xmlns:a16="http://schemas.microsoft.com/office/drawing/2014/main" val="3794928914"/>
                  </a:ext>
                </a:extLst>
              </a:tr>
              <a:tr h="1197376">
                <a:tc>
                  <a:txBody>
                    <a:bodyPr/>
                    <a:lstStyle/>
                    <a:p>
                      <a:r>
                        <a:rPr lang="en-CA" sz="2000" b="1"/>
                        <a:t>Agent Definitions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Describes agent role and purpose. Configures access to “tools” and to enable “workflows”. Reinforce use of archetypes and expectations of output.</a:t>
                      </a:r>
                    </a:p>
                  </a:txBody>
                  <a:tcPr marL="127333" marR="127333" marT="63667" marB="63667"/>
                </a:tc>
                <a:extLst>
                  <a:ext uri="{0D108BD9-81ED-4DB2-BD59-A6C34878D82A}">
                    <a16:rowId xmlns:a16="http://schemas.microsoft.com/office/drawing/2014/main" val="1372189588"/>
                  </a:ext>
                </a:extLst>
              </a:tr>
              <a:tr h="1006165">
                <a:tc>
                  <a:txBody>
                    <a:bodyPr/>
                    <a:lstStyle/>
                    <a:p>
                      <a:r>
                        <a:rPr lang="en-CA" sz="2000" b="1" dirty="0"/>
                        <a:t>Archetypes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Detailed and structured documentation about the frameworks and patterns the agents should use. Curated by experts with AI assistance.</a:t>
                      </a:r>
                    </a:p>
                    <a:p>
                      <a:endParaRPr lang="en-CA" sz="2000" dirty="0"/>
                    </a:p>
                  </a:txBody>
                  <a:tcPr marL="127333" marR="127333" marT="63667" marB="63667"/>
                </a:tc>
                <a:extLst>
                  <a:ext uri="{0D108BD9-81ED-4DB2-BD59-A6C34878D82A}">
                    <a16:rowId xmlns:a16="http://schemas.microsoft.com/office/drawing/2014/main" val="465817454"/>
                  </a:ext>
                </a:extLst>
              </a:tr>
              <a:tr h="1006165">
                <a:tc>
                  <a:txBody>
                    <a:bodyPr/>
                    <a:lstStyle/>
                    <a:p>
                      <a:r>
                        <a:rPr lang="en-CA" sz="2000" b="1" dirty="0"/>
                        <a:t>Workflows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Defines the actual work to be completed, who participates (AI and Human), with a clear concise goal or outcome.</a:t>
                      </a:r>
                    </a:p>
                  </a:txBody>
                  <a:tcPr marL="127333" marR="127333" marT="63667" marB="63667"/>
                </a:tc>
                <a:extLst>
                  <a:ext uri="{0D108BD9-81ED-4DB2-BD59-A6C34878D82A}">
                    <a16:rowId xmlns:a16="http://schemas.microsoft.com/office/drawing/2014/main" val="1668758639"/>
                  </a:ext>
                </a:extLst>
              </a:tr>
            </a:tbl>
          </a:graphicData>
        </a:graphic>
      </p:graphicFrame>
    </p:spTree>
    <p:extLst>
      <p:ext uri="{BB962C8B-B14F-4D97-AF65-F5344CB8AC3E}">
        <p14:creationId xmlns:p14="http://schemas.microsoft.com/office/powerpoint/2010/main" val="1358340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1CE8FA-6F0B-0D7E-0DBF-DE049D1AD1D9}"/>
              </a:ext>
            </a:extLst>
          </p:cNvPr>
          <p:cNvSpPr>
            <a:spLocks noGrp="1"/>
          </p:cNvSpPr>
          <p:nvPr>
            <p:ph type="title"/>
          </p:nvPr>
        </p:nvSpPr>
        <p:spPr>
          <a:xfrm>
            <a:off x="6513788" y="1"/>
            <a:ext cx="4840010" cy="1246094"/>
          </a:xfrm>
        </p:spPr>
        <p:txBody>
          <a:bodyPr>
            <a:normAutofit/>
          </a:bodyPr>
          <a:lstStyle/>
          <a:p>
            <a:r>
              <a:rPr lang="en-CA" dirty="0"/>
              <a:t>Hiding the IP</a:t>
            </a:r>
          </a:p>
        </p:txBody>
      </p:sp>
      <p:pic>
        <p:nvPicPr>
          <p:cNvPr id="5" name="Picture 4" descr="Cubes connected with a red line">
            <a:extLst>
              <a:ext uri="{FF2B5EF4-FFF2-40B4-BE49-F238E27FC236}">
                <a16:creationId xmlns:a16="http://schemas.microsoft.com/office/drawing/2014/main" id="{4E184B4A-C789-311A-F3C1-BAA9F97D8EB7}"/>
              </a:ext>
            </a:extLst>
          </p:cNvPr>
          <p:cNvPicPr>
            <a:picLocks noChangeAspect="1"/>
          </p:cNvPicPr>
          <p:nvPr/>
        </p:nvPicPr>
        <p:blipFill>
          <a:blip r:embed="rId2"/>
          <a:srcRect l="17641" r="1368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1DE79E6C-9B34-E93D-AB86-4231A1BD4B9D}"/>
              </a:ext>
            </a:extLst>
          </p:cNvPr>
          <p:cNvSpPr>
            <a:spLocks noGrp="1"/>
          </p:cNvSpPr>
          <p:nvPr>
            <p:ph idx="1"/>
          </p:nvPr>
        </p:nvSpPr>
        <p:spPr>
          <a:xfrm>
            <a:off x="5373413" y="1122017"/>
            <a:ext cx="6540291" cy="5509396"/>
          </a:xfrm>
        </p:spPr>
        <p:txBody>
          <a:bodyPr>
            <a:noAutofit/>
          </a:bodyPr>
          <a:lstStyle/>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Since agents rely on definitions, archetypes, and workflows, these components are produced in markdown format to ensure they remain easily readable.</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This format presents challenges in concealing, updating, and managing the artifacts as proprietary, as well as maintaining synchronization with a central repository.</a:t>
            </a:r>
          </a:p>
          <a:p>
            <a:pPr marL="457200" indent="0" algn="l" rtl="0" eaLnBrk="1" latinLnBrk="0" hangingPunct="1">
              <a:lnSpc>
                <a:spcPct val="90000"/>
              </a:lnSpc>
              <a:spcBef>
                <a:spcPts val="500"/>
              </a:spcBef>
              <a:buNone/>
            </a:pPr>
            <a:r>
              <a:rPr lang="en-US" sz="2000" b="1" dirty="0">
                <a:solidFill>
                  <a:srgbClr val="000000"/>
                </a:solidFill>
                <a:effectLst/>
                <a:latin typeface="Aptos" panose="020B0004020202020204" pitchFamily="34" charset="0"/>
              </a:rPr>
              <a:t>Conceptual Proposed Solution*</a:t>
            </a:r>
            <a:r>
              <a:rPr lang="en-US" sz="2000" dirty="0">
                <a:solidFill>
                  <a:srgbClr val="000000"/>
                </a:solidFill>
                <a:effectLst/>
                <a:latin typeface="Aptos" panose="020B0004020202020204" pitchFamily="34" charset="0"/>
              </a:rPr>
              <a:t>:</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Safeguard intellectual property through a dedicated MCP server.</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Deploy the MCP server via the GitHub registry.</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Issue access tokens to paying customers and subscribers for MCP server access.</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Implement support for multiple versions to maintain backward compatibility and accommodate potential changes in the MCP environment.</a:t>
            </a:r>
            <a:endParaRPr lang="en-CA" sz="2000" dirty="0"/>
          </a:p>
        </p:txBody>
      </p:sp>
      <p:sp>
        <p:nvSpPr>
          <p:cNvPr id="6" name="TextBox 5">
            <a:extLst>
              <a:ext uri="{FF2B5EF4-FFF2-40B4-BE49-F238E27FC236}">
                <a16:creationId xmlns:a16="http://schemas.microsoft.com/office/drawing/2014/main" id="{0EF783EC-7164-C597-BC7D-CE425BED1FBD}"/>
              </a:ext>
            </a:extLst>
          </p:cNvPr>
          <p:cNvSpPr txBox="1"/>
          <p:nvPr/>
        </p:nvSpPr>
        <p:spPr>
          <a:xfrm>
            <a:off x="50800" y="6446747"/>
            <a:ext cx="6118086" cy="369332"/>
          </a:xfrm>
          <a:prstGeom prst="rect">
            <a:avLst/>
          </a:prstGeom>
          <a:noFill/>
        </p:spPr>
        <p:txBody>
          <a:bodyPr wrap="square">
            <a:spAutoFit/>
          </a:bodyPr>
          <a:lstStyle/>
          <a:p>
            <a:r>
              <a:rPr lang="en-US" sz="1800" i="1" dirty="0">
                <a:solidFill>
                  <a:srgbClr val="000000"/>
                </a:solidFill>
                <a:effectLst/>
                <a:latin typeface="Aptos" panose="020B0004020202020204" pitchFamily="34" charset="0"/>
              </a:rPr>
              <a:t>*Currently theoretical and unconfirmed</a:t>
            </a:r>
            <a:endParaRPr lang="en-CA" i="1" dirty="0"/>
          </a:p>
        </p:txBody>
      </p:sp>
    </p:spTree>
    <p:extLst>
      <p:ext uri="{BB962C8B-B14F-4D97-AF65-F5344CB8AC3E}">
        <p14:creationId xmlns:p14="http://schemas.microsoft.com/office/powerpoint/2010/main" val="1678318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F6326-F5D6-CB23-223B-2B15AA309A6B}"/>
              </a:ext>
            </a:extLst>
          </p:cNvPr>
          <p:cNvSpPr>
            <a:spLocks noGrp="1"/>
          </p:cNvSpPr>
          <p:nvPr>
            <p:ph type="title"/>
          </p:nvPr>
        </p:nvSpPr>
        <p:spPr>
          <a:xfrm>
            <a:off x="0" y="0"/>
            <a:ext cx="10515600" cy="932329"/>
          </a:xfrm>
        </p:spPr>
        <p:txBody>
          <a:bodyPr/>
          <a:lstStyle/>
          <a:p>
            <a:r>
              <a:rPr lang="en-CA" dirty="0"/>
              <a:t>Proposed Architecture</a:t>
            </a:r>
          </a:p>
        </p:txBody>
      </p:sp>
      <p:pic>
        <p:nvPicPr>
          <p:cNvPr id="9" name="Picture 8">
            <a:extLst>
              <a:ext uri="{FF2B5EF4-FFF2-40B4-BE49-F238E27FC236}">
                <a16:creationId xmlns:a16="http://schemas.microsoft.com/office/drawing/2014/main" id="{F1AFF4C8-533C-F23F-4B3B-8A6F9888FD2C}"/>
              </a:ext>
            </a:extLst>
          </p:cNvPr>
          <p:cNvPicPr>
            <a:picLocks noChangeAspect="1"/>
          </p:cNvPicPr>
          <p:nvPr/>
        </p:nvPicPr>
        <p:blipFill>
          <a:blip r:embed="rId2"/>
          <a:stretch>
            <a:fillRect/>
          </a:stretch>
        </p:blipFill>
        <p:spPr>
          <a:xfrm>
            <a:off x="1207048" y="329244"/>
            <a:ext cx="10027009" cy="6528756"/>
          </a:xfrm>
          <a:prstGeom prst="rect">
            <a:avLst/>
          </a:prstGeom>
        </p:spPr>
      </p:pic>
    </p:spTree>
    <p:extLst>
      <p:ext uri="{BB962C8B-B14F-4D97-AF65-F5344CB8AC3E}">
        <p14:creationId xmlns:p14="http://schemas.microsoft.com/office/powerpoint/2010/main" val="1087288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D9D36D6-2AC5-46A1-A849-4C82D526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7B6C04BF-2357-AFB3-302E-D9BA61E53DD0}"/>
              </a:ext>
            </a:extLst>
          </p:cNvPr>
          <p:cNvSpPr>
            <a:spLocks noGrp="1"/>
          </p:cNvSpPr>
          <p:nvPr>
            <p:ph type="title"/>
          </p:nvPr>
        </p:nvSpPr>
        <p:spPr>
          <a:xfrm>
            <a:off x="5354955" y="552182"/>
            <a:ext cx="5998840" cy="3343135"/>
          </a:xfrm>
          <a:noFill/>
        </p:spPr>
        <p:txBody>
          <a:bodyPr vert="horz" lIns="91440" tIns="45720" rIns="91440" bIns="45720" rtlCol="0" anchor="b">
            <a:normAutofit/>
          </a:bodyPr>
          <a:lstStyle/>
          <a:p>
            <a:r>
              <a:rPr lang="en-US" sz="5200" dirty="0"/>
              <a:t>Workflows</a:t>
            </a:r>
          </a:p>
        </p:txBody>
      </p:sp>
      <p:sp>
        <p:nvSpPr>
          <p:cNvPr id="5" name="Text Placeholder 4">
            <a:extLst>
              <a:ext uri="{FF2B5EF4-FFF2-40B4-BE49-F238E27FC236}">
                <a16:creationId xmlns:a16="http://schemas.microsoft.com/office/drawing/2014/main" id="{0622F39C-ED1A-1946-423B-42C533C7EB6B}"/>
              </a:ext>
            </a:extLst>
          </p:cNvPr>
          <p:cNvSpPr>
            <a:spLocks noGrp="1"/>
          </p:cNvSpPr>
          <p:nvPr>
            <p:ph type="body" idx="1"/>
          </p:nvPr>
        </p:nvSpPr>
        <p:spPr>
          <a:xfrm>
            <a:off x="5354955" y="4067032"/>
            <a:ext cx="5998840" cy="2067068"/>
          </a:xfrm>
          <a:noFill/>
        </p:spPr>
        <p:txBody>
          <a:bodyPr vert="horz" lIns="91440" tIns="45720" rIns="91440" bIns="45720" rtlCol="0">
            <a:normAutofit/>
          </a:bodyPr>
          <a:lstStyle/>
          <a:p>
            <a:endParaRPr lang="en-US">
              <a:solidFill>
                <a:schemeClr val="tx1"/>
              </a:solidFill>
            </a:endParaRPr>
          </a:p>
        </p:txBody>
      </p:sp>
      <p:pic>
        <p:nvPicPr>
          <p:cNvPr id="20" name="Picture 19" descr="Different colored organizers">
            <a:extLst>
              <a:ext uri="{FF2B5EF4-FFF2-40B4-BE49-F238E27FC236}">
                <a16:creationId xmlns:a16="http://schemas.microsoft.com/office/drawing/2014/main" id="{51818EA9-8AAD-81D4-15EA-0ACA0B00B8AE}"/>
              </a:ext>
            </a:extLst>
          </p:cNvPr>
          <p:cNvPicPr>
            <a:picLocks noChangeAspect="1"/>
          </p:cNvPicPr>
          <p:nvPr/>
        </p:nvPicPr>
        <p:blipFill>
          <a:blip r:embed="rId3"/>
          <a:srcRect l="28030" r="27923" b="1"/>
          <a:stretch>
            <a:fillRect/>
          </a:stretch>
        </p:blipFill>
        <p:spPr>
          <a:xfrm>
            <a:off x="20" y="10"/>
            <a:ext cx="4992985" cy="6857990"/>
          </a:xfrm>
          <a:prstGeom prst="rect">
            <a:avLst/>
          </a:prstGeom>
        </p:spPr>
      </p:pic>
    </p:spTree>
    <p:extLst>
      <p:ext uri="{BB962C8B-B14F-4D97-AF65-F5344CB8AC3E}">
        <p14:creationId xmlns:p14="http://schemas.microsoft.com/office/powerpoint/2010/main" val="398600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C4C52B-E03F-87E9-E766-774F3F79164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4998D9-2631-8552-7089-101DFC27EAF6}"/>
              </a:ext>
            </a:extLst>
          </p:cNvPr>
          <p:cNvSpPr>
            <a:spLocks noGrp="1"/>
          </p:cNvSpPr>
          <p:nvPr>
            <p:ph type="title"/>
          </p:nvPr>
        </p:nvSpPr>
        <p:spPr>
          <a:xfrm>
            <a:off x="6513788" y="365125"/>
            <a:ext cx="4840010" cy="1807305"/>
          </a:xfrm>
        </p:spPr>
        <p:txBody>
          <a:bodyPr>
            <a:normAutofit/>
          </a:bodyPr>
          <a:lstStyle/>
          <a:p>
            <a:r>
              <a:rPr lang="en-CA" dirty="0"/>
              <a:t>Planning Workflow</a:t>
            </a:r>
          </a:p>
        </p:txBody>
      </p:sp>
      <p:pic>
        <p:nvPicPr>
          <p:cNvPr id="5" name="Picture 4" descr="A person reaching for a paper on a table full of paper and sticky notes">
            <a:extLst>
              <a:ext uri="{FF2B5EF4-FFF2-40B4-BE49-F238E27FC236}">
                <a16:creationId xmlns:a16="http://schemas.microsoft.com/office/drawing/2014/main" id="{F6578DA4-E9BD-1DAB-8F43-82FD1A61775D}"/>
              </a:ext>
            </a:extLst>
          </p:cNvPr>
          <p:cNvPicPr>
            <a:picLocks noChangeAspect="1"/>
          </p:cNvPicPr>
          <p:nvPr/>
        </p:nvPicPr>
        <p:blipFill>
          <a:blip r:embed="rId2"/>
          <a:srcRect l="19737" r="20729"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1202436A-A0EA-7563-93CB-FB1641CF018F}"/>
              </a:ext>
            </a:extLst>
          </p:cNvPr>
          <p:cNvSpPr>
            <a:spLocks noGrp="1"/>
          </p:cNvSpPr>
          <p:nvPr>
            <p:ph idx="1"/>
          </p:nvPr>
        </p:nvSpPr>
        <p:spPr>
          <a:xfrm>
            <a:off x="6513788" y="1813496"/>
            <a:ext cx="4840010" cy="4363467"/>
          </a:xfrm>
        </p:spPr>
        <p:txBody>
          <a:bodyPr>
            <a:noAutofit/>
          </a:bodyPr>
          <a:lstStyle/>
          <a:p>
            <a:pPr>
              <a:lnSpc>
                <a:spcPct val="100000"/>
              </a:lnSpc>
              <a:spcBef>
                <a:spcPts val="600"/>
              </a:spcBef>
            </a:pPr>
            <a:r>
              <a:rPr lang="en-CA" sz="1800" dirty="0"/>
              <a:t>The planning workflow uses the [planning-agent] to ensure work is well defined and has acceptance criteria.</a:t>
            </a:r>
          </a:p>
          <a:p>
            <a:pPr>
              <a:lnSpc>
                <a:spcPct val="100000"/>
              </a:lnSpc>
              <a:spcBef>
                <a:spcPts val="600"/>
              </a:spcBef>
            </a:pPr>
            <a:r>
              <a:rPr lang="en-CA" sz="1800" dirty="0"/>
              <a:t>The [planning-agent] can ask questions, update work items, and split large items into multiple sub-items and tasks.</a:t>
            </a:r>
          </a:p>
          <a:p>
            <a:pPr>
              <a:lnSpc>
                <a:spcPct val="100000"/>
              </a:lnSpc>
              <a:spcBef>
                <a:spcPts val="600"/>
              </a:spcBef>
            </a:pPr>
            <a:r>
              <a:rPr lang="en-CA" sz="1800" dirty="0"/>
              <a:t>It can recommend next steps by analyzing what needs to be completed. IE: understanding the task is to create a user interface and recommending the [UI Design Workflow]</a:t>
            </a:r>
          </a:p>
          <a:p>
            <a:pPr>
              <a:lnSpc>
                <a:spcPct val="100000"/>
              </a:lnSpc>
              <a:spcBef>
                <a:spcPts val="600"/>
              </a:spcBef>
            </a:pPr>
            <a:r>
              <a:rPr lang="en-CA" sz="1800" dirty="0"/>
              <a:t>A planning conversation is a quick way to build up the backlog.</a:t>
            </a:r>
          </a:p>
        </p:txBody>
      </p:sp>
    </p:spTree>
    <p:extLst>
      <p:ext uri="{BB962C8B-B14F-4D97-AF65-F5344CB8AC3E}">
        <p14:creationId xmlns:p14="http://schemas.microsoft.com/office/powerpoint/2010/main" val="34869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AB32F3-6121-461A-A58F-39197D1CB139}"/>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DBD97F-062C-504C-AEEF-B4381F1354FC}"/>
              </a:ext>
            </a:extLst>
          </p:cNvPr>
          <p:cNvSpPr>
            <a:spLocks noGrp="1"/>
          </p:cNvSpPr>
          <p:nvPr>
            <p:ph type="title"/>
          </p:nvPr>
        </p:nvSpPr>
        <p:spPr>
          <a:xfrm>
            <a:off x="6513788" y="365125"/>
            <a:ext cx="4840010" cy="1807305"/>
          </a:xfrm>
        </p:spPr>
        <p:txBody>
          <a:bodyPr>
            <a:normAutofit/>
          </a:bodyPr>
          <a:lstStyle/>
          <a:p>
            <a:r>
              <a:rPr lang="en-CA" dirty="0"/>
              <a:t>Suggestion Workflow</a:t>
            </a:r>
          </a:p>
        </p:txBody>
      </p:sp>
      <p:pic>
        <p:nvPicPr>
          <p:cNvPr id="27" name="Picture 26" descr="A person reaching for a paper on a table full of paper and sticky notes">
            <a:extLst>
              <a:ext uri="{FF2B5EF4-FFF2-40B4-BE49-F238E27FC236}">
                <a16:creationId xmlns:a16="http://schemas.microsoft.com/office/drawing/2014/main" id="{0C868E36-0E5E-B6BF-432C-CC91D0CB7E6E}"/>
              </a:ext>
            </a:extLst>
          </p:cNvPr>
          <p:cNvPicPr>
            <a:picLocks noChangeAspect="1"/>
          </p:cNvPicPr>
          <p:nvPr/>
        </p:nvPicPr>
        <p:blipFill>
          <a:blip r:embed="rId2"/>
          <a:srcRect l="19737" r="20729"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461ECF50-5B5E-AA74-3424-8607211EB40B}"/>
              </a:ext>
            </a:extLst>
          </p:cNvPr>
          <p:cNvSpPr>
            <a:spLocks noGrp="1"/>
          </p:cNvSpPr>
          <p:nvPr>
            <p:ph idx="1"/>
          </p:nvPr>
        </p:nvSpPr>
        <p:spPr>
          <a:xfrm>
            <a:off x="6513788" y="2333297"/>
            <a:ext cx="4840010" cy="3843666"/>
          </a:xfrm>
        </p:spPr>
        <p:txBody>
          <a:bodyPr>
            <a:normAutofit/>
          </a:bodyPr>
          <a:lstStyle/>
          <a:p>
            <a:r>
              <a:rPr lang="en-CA" sz="2000" dirty="0"/>
              <a:t>Scan the current set of issues and make a simple work item describing what the team should work on next.</a:t>
            </a:r>
          </a:p>
          <a:p>
            <a:r>
              <a:rPr lang="en-CA" sz="2000" dirty="0"/>
              <a:t>Used by product owner and architect</a:t>
            </a:r>
          </a:p>
          <a:p>
            <a:r>
              <a:rPr lang="en-CA" sz="2000" dirty="0"/>
              <a:t>Uses [planning-agent]</a:t>
            </a:r>
          </a:p>
          <a:p>
            <a:r>
              <a:rPr lang="en-CA" sz="2000" dirty="0"/>
              <a:t>Ability to create work items on the board with thoughtful next steps</a:t>
            </a:r>
          </a:p>
          <a:p>
            <a:r>
              <a:rPr lang="en-CA" sz="2000" dirty="0"/>
              <a:t>It can look at comments, markdown file checklists and gaps in coverage to suggest what should be worked on next.</a:t>
            </a:r>
          </a:p>
        </p:txBody>
      </p:sp>
    </p:spTree>
    <p:extLst>
      <p:ext uri="{BB962C8B-B14F-4D97-AF65-F5344CB8AC3E}">
        <p14:creationId xmlns:p14="http://schemas.microsoft.com/office/powerpoint/2010/main" val="186061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373968-C949-980D-397A-605806324F4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3D299C-2F3F-CD52-A5FC-C6099719A3D1}"/>
              </a:ext>
            </a:extLst>
          </p:cNvPr>
          <p:cNvSpPr>
            <a:spLocks noGrp="1"/>
          </p:cNvSpPr>
          <p:nvPr>
            <p:ph type="title"/>
          </p:nvPr>
        </p:nvSpPr>
        <p:spPr>
          <a:xfrm>
            <a:off x="6513788" y="365125"/>
            <a:ext cx="4840010" cy="1807305"/>
          </a:xfrm>
        </p:spPr>
        <p:txBody>
          <a:bodyPr>
            <a:normAutofit/>
          </a:bodyPr>
          <a:lstStyle/>
          <a:p>
            <a:r>
              <a:rPr lang="en-CA" sz="4100"/>
              <a:t>User Interface Design Workflow (future)</a:t>
            </a:r>
          </a:p>
        </p:txBody>
      </p:sp>
      <p:pic>
        <p:nvPicPr>
          <p:cNvPr id="5" name="Picture 4" descr="Person watching empty phone">
            <a:extLst>
              <a:ext uri="{FF2B5EF4-FFF2-40B4-BE49-F238E27FC236}">
                <a16:creationId xmlns:a16="http://schemas.microsoft.com/office/drawing/2014/main" id="{55E58B48-A448-B08E-0C01-7D6A20F7676E}"/>
              </a:ext>
            </a:extLst>
          </p:cNvPr>
          <p:cNvPicPr>
            <a:picLocks noChangeAspect="1"/>
          </p:cNvPicPr>
          <p:nvPr/>
        </p:nvPicPr>
        <p:blipFill>
          <a:blip r:embed="rId2"/>
          <a:srcRect l="35813" r="465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06D24490-AABA-377C-DC78-C01B074389F0}"/>
              </a:ext>
            </a:extLst>
          </p:cNvPr>
          <p:cNvSpPr>
            <a:spLocks noGrp="1"/>
          </p:cNvSpPr>
          <p:nvPr>
            <p:ph idx="1"/>
          </p:nvPr>
        </p:nvSpPr>
        <p:spPr>
          <a:xfrm>
            <a:off x="6513788" y="2333297"/>
            <a:ext cx="4840010" cy="3843666"/>
          </a:xfrm>
        </p:spPr>
        <p:txBody>
          <a:bodyPr>
            <a:normAutofit/>
          </a:bodyPr>
          <a:lstStyle/>
          <a:p>
            <a:r>
              <a:rPr lang="en-CA" sz="2000"/>
              <a:t>Describe the interface that needs to be built</a:t>
            </a:r>
          </a:p>
          <a:p>
            <a:r>
              <a:rPr lang="en-CA" sz="2000"/>
              <a:t>Generate potential UI options using archetypes defined for the current project (Material Design, MudBlazor, Tailwind)</a:t>
            </a:r>
          </a:p>
          <a:p>
            <a:r>
              <a:rPr lang="en-CA" sz="2000"/>
              <a:t>Present and Refine</a:t>
            </a:r>
          </a:p>
          <a:p>
            <a:r>
              <a:rPr lang="en-CA" sz="2000"/>
              <a:t>Attach to new work item for implementation</a:t>
            </a:r>
          </a:p>
        </p:txBody>
      </p:sp>
    </p:spTree>
    <p:extLst>
      <p:ext uri="{BB962C8B-B14F-4D97-AF65-F5344CB8AC3E}">
        <p14:creationId xmlns:p14="http://schemas.microsoft.com/office/powerpoint/2010/main" val="1161687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284ACD-E54D-A8E4-CF10-2766C5E01AC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D8BF96-B23C-A643-4463-8879C3BE8894}"/>
              </a:ext>
            </a:extLst>
          </p:cNvPr>
          <p:cNvSpPr>
            <a:spLocks noGrp="1"/>
          </p:cNvSpPr>
          <p:nvPr>
            <p:ph type="title"/>
          </p:nvPr>
        </p:nvSpPr>
        <p:spPr>
          <a:xfrm>
            <a:off x="6513788" y="365125"/>
            <a:ext cx="4840010" cy="1807305"/>
          </a:xfrm>
        </p:spPr>
        <p:txBody>
          <a:bodyPr>
            <a:normAutofit/>
          </a:bodyPr>
          <a:lstStyle/>
          <a:p>
            <a:r>
              <a:rPr lang="en-CA" dirty="0"/>
              <a:t>Solution Design and Analysis Workflow</a:t>
            </a:r>
          </a:p>
        </p:txBody>
      </p:sp>
      <p:pic>
        <p:nvPicPr>
          <p:cNvPr id="5" name="Picture 4" descr="Magnifying glass showing decling performance">
            <a:extLst>
              <a:ext uri="{FF2B5EF4-FFF2-40B4-BE49-F238E27FC236}">
                <a16:creationId xmlns:a16="http://schemas.microsoft.com/office/drawing/2014/main" id="{604B843F-F009-C9C7-5B71-CCF39F78CDF1}"/>
              </a:ext>
            </a:extLst>
          </p:cNvPr>
          <p:cNvPicPr>
            <a:picLocks noChangeAspect="1"/>
          </p:cNvPicPr>
          <p:nvPr/>
        </p:nvPicPr>
        <p:blipFill>
          <a:blip r:embed="rId2"/>
          <a:srcRect l="13673" r="2679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DA0A936B-71F2-0D84-834C-7027E361EED6}"/>
              </a:ext>
            </a:extLst>
          </p:cNvPr>
          <p:cNvSpPr>
            <a:spLocks noGrp="1"/>
          </p:cNvSpPr>
          <p:nvPr>
            <p:ph idx="1"/>
          </p:nvPr>
        </p:nvSpPr>
        <p:spPr>
          <a:xfrm>
            <a:off x="6513788" y="2333297"/>
            <a:ext cx="4840010" cy="3843666"/>
          </a:xfrm>
        </p:spPr>
        <p:txBody>
          <a:bodyPr>
            <a:normAutofit lnSpcReduction="10000"/>
          </a:bodyPr>
          <a:lstStyle/>
          <a:p>
            <a:r>
              <a:rPr lang="en-CA" sz="1600" dirty="0"/>
              <a:t>Deep analysis looking through archetypes, current repository, and similar problem statements</a:t>
            </a:r>
          </a:p>
          <a:p>
            <a:r>
              <a:rPr lang="en-CA" sz="1600" dirty="0"/>
              <a:t>Presents back 2-3 options with detailed approach, code samples, and documentation in markdown format</a:t>
            </a:r>
          </a:p>
          <a:p>
            <a:r>
              <a:rPr lang="en-CA" sz="1600" dirty="0"/>
              <a:t>Score the options and make a recommendation</a:t>
            </a:r>
          </a:p>
          <a:p>
            <a:r>
              <a:rPr lang="en-CA" sz="1600" dirty="0"/>
              <a:t>Also provide insight as to whether this should be done now or can wait until later</a:t>
            </a:r>
          </a:p>
          <a:p>
            <a:r>
              <a:rPr lang="en-CA" sz="1600" dirty="0"/>
              <a:t>Examples: </a:t>
            </a:r>
          </a:p>
          <a:p>
            <a:pPr lvl="1"/>
            <a:r>
              <a:rPr lang="en-CA" sz="1600" dirty="0"/>
              <a:t>Should we refactor the app to use a shared caching model?</a:t>
            </a:r>
          </a:p>
          <a:p>
            <a:pPr lvl="1"/>
            <a:r>
              <a:rPr lang="en-CA" sz="1600" dirty="0"/>
              <a:t>Should we implement the </a:t>
            </a:r>
            <a:r>
              <a:rPr lang="en-CA" sz="1600" dirty="0" err="1"/>
              <a:t>bUnit</a:t>
            </a:r>
            <a:r>
              <a:rPr lang="en-CA" sz="1600" dirty="0"/>
              <a:t> testing framework?</a:t>
            </a:r>
          </a:p>
          <a:p>
            <a:pPr lvl="1"/>
            <a:r>
              <a:rPr lang="en-CA" sz="1600" dirty="0"/>
              <a:t>Should we refactor the frontend to use React instead of Blazor?</a:t>
            </a:r>
          </a:p>
          <a:p>
            <a:pPr lvl="1"/>
            <a:endParaRPr lang="en-CA" sz="1600" dirty="0"/>
          </a:p>
        </p:txBody>
      </p:sp>
    </p:spTree>
    <p:extLst>
      <p:ext uri="{BB962C8B-B14F-4D97-AF65-F5344CB8AC3E}">
        <p14:creationId xmlns:p14="http://schemas.microsoft.com/office/powerpoint/2010/main" val="2579141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A57BB8-13D6-EBF8-4512-0D2B22C7460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7C45903E-E5F1-AA40-FADE-92974D79A00F}"/>
              </a:ext>
            </a:extLst>
          </p:cNvPr>
          <p:cNvPicPr>
            <a:picLocks noChangeAspect="1"/>
          </p:cNvPicPr>
          <p:nvPr/>
        </p:nvPicPr>
        <p:blipFill>
          <a:blip r:embed="rId2"/>
          <a:srcRect l="36552" r="15126" b="1"/>
          <a:stretch>
            <a:fillRect/>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2"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FE9FCF-B6F7-30E3-C61E-43A5E31EDC63}"/>
              </a:ext>
            </a:extLst>
          </p:cNvPr>
          <p:cNvSpPr>
            <a:spLocks noGrp="1"/>
          </p:cNvSpPr>
          <p:nvPr>
            <p:ph type="title"/>
          </p:nvPr>
        </p:nvSpPr>
        <p:spPr>
          <a:xfrm>
            <a:off x="5827048" y="407987"/>
            <a:ext cx="5721484" cy="1325563"/>
          </a:xfrm>
        </p:spPr>
        <p:txBody>
          <a:bodyPr>
            <a:normAutofit/>
          </a:bodyPr>
          <a:lstStyle/>
          <a:p>
            <a:r>
              <a:rPr lang="en-CA" dirty="0"/>
              <a:t>Implement Workflow</a:t>
            </a:r>
          </a:p>
        </p:txBody>
      </p:sp>
      <p:graphicFrame>
        <p:nvGraphicFramePr>
          <p:cNvPr id="5" name="Content Placeholder 2">
            <a:extLst>
              <a:ext uri="{FF2B5EF4-FFF2-40B4-BE49-F238E27FC236}">
                <a16:creationId xmlns:a16="http://schemas.microsoft.com/office/drawing/2014/main" id="{397C3290-FDBC-82B6-17A3-DBFC4E64B513}"/>
              </a:ext>
            </a:extLst>
          </p:cNvPr>
          <p:cNvGraphicFramePr>
            <a:graphicFrameLocks noGrp="1"/>
          </p:cNvGraphicFramePr>
          <p:nvPr>
            <p:ph idx="1"/>
            <p:extLst>
              <p:ext uri="{D42A27DB-BD31-4B8C-83A1-F6EECF244321}">
                <p14:modId xmlns:p14="http://schemas.microsoft.com/office/powerpoint/2010/main" val="732634652"/>
              </p:ext>
            </p:extLst>
          </p:nvPr>
        </p:nvGraphicFramePr>
        <p:xfrm>
          <a:off x="5827048" y="1868487"/>
          <a:ext cx="5721484"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941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DDE46A-0B18-866C-3A8F-4B24BC984E1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5" name="Group 24">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6" name="Freeform: Shape 25">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0EE4CA6A-10B4-4CC3-C0D5-CADA5DEFBDBD}"/>
              </a:ext>
            </a:extLst>
          </p:cNvPr>
          <p:cNvSpPr>
            <a:spLocks noGrp="1"/>
          </p:cNvSpPr>
          <p:nvPr>
            <p:ph type="title"/>
          </p:nvPr>
        </p:nvSpPr>
        <p:spPr>
          <a:xfrm>
            <a:off x="640080" y="1243013"/>
            <a:ext cx="3855720" cy="4371974"/>
          </a:xfrm>
        </p:spPr>
        <p:txBody>
          <a:bodyPr>
            <a:normAutofit/>
          </a:bodyPr>
          <a:lstStyle/>
          <a:p>
            <a:r>
              <a:rPr lang="en-CA" sz="3600">
                <a:solidFill>
                  <a:schemeClr val="tx2"/>
                </a:solidFill>
              </a:rPr>
              <a:t>Deployment Workflow</a:t>
            </a:r>
          </a:p>
        </p:txBody>
      </p:sp>
      <p:sp>
        <p:nvSpPr>
          <p:cNvPr id="3" name="Content Placeholder 2">
            <a:extLst>
              <a:ext uri="{FF2B5EF4-FFF2-40B4-BE49-F238E27FC236}">
                <a16:creationId xmlns:a16="http://schemas.microsoft.com/office/drawing/2014/main" id="{2CE629F2-CF58-13EC-1A52-26F7206BADB8}"/>
              </a:ext>
            </a:extLst>
          </p:cNvPr>
          <p:cNvSpPr>
            <a:spLocks noGrp="1"/>
          </p:cNvSpPr>
          <p:nvPr>
            <p:ph idx="1"/>
          </p:nvPr>
        </p:nvSpPr>
        <p:spPr>
          <a:xfrm>
            <a:off x="6172200" y="804672"/>
            <a:ext cx="5221224" cy="5230368"/>
          </a:xfrm>
        </p:spPr>
        <p:txBody>
          <a:bodyPr anchor="ctr">
            <a:normAutofit/>
          </a:bodyPr>
          <a:lstStyle/>
          <a:p>
            <a:r>
              <a:rPr lang="en-CA" sz="2400" dirty="0">
                <a:solidFill>
                  <a:schemeClr val="tx2"/>
                </a:solidFill>
              </a:rPr>
              <a:t>Uses [deployment] agent who will have expertise and knowledge of Terraform, Azure CLI, YAML, GitHub actions.</a:t>
            </a:r>
          </a:p>
          <a:p>
            <a:r>
              <a:rPr lang="en-CA" sz="2400" dirty="0">
                <a:solidFill>
                  <a:schemeClr val="tx2"/>
                </a:solidFill>
              </a:rPr>
              <a:t>Inspect solution to ensure components support automated deployment</a:t>
            </a:r>
          </a:p>
          <a:p>
            <a:r>
              <a:rPr lang="en-CA" sz="2400" dirty="0">
                <a:solidFill>
                  <a:schemeClr val="tx2"/>
                </a:solidFill>
              </a:rPr>
              <a:t>Create terraform and scripts for deployment</a:t>
            </a:r>
          </a:p>
          <a:p>
            <a:r>
              <a:rPr lang="en-CA" sz="2400" dirty="0">
                <a:solidFill>
                  <a:schemeClr val="tx2"/>
                </a:solidFill>
              </a:rPr>
              <a:t>Ensure environment consistency</a:t>
            </a:r>
          </a:p>
          <a:p>
            <a:r>
              <a:rPr lang="en-CA" sz="2400" dirty="0">
                <a:solidFill>
                  <a:schemeClr val="tx2"/>
                </a:solidFill>
              </a:rPr>
              <a:t>Ensure secrets remain secret</a:t>
            </a:r>
          </a:p>
          <a:p>
            <a:r>
              <a:rPr lang="en-CA" sz="2400" dirty="0">
                <a:solidFill>
                  <a:schemeClr val="tx2"/>
                </a:solidFill>
              </a:rPr>
              <a:t>Ensure code can be deployed to an environment</a:t>
            </a:r>
          </a:p>
        </p:txBody>
      </p:sp>
    </p:spTree>
    <p:extLst>
      <p:ext uri="{BB962C8B-B14F-4D97-AF65-F5344CB8AC3E}">
        <p14:creationId xmlns:p14="http://schemas.microsoft.com/office/powerpoint/2010/main" val="2431765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99DF8BA3-17F5-3719-DE69-9D80805A20CB}"/>
              </a:ext>
            </a:extLst>
          </p:cNvPr>
          <p:cNvSpPr>
            <a:spLocks noGrp="1"/>
          </p:cNvSpPr>
          <p:nvPr>
            <p:ph type="title"/>
          </p:nvPr>
        </p:nvSpPr>
        <p:spPr>
          <a:xfrm>
            <a:off x="838202" y="53302"/>
            <a:ext cx="10515600" cy="930275"/>
          </a:xfrm>
        </p:spPr>
        <p:txBody>
          <a:bodyPr>
            <a:normAutofit/>
          </a:bodyPr>
          <a:lstStyle/>
          <a:p>
            <a:r>
              <a:rPr lang="en-CA" dirty="0"/>
              <a:t>Workflow Status (not all a required for </a:t>
            </a:r>
            <a:r>
              <a:rPr lang="en-CA" dirty="0" err="1"/>
              <a:t>mvp</a:t>
            </a:r>
            <a:r>
              <a:rPr lang="en-CA" dirty="0"/>
              <a:t>)</a:t>
            </a:r>
          </a:p>
        </p:txBody>
      </p:sp>
      <p:graphicFrame>
        <p:nvGraphicFramePr>
          <p:cNvPr id="4" name="Content Placeholder 3">
            <a:extLst>
              <a:ext uri="{FF2B5EF4-FFF2-40B4-BE49-F238E27FC236}">
                <a16:creationId xmlns:a16="http://schemas.microsoft.com/office/drawing/2014/main" id="{FF9FA3D5-3154-B59B-CCE2-E1BF25FBDBBB}"/>
              </a:ext>
            </a:extLst>
          </p:cNvPr>
          <p:cNvGraphicFramePr>
            <a:graphicFrameLocks noGrp="1"/>
          </p:cNvGraphicFramePr>
          <p:nvPr>
            <p:ph idx="1"/>
            <p:extLst>
              <p:ext uri="{D42A27DB-BD31-4B8C-83A1-F6EECF244321}">
                <p14:modId xmlns:p14="http://schemas.microsoft.com/office/powerpoint/2010/main" val="3191467150"/>
              </p:ext>
            </p:extLst>
          </p:nvPr>
        </p:nvGraphicFramePr>
        <p:xfrm>
          <a:off x="536325" y="1009346"/>
          <a:ext cx="11116302" cy="4839307"/>
        </p:xfrm>
        <a:graphic>
          <a:graphicData uri="http://schemas.openxmlformats.org/drawingml/2006/table">
            <a:tbl>
              <a:tblPr firstRow="1" bandRow="1">
                <a:tableStyleId>{3B4B98B0-60AC-42C2-AFA5-B58CD77FA1E5}</a:tableStyleId>
              </a:tblPr>
              <a:tblGrid>
                <a:gridCol w="1441128">
                  <a:extLst>
                    <a:ext uri="{9D8B030D-6E8A-4147-A177-3AD203B41FA5}">
                      <a16:colId xmlns:a16="http://schemas.microsoft.com/office/drawing/2014/main" val="1536847148"/>
                    </a:ext>
                  </a:extLst>
                </a:gridCol>
                <a:gridCol w="1273916">
                  <a:extLst>
                    <a:ext uri="{9D8B030D-6E8A-4147-A177-3AD203B41FA5}">
                      <a16:colId xmlns:a16="http://schemas.microsoft.com/office/drawing/2014/main" val="3997938768"/>
                    </a:ext>
                  </a:extLst>
                </a:gridCol>
                <a:gridCol w="8401258">
                  <a:extLst>
                    <a:ext uri="{9D8B030D-6E8A-4147-A177-3AD203B41FA5}">
                      <a16:colId xmlns:a16="http://schemas.microsoft.com/office/drawing/2014/main" val="2840136248"/>
                    </a:ext>
                  </a:extLst>
                </a:gridCol>
              </a:tblGrid>
              <a:tr h="386863">
                <a:tc>
                  <a:txBody>
                    <a:bodyPr/>
                    <a:lstStyle/>
                    <a:p>
                      <a:r>
                        <a:rPr lang="en-CA" sz="1400" dirty="0"/>
                        <a:t>Workflow</a:t>
                      </a:r>
                    </a:p>
                  </a:txBody>
                  <a:tcPr marL="62385" marR="62385" marT="31193" marB="31193"/>
                </a:tc>
                <a:tc>
                  <a:txBody>
                    <a:bodyPr/>
                    <a:lstStyle/>
                    <a:p>
                      <a:r>
                        <a:rPr lang="en-CA" sz="1400" dirty="0"/>
                        <a:t>Status</a:t>
                      </a:r>
                    </a:p>
                  </a:txBody>
                  <a:tcPr marL="62385" marR="62385" marT="31193" marB="31193"/>
                </a:tc>
                <a:tc>
                  <a:txBody>
                    <a:bodyPr/>
                    <a:lstStyle/>
                    <a:p>
                      <a:r>
                        <a:rPr lang="en-CA" sz="1400" dirty="0"/>
                        <a:t>Notes</a:t>
                      </a:r>
                    </a:p>
                  </a:txBody>
                  <a:tcPr marL="62385" marR="62385" marT="31193" marB="31193"/>
                </a:tc>
                <a:extLst>
                  <a:ext uri="{0D108BD9-81ED-4DB2-BD59-A6C34878D82A}">
                    <a16:rowId xmlns:a16="http://schemas.microsoft.com/office/drawing/2014/main" val="2567668133"/>
                  </a:ext>
                </a:extLst>
              </a:tr>
              <a:tr h="650631">
                <a:tc>
                  <a:txBody>
                    <a:bodyPr/>
                    <a:lstStyle/>
                    <a:p>
                      <a:r>
                        <a:rPr lang="en-CA" sz="1400" dirty="0"/>
                        <a:t>Planning</a:t>
                      </a:r>
                    </a:p>
                  </a:txBody>
                  <a:tcPr marL="62385" marR="62385" marT="31193" marB="31193"/>
                </a:tc>
                <a:tc>
                  <a:txBody>
                    <a:bodyPr/>
                    <a:lstStyle/>
                    <a:p>
                      <a:r>
                        <a:rPr lang="en-CA" sz="1400" dirty="0"/>
                        <a:t>In Progress</a:t>
                      </a:r>
                    </a:p>
                    <a:p>
                      <a:r>
                        <a:rPr lang="en-CA" sz="1400" dirty="0"/>
                        <a:t>75%</a:t>
                      </a:r>
                    </a:p>
                  </a:txBody>
                  <a:tcPr marL="62385" marR="62385" marT="31193" marB="31193"/>
                </a:tc>
                <a:tc>
                  <a:txBody>
                    <a:bodyPr/>
                    <a:lstStyle/>
                    <a:p>
                      <a:r>
                        <a:rPr lang="en-CA" sz="1400" dirty="0"/>
                        <a:t>Process chat commands and/or inspect a work-item, enhance description, acceptance criteria, and can split work-item into multiple parts.  </a:t>
                      </a:r>
                      <a:r>
                        <a:rPr lang="en-CA" sz="1400" i="1" dirty="0"/>
                        <a:t>Needs to be less verbose. Needs to ensure process allows for PR approval prior to issue modification/creation</a:t>
                      </a:r>
                      <a:r>
                        <a:rPr lang="en-CA" sz="1400" dirty="0"/>
                        <a:t>.</a:t>
                      </a:r>
                    </a:p>
                  </a:txBody>
                  <a:tcPr marL="62385" marR="62385" marT="31193" marB="31193"/>
                </a:tc>
                <a:extLst>
                  <a:ext uri="{0D108BD9-81ED-4DB2-BD59-A6C34878D82A}">
                    <a16:rowId xmlns:a16="http://schemas.microsoft.com/office/drawing/2014/main" val="3924250922"/>
                  </a:ext>
                </a:extLst>
              </a:tr>
              <a:tr h="203093">
                <a:tc>
                  <a:txBody>
                    <a:bodyPr/>
                    <a:lstStyle/>
                    <a:p>
                      <a:r>
                        <a:rPr lang="en-CA" sz="1400" dirty="0"/>
                        <a:t>Solution Design</a:t>
                      </a:r>
                    </a:p>
                  </a:txBody>
                  <a:tcPr marL="62385" marR="62385" marT="31193" marB="31193"/>
                </a:tc>
                <a:tc>
                  <a:txBody>
                    <a:bodyPr/>
                    <a:lstStyle/>
                    <a:p>
                      <a:r>
                        <a:rPr lang="en-CA" sz="1400" dirty="0"/>
                        <a:t>In Progress</a:t>
                      </a:r>
                    </a:p>
                    <a:p>
                      <a:r>
                        <a:rPr lang="en-CA" sz="1400" dirty="0"/>
                        <a:t>80%</a:t>
                      </a:r>
                    </a:p>
                  </a:txBody>
                  <a:tcPr marL="62385" marR="62385" marT="31193" marB="31193"/>
                </a:tc>
                <a:tc>
                  <a:txBody>
                    <a:bodyPr/>
                    <a:lstStyle/>
                    <a:p>
                      <a:r>
                        <a:rPr lang="en-CA" sz="1400" dirty="0"/>
                        <a:t>Process chat commands and/or inspect a work-item, analyze the repository and archetypes, then compare/contrast multiple paths forward – </a:t>
                      </a:r>
                      <a:r>
                        <a:rPr lang="en-CA" sz="1400" b="1" dirty="0"/>
                        <a:t>and</a:t>
                      </a:r>
                      <a:r>
                        <a:rPr lang="en-CA" sz="1400" dirty="0"/>
                        <a:t> make a final recommendation. Creates detailed pull requests with markdown documents. It is too verbose and needs tuning. </a:t>
                      </a:r>
                    </a:p>
                  </a:txBody>
                  <a:tcPr marL="62385" marR="62385" marT="31193" marB="31193"/>
                </a:tc>
                <a:extLst>
                  <a:ext uri="{0D108BD9-81ED-4DB2-BD59-A6C34878D82A}">
                    <a16:rowId xmlns:a16="http://schemas.microsoft.com/office/drawing/2014/main" val="3593427751"/>
                  </a:ext>
                </a:extLst>
              </a:tr>
              <a:tr h="419886">
                <a:tc>
                  <a:txBody>
                    <a:bodyPr/>
                    <a:lstStyle/>
                    <a:p>
                      <a:r>
                        <a:rPr lang="en-CA" sz="1400" dirty="0"/>
                        <a:t>Suggestion</a:t>
                      </a:r>
                    </a:p>
                  </a:txBody>
                  <a:tcPr marL="62385" marR="62385" marT="31193" marB="31193"/>
                </a:tc>
                <a:tc>
                  <a:txBody>
                    <a:bodyPr/>
                    <a:lstStyle/>
                    <a:p>
                      <a:r>
                        <a:rPr lang="en-CA" sz="1400" dirty="0"/>
                        <a:t>In Progress</a:t>
                      </a:r>
                    </a:p>
                    <a:p>
                      <a:r>
                        <a:rPr lang="en-CA" sz="1400" dirty="0"/>
                        <a:t>60%</a:t>
                      </a:r>
                    </a:p>
                  </a:txBody>
                  <a:tcPr marL="62385" marR="62385" marT="31193" marB="31193"/>
                </a:tc>
                <a:tc>
                  <a:txBody>
                    <a:bodyPr/>
                    <a:lstStyle/>
                    <a:p>
                      <a:r>
                        <a:rPr lang="en-CA" sz="1400" dirty="0"/>
                        <a:t>Working prototype. This agent can help decide what to work on next, which could be an issue on the board, or something that needs refactoring or attention in the code base. Example inspecting TODO comments, markdown checklists, and lack of code coverage from a unit testing perspective.</a:t>
                      </a:r>
                    </a:p>
                  </a:txBody>
                  <a:tcPr marL="62385" marR="62385" marT="31193" marB="31193"/>
                </a:tc>
                <a:extLst>
                  <a:ext uri="{0D108BD9-81ED-4DB2-BD59-A6C34878D82A}">
                    <a16:rowId xmlns:a16="http://schemas.microsoft.com/office/drawing/2014/main" val="21745836"/>
                  </a:ext>
                </a:extLst>
              </a:tr>
              <a:tr h="726754">
                <a:tc>
                  <a:txBody>
                    <a:bodyPr/>
                    <a:lstStyle/>
                    <a:p>
                      <a:r>
                        <a:rPr lang="en-CA" sz="1400" dirty="0"/>
                        <a:t>User Interface Design</a:t>
                      </a:r>
                    </a:p>
                  </a:txBody>
                  <a:tcPr marL="62385" marR="62385" marT="31193" marB="31193"/>
                </a:tc>
                <a:tc>
                  <a:txBody>
                    <a:bodyPr/>
                    <a:lstStyle/>
                    <a:p>
                      <a:r>
                        <a:rPr lang="en-CA" sz="1400" dirty="0"/>
                        <a:t>Planning</a:t>
                      </a:r>
                    </a:p>
                    <a:p>
                      <a:r>
                        <a:rPr lang="en-CA" sz="1400" dirty="0"/>
                        <a:t>25%</a:t>
                      </a:r>
                    </a:p>
                  </a:txBody>
                  <a:tcPr marL="62385" marR="62385" marT="31193" marB="31193"/>
                </a:tc>
                <a:tc>
                  <a:txBody>
                    <a:bodyPr/>
                    <a:lstStyle/>
                    <a:p>
                      <a:r>
                        <a:rPr lang="en-CA" sz="1400" dirty="0"/>
                        <a:t>NOT WORKING: When a work item requires a visual mock-up, screenshot, design it can work with third-party design MCP (Figma/UX Pilot), to generate screenshots. Much better than relying on the [coding-agent] to figure this out during the coding process.</a:t>
                      </a:r>
                    </a:p>
                  </a:txBody>
                  <a:tcPr marL="62385" marR="62385" marT="31193" marB="31193"/>
                </a:tc>
                <a:extLst>
                  <a:ext uri="{0D108BD9-81ED-4DB2-BD59-A6C34878D82A}">
                    <a16:rowId xmlns:a16="http://schemas.microsoft.com/office/drawing/2014/main" val="1086462822"/>
                  </a:ext>
                </a:extLst>
              </a:tr>
              <a:tr h="328144">
                <a:tc>
                  <a:txBody>
                    <a:bodyPr/>
                    <a:lstStyle/>
                    <a:p>
                      <a:r>
                        <a:rPr lang="en-CA" sz="1400"/>
                        <a:t>Implementation</a:t>
                      </a:r>
                    </a:p>
                  </a:txBody>
                  <a:tcPr marL="62385" marR="62385" marT="31193" marB="31193"/>
                </a:tc>
                <a:tc>
                  <a:txBody>
                    <a:bodyPr/>
                    <a:lstStyle/>
                    <a:p>
                      <a:r>
                        <a:rPr lang="en-CA" sz="1400" dirty="0"/>
                        <a:t>In Progress</a:t>
                      </a:r>
                    </a:p>
                    <a:p>
                      <a:r>
                        <a:rPr lang="en-CA" sz="1400" dirty="0"/>
                        <a:t>90%</a:t>
                      </a:r>
                    </a:p>
                  </a:txBody>
                  <a:tcPr marL="62385" marR="62385" marT="31193" marB="31193"/>
                </a:tc>
                <a:tc>
                  <a:txBody>
                    <a:bodyPr/>
                    <a:lstStyle/>
                    <a:p>
                      <a:r>
                        <a:rPr lang="en-CA" sz="1400" dirty="0"/>
                        <a:t>This is the most well developed and testing. With proper instructions and archetypes, it can use the stock sonnet 4.5 coding agent (or codex pro agent) to produce concise, clean, and tested code. Pull requests are excellent. Documentation is excellent. Lack of code drift and wander is also excellent. Approval gates are well defined.</a:t>
                      </a:r>
                    </a:p>
                  </a:txBody>
                  <a:tcPr marL="62385" marR="62385" marT="31193" marB="31193"/>
                </a:tc>
                <a:extLst>
                  <a:ext uri="{0D108BD9-81ED-4DB2-BD59-A6C34878D82A}">
                    <a16:rowId xmlns:a16="http://schemas.microsoft.com/office/drawing/2014/main" val="1881748441"/>
                  </a:ext>
                </a:extLst>
              </a:tr>
              <a:tr h="386863">
                <a:tc>
                  <a:txBody>
                    <a:bodyPr/>
                    <a:lstStyle/>
                    <a:p>
                      <a:r>
                        <a:rPr lang="en-CA" sz="1400"/>
                        <a:t>Deployment</a:t>
                      </a:r>
                    </a:p>
                  </a:txBody>
                  <a:tcPr marL="62385" marR="62385" marT="31193" marB="31193"/>
                </a:tc>
                <a:tc>
                  <a:txBody>
                    <a:bodyPr/>
                    <a:lstStyle/>
                    <a:p>
                      <a:r>
                        <a:rPr lang="en-CA" sz="1400" dirty="0"/>
                        <a:t>Planning</a:t>
                      </a:r>
                    </a:p>
                    <a:p>
                      <a:r>
                        <a:rPr lang="en-CA" sz="1400" dirty="0"/>
                        <a:t>25%</a:t>
                      </a:r>
                    </a:p>
                  </a:txBody>
                  <a:tcPr marL="62385" marR="62385" marT="31193" marB="31193"/>
                </a:tc>
                <a:tc>
                  <a:txBody>
                    <a:bodyPr/>
                    <a:lstStyle/>
                    <a:p>
                      <a:r>
                        <a:rPr lang="en-CA" sz="1400" dirty="0"/>
                        <a:t>The coding agent can already build excellent deployment scripts and infrastructure as code, but lacks understanding of process/actions/workflows to tie this into the GitHub ecosystem.  Needs strong approval gates.</a:t>
                      </a:r>
                    </a:p>
                  </a:txBody>
                  <a:tcPr marL="62385" marR="62385" marT="31193" marB="31193"/>
                </a:tc>
                <a:extLst>
                  <a:ext uri="{0D108BD9-81ED-4DB2-BD59-A6C34878D82A}">
                    <a16:rowId xmlns:a16="http://schemas.microsoft.com/office/drawing/2014/main" val="2534624296"/>
                  </a:ext>
                </a:extLst>
              </a:tr>
            </a:tbl>
          </a:graphicData>
        </a:graphic>
      </p:graphicFrame>
    </p:spTree>
    <p:extLst>
      <p:ext uri="{BB962C8B-B14F-4D97-AF65-F5344CB8AC3E}">
        <p14:creationId xmlns:p14="http://schemas.microsoft.com/office/powerpoint/2010/main" val="3640549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BF0FC-2B4B-BB9E-335D-E637F80BD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B4A72-C43B-76F5-C5AD-C27DA44857C1}"/>
              </a:ext>
            </a:extLst>
          </p:cNvPr>
          <p:cNvSpPr>
            <a:spLocks noGrp="1"/>
          </p:cNvSpPr>
          <p:nvPr>
            <p:ph type="title"/>
          </p:nvPr>
        </p:nvSpPr>
        <p:spPr/>
        <p:txBody>
          <a:bodyPr/>
          <a:lstStyle/>
          <a:p>
            <a:r>
              <a:rPr lang="en-CA" dirty="0"/>
              <a:t>Methodology Definition</a:t>
            </a:r>
          </a:p>
        </p:txBody>
      </p:sp>
      <p:sp>
        <p:nvSpPr>
          <p:cNvPr id="3" name="Content Placeholder 2">
            <a:extLst>
              <a:ext uri="{FF2B5EF4-FFF2-40B4-BE49-F238E27FC236}">
                <a16:creationId xmlns:a16="http://schemas.microsoft.com/office/drawing/2014/main" id="{3F166063-0747-7538-9990-6E7206FD6CA9}"/>
              </a:ext>
            </a:extLst>
          </p:cNvPr>
          <p:cNvSpPr>
            <a:spLocks noGrp="1"/>
          </p:cNvSpPr>
          <p:nvPr>
            <p:ph idx="1"/>
          </p:nvPr>
        </p:nvSpPr>
        <p:spPr>
          <a:xfrm>
            <a:off x="838200" y="1825624"/>
            <a:ext cx="10515600" cy="3914313"/>
          </a:xfrm>
        </p:spPr>
        <p:txBody>
          <a:bodyPr>
            <a:noAutofit/>
          </a:bodyPr>
          <a:lstStyle/>
          <a:p>
            <a:r>
              <a:rPr lang="en-CA" sz="2400" dirty="0"/>
              <a:t>Work in progress, and perhaps more related to the service side of things, but the process is likely as important as the underlying technology – like the ceremonies in agile.</a:t>
            </a:r>
          </a:p>
          <a:p>
            <a:r>
              <a:rPr lang="en-CA" sz="2400" dirty="0"/>
              <a:t>A2D is going to require ceremonies, but with quicker iteration</a:t>
            </a:r>
          </a:p>
          <a:p>
            <a:r>
              <a:rPr lang="en-CA" sz="2400" dirty="0"/>
              <a:t>More suited to a kanban style of working because of the velocity of work completed.</a:t>
            </a:r>
          </a:p>
          <a:p>
            <a:r>
              <a:rPr lang="en-CA" sz="2400" i="1" dirty="0"/>
              <a:t>The methodology I have been following is daily planning in the morning, followed by review before lunch, resolving comments and iteration, deployment and testing in the afternoon. Repeat</a:t>
            </a:r>
            <a:r>
              <a:rPr lang="en-CA" sz="2400" dirty="0"/>
              <a:t>. </a:t>
            </a:r>
          </a:p>
        </p:txBody>
      </p:sp>
      <p:graphicFrame>
        <p:nvGraphicFramePr>
          <p:cNvPr id="4" name="Diagram 3">
            <a:extLst>
              <a:ext uri="{FF2B5EF4-FFF2-40B4-BE49-F238E27FC236}">
                <a16:creationId xmlns:a16="http://schemas.microsoft.com/office/drawing/2014/main" id="{FA211505-0472-6406-0825-B267378A4F6F}"/>
              </a:ext>
            </a:extLst>
          </p:cNvPr>
          <p:cNvGraphicFramePr/>
          <p:nvPr/>
        </p:nvGraphicFramePr>
        <p:xfrm>
          <a:off x="1508760" y="5102900"/>
          <a:ext cx="8955380" cy="1274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Arrow: Curved Up 8">
            <a:extLst>
              <a:ext uri="{FF2B5EF4-FFF2-40B4-BE49-F238E27FC236}">
                <a16:creationId xmlns:a16="http://schemas.microsoft.com/office/drawing/2014/main" id="{C360232F-61E6-FA7E-11C9-A6FCC7A02947}"/>
              </a:ext>
            </a:extLst>
          </p:cNvPr>
          <p:cNvSpPr/>
          <p:nvPr/>
        </p:nvSpPr>
        <p:spPr>
          <a:xfrm flipH="1">
            <a:off x="4971011" y="6120391"/>
            <a:ext cx="1828800" cy="51316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Iterate</a:t>
            </a:r>
          </a:p>
        </p:txBody>
      </p:sp>
    </p:spTree>
    <p:extLst>
      <p:ext uri="{BB962C8B-B14F-4D97-AF65-F5344CB8AC3E}">
        <p14:creationId xmlns:p14="http://schemas.microsoft.com/office/powerpoint/2010/main" val="3791560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2" name="Rectangle 2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E81210-540D-140E-E60E-9A847FDAE3AC}"/>
              </a:ext>
            </a:extLst>
          </p:cNvPr>
          <p:cNvSpPr>
            <a:spLocks noGrp="1"/>
          </p:cNvSpPr>
          <p:nvPr>
            <p:ph type="title"/>
          </p:nvPr>
        </p:nvSpPr>
        <p:spPr>
          <a:xfrm>
            <a:off x="761803" y="350196"/>
            <a:ext cx="4646904" cy="1624520"/>
          </a:xfrm>
        </p:spPr>
        <p:txBody>
          <a:bodyPr anchor="ctr">
            <a:normAutofit/>
          </a:bodyPr>
          <a:lstStyle/>
          <a:p>
            <a:r>
              <a:rPr lang="en-CA" sz="4000"/>
              <a:t>The human role</a:t>
            </a:r>
          </a:p>
        </p:txBody>
      </p:sp>
      <p:sp>
        <p:nvSpPr>
          <p:cNvPr id="3" name="Content Placeholder 2">
            <a:extLst>
              <a:ext uri="{FF2B5EF4-FFF2-40B4-BE49-F238E27FC236}">
                <a16:creationId xmlns:a16="http://schemas.microsoft.com/office/drawing/2014/main" id="{B1A1947F-E110-9FF8-4CB0-9E2530D660F6}"/>
              </a:ext>
            </a:extLst>
          </p:cNvPr>
          <p:cNvSpPr>
            <a:spLocks noGrp="1"/>
          </p:cNvSpPr>
          <p:nvPr>
            <p:ph idx="1"/>
          </p:nvPr>
        </p:nvSpPr>
        <p:spPr>
          <a:xfrm>
            <a:off x="761802" y="2743200"/>
            <a:ext cx="4646905" cy="3613149"/>
          </a:xfrm>
        </p:spPr>
        <p:txBody>
          <a:bodyPr anchor="ctr">
            <a:normAutofit/>
          </a:bodyPr>
          <a:lstStyle/>
          <a:p>
            <a:r>
              <a:rPr lang="en-CA" sz="2000"/>
              <a:t>Provide context to the agents</a:t>
            </a:r>
          </a:p>
          <a:p>
            <a:r>
              <a:rPr lang="en-CA" sz="2000"/>
              <a:t>Provide positive and negative feedback to completed work</a:t>
            </a:r>
          </a:p>
          <a:p>
            <a:r>
              <a:rPr lang="en-CA" sz="2000"/>
              <a:t>Review and approve all changes</a:t>
            </a:r>
          </a:p>
          <a:p>
            <a:r>
              <a:rPr lang="en-CA" sz="2000"/>
              <a:t>Set direction and priorities</a:t>
            </a:r>
          </a:p>
        </p:txBody>
      </p:sp>
      <p:pic>
        <p:nvPicPr>
          <p:cNvPr id="16" name="Picture 15" descr="Colorful carved figures of humans">
            <a:extLst>
              <a:ext uri="{FF2B5EF4-FFF2-40B4-BE49-F238E27FC236}">
                <a16:creationId xmlns:a16="http://schemas.microsoft.com/office/drawing/2014/main" id="{C79A06BB-E093-37F0-A91D-9B8D972306BB}"/>
              </a:ext>
            </a:extLst>
          </p:cNvPr>
          <p:cNvPicPr>
            <a:picLocks noChangeAspect="1"/>
          </p:cNvPicPr>
          <p:nvPr/>
        </p:nvPicPr>
        <p:blipFill>
          <a:blip r:embed="rId2"/>
          <a:srcRect l="18414" r="18181" b="-1"/>
          <a:stretch>
            <a:fillRect/>
          </a:stretch>
        </p:blipFill>
        <p:spPr>
          <a:xfrm>
            <a:off x="6096000" y="1"/>
            <a:ext cx="6102825" cy="6858000"/>
          </a:xfrm>
          <a:prstGeom prst="rect">
            <a:avLst/>
          </a:prstGeom>
        </p:spPr>
      </p:pic>
    </p:spTree>
    <p:extLst>
      <p:ext uri="{BB962C8B-B14F-4D97-AF65-F5344CB8AC3E}">
        <p14:creationId xmlns:p14="http://schemas.microsoft.com/office/powerpoint/2010/main" val="3240704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A7646D-5745-AC42-7FED-53173C4883F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5D2D0A-4528-D7F4-0635-F57CDB9841B4}"/>
              </a:ext>
            </a:extLst>
          </p:cNvPr>
          <p:cNvSpPr>
            <a:spLocks noGrp="1"/>
          </p:cNvSpPr>
          <p:nvPr>
            <p:ph type="title"/>
          </p:nvPr>
        </p:nvSpPr>
        <p:spPr>
          <a:xfrm>
            <a:off x="686834" y="1153572"/>
            <a:ext cx="3200400" cy="4461163"/>
          </a:xfrm>
        </p:spPr>
        <p:txBody>
          <a:bodyPr>
            <a:normAutofit/>
          </a:bodyPr>
          <a:lstStyle/>
          <a:p>
            <a:r>
              <a:rPr lang="en-CA">
                <a:solidFill>
                  <a:srgbClr val="FFFFFF"/>
                </a:solidFill>
              </a:rPr>
              <a:t>Risks</a:t>
            </a:r>
            <a:endParaRPr lang="en-CA" dirty="0">
              <a:solidFill>
                <a:srgbClr val="FFFFFF"/>
              </a:solidFill>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ADC9AB9-B53A-C55C-6575-CD0C47FAD97A}"/>
              </a:ext>
            </a:extLst>
          </p:cNvPr>
          <p:cNvSpPr>
            <a:spLocks noGrp="1"/>
          </p:cNvSpPr>
          <p:nvPr>
            <p:ph idx="1"/>
          </p:nvPr>
        </p:nvSpPr>
        <p:spPr>
          <a:xfrm>
            <a:off x="4447308" y="215153"/>
            <a:ext cx="7457821" cy="6323759"/>
          </a:xfrm>
        </p:spPr>
        <p:txBody>
          <a:bodyPr anchor="ctr">
            <a:normAutofit/>
          </a:bodyPr>
          <a:lstStyle/>
          <a:p>
            <a:pPr>
              <a:spcBef>
                <a:spcPts val="1200"/>
              </a:spcBef>
            </a:pPr>
            <a:r>
              <a:rPr lang="en-US" sz="1800" dirty="0">
                <a:effectLst/>
                <a:latin typeface="Aptos" panose="020B0004020202020204" pitchFamily="34" charset="0"/>
              </a:rPr>
              <a:t>GitHub Copilot is advancing quickly, with numerous features still in preview and no assurance they will be officially released </a:t>
            </a:r>
            <a:r>
              <a:rPr lang="en-US" sz="1800" dirty="0">
                <a:latin typeface="Aptos" panose="020B0004020202020204" pitchFamily="34" charset="0"/>
              </a:rPr>
              <a:t>soon. This space is also changing at an incredible pace (likely due to the use of AI augmented development). GitHub just release Agent HQ, and Sparks v2, Figma has a tool, Cursor, Claude Code.</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The MCP registry is currently unstable. I am working with multiple MCP servers from this registry, and agents often report bugs, which means </a:t>
            </a:r>
            <a:r>
              <a:rPr lang="en-US" sz="1800" dirty="0" err="1">
                <a:effectLst/>
                <a:latin typeface="Aptos" panose="020B0004020202020204" pitchFamily="34" charset="0"/>
              </a:rPr>
              <a:t>CodeLantern</a:t>
            </a:r>
            <a:r>
              <a:rPr lang="en-US" sz="1800" dirty="0">
                <a:effectLst/>
                <a:latin typeface="Aptos" panose="020B0004020202020204" pitchFamily="34" charset="0"/>
              </a:rPr>
              <a:t> is being developed in a constantly evolving environment.</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GitHub Copilot maintains complete control; for example, it limits coding agents to work exclusively with Anthropic Sonnet, including any custom agents you develop.</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The cost of GitHub Copilot licenses ranges between $15 and $30 USD per user each month, covering the main features. There is no way the costs can stay this low. I am paying $30 per month for 300 premium sessions, which translates into 125-150 completed work items per month.  My guess is that this is going to increase significantly which may cause customers to shy away from the technology.</a:t>
            </a:r>
          </a:p>
          <a:p>
            <a:pPr marL="228600" indent="-228600" rtl="0" eaLnBrk="1" latinLnBrk="0" hangingPunct="1">
              <a:spcBef>
                <a:spcPts val="1200"/>
              </a:spcBef>
              <a:buFont typeface="Arial" panose="020B0604020202020204" pitchFamily="34" charset="0"/>
              <a:buChar char="•"/>
            </a:pPr>
            <a:r>
              <a:rPr lang="en-US" sz="1800" dirty="0">
                <a:latin typeface="Aptos" panose="020B0004020202020204" pitchFamily="34" charset="0"/>
              </a:rPr>
              <a:t>Agent Drift – This is real. You can give the same context, instructions, archetypes, at the exact same spot in the repository and will produce results with variation. </a:t>
            </a:r>
            <a:endParaRPr lang="en-US" sz="1800" dirty="0">
              <a:effectLst/>
              <a:latin typeface="Aptos" panose="020B0004020202020204" pitchFamily="34" charset="0"/>
            </a:endParaRPr>
          </a:p>
        </p:txBody>
      </p:sp>
    </p:spTree>
    <p:extLst>
      <p:ext uri="{BB962C8B-B14F-4D97-AF65-F5344CB8AC3E}">
        <p14:creationId xmlns:p14="http://schemas.microsoft.com/office/powerpoint/2010/main" val="3129339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DADFEC-A2C0-8695-0D8D-6F78BBDCF829}"/>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3DFC4D-88DF-3340-ED2C-DF2E0D7FE436}"/>
              </a:ext>
            </a:extLst>
          </p:cNvPr>
          <p:cNvSpPr>
            <a:spLocks noGrp="1"/>
          </p:cNvSpPr>
          <p:nvPr>
            <p:ph type="title"/>
          </p:nvPr>
        </p:nvSpPr>
        <p:spPr>
          <a:xfrm>
            <a:off x="956826" y="1112969"/>
            <a:ext cx="3937298" cy="4166010"/>
          </a:xfrm>
        </p:spPr>
        <p:txBody>
          <a:bodyPr>
            <a:normAutofit/>
          </a:bodyPr>
          <a:lstStyle/>
          <a:p>
            <a:r>
              <a:rPr lang="en-CA" dirty="0">
                <a:solidFill>
                  <a:srgbClr val="FFFFFF"/>
                </a:solidFill>
              </a:rPr>
              <a:t>Phased Approach?</a:t>
            </a:r>
          </a:p>
        </p:txBody>
      </p:sp>
      <p:sp>
        <p:nvSpPr>
          <p:cNvPr id="26" name="Freeform: Shape 25">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84FCCDE-3018-78B8-49A8-3DA565C36FCC}"/>
              </a:ext>
            </a:extLst>
          </p:cNvPr>
          <p:cNvSpPr>
            <a:spLocks noGrp="1"/>
          </p:cNvSpPr>
          <p:nvPr>
            <p:ph idx="1"/>
          </p:nvPr>
        </p:nvSpPr>
        <p:spPr>
          <a:xfrm>
            <a:off x="6096000" y="1011045"/>
            <a:ext cx="5404658" cy="4889350"/>
          </a:xfrm>
        </p:spPr>
        <p:txBody>
          <a:bodyPr anchor="t">
            <a:normAutofit lnSpcReduction="10000"/>
          </a:bodyPr>
          <a:lstStyle/>
          <a:p>
            <a:r>
              <a:rPr lang="en-CA" sz="2000" dirty="0"/>
              <a:t>Start as a service company until enough artifacts are battle tested that they can be packaged as subscription service</a:t>
            </a:r>
          </a:p>
          <a:p>
            <a:r>
              <a:rPr lang="en-CA" sz="2000" dirty="0"/>
              <a:t>This will also allow MCP servers to “settle” with increased reliability</a:t>
            </a:r>
          </a:p>
          <a:p>
            <a:r>
              <a:rPr lang="en-CA" sz="2000" dirty="0"/>
              <a:t>It will take time (and experts) to construct archetypes, finalize agents and workflows</a:t>
            </a:r>
          </a:p>
          <a:p>
            <a:r>
              <a:rPr lang="en-CA" sz="2000" dirty="0"/>
              <a:t>Ability to generate revenue while building/testing artifacts and the MCP server </a:t>
            </a:r>
          </a:p>
          <a:p>
            <a:r>
              <a:rPr lang="en-CA" sz="2000" dirty="0"/>
              <a:t>Once the tech is proven we can start licensing it or include it with the consulting but sell at a much higher hourly rate. </a:t>
            </a:r>
          </a:p>
          <a:p>
            <a:r>
              <a:rPr lang="en-CA" sz="2000" dirty="0"/>
              <a:t>Phase 1 – Enablement, embedded consulting</a:t>
            </a:r>
          </a:p>
          <a:p>
            <a:r>
              <a:rPr lang="en-CA" sz="2000" dirty="0"/>
              <a:t>Phase 2 – Use A2D to modernize apps and solve business problems.</a:t>
            </a:r>
          </a:p>
        </p:txBody>
      </p:sp>
      <p:sp>
        <p:nvSpPr>
          <p:cNvPr id="32" name="Freeform: Shape 31">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293233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8284C5A-405F-1A36-9956-9BB8A2272F90}"/>
              </a:ext>
            </a:extLst>
          </p:cNvPr>
          <p:cNvPicPr>
            <a:picLocks noChangeAspect="1"/>
          </p:cNvPicPr>
          <p:nvPr/>
        </p:nvPicPr>
        <p:blipFill>
          <a:blip r:embed="rId2">
            <a:duotone>
              <a:schemeClr val="bg2">
                <a:shade val="45000"/>
                <a:satMod val="135000"/>
              </a:schemeClr>
              <a:prstClr val="white"/>
            </a:duotone>
          </a:blip>
          <a:srcRect/>
          <a:stretch>
            <a:fillRect/>
          </a:stretch>
        </p:blipFill>
        <p:spPr>
          <a:xfrm>
            <a:off x="20" y="10"/>
            <a:ext cx="12191980" cy="6857990"/>
          </a:xfrm>
          <a:prstGeom prst="rect">
            <a:avLst/>
          </a:prstGeom>
        </p:spPr>
      </p:pic>
      <p:sp>
        <p:nvSpPr>
          <p:cNvPr id="21" name="Rectangle 2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C6803C-CACE-7506-D820-38B6FC3C6E8A}"/>
              </a:ext>
            </a:extLst>
          </p:cNvPr>
          <p:cNvSpPr>
            <a:spLocks noGrp="1"/>
          </p:cNvSpPr>
          <p:nvPr>
            <p:ph type="title"/>
          </p:nvPr>
        </p:nvSpPr>
        <p:spPr>
          <a:xfrm>
            <a:off x="838200" y="365125"/>
            <a:ext cx="10515600" cy="1325563"/>
          </a:xfrm>
        </p:spPr>
        <p:txBody>
          <a:bodyPr>
            <a:normAutofit/>
          </a:bodyPr>
          <a:lstStyle/>
          <a:p>
            <a:r>
              <a:rPr lang="en-US"/>
              <a:t>What to do with the funds?</a:t>
            </a:r>
            <a:endParaRPr lang="en-CA"/>
          </a:p>
        </p:txBody>
      </p:sp>
      <p:graphicFrame>
        <p:nvGraphicFramePr>
          <p:cNvPr id="5" name="Content Placeholder 2">
            <a:extLst>
              <a:ext uri="{FF2B5EF4-FFF2-40B4-BE49-F238E27FC236}">
                <a16:creationId xmlns:a16="http://schemas.microsoft.com/office/drawing/2014/main" id="{C5E649A4-19D1-ED18-6EC2-EBEF20209CA0}"/>
              </a:ext>
            </a:extLst>
          </p:cNvPr>
          <p:cNvGraphicFramePr>
            <a:graphicFrameLocks noGrp="1"/>
          </p:cNvGraphicFramePr>
          <p:nvPr>
            <p:ph idx="1"/>
            <p:extLst>
              <p:ext uri="{D42A27DB-BD31-4B8C-83A1-F6EECF244321}">
                <p14:modId xmlns:p14="http://schemas.microsoft.com/office/powerpoint/2010/main" val="3939526777"/>
              </p:ext>
            </p:extLst>
          </p:nvPr>
        </p:nvGraphicFramePr>
        <p:xfrm>
          <a:off x="838200" y="1825624"/>
          <a:ext cx="10515600" cy="49617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9621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8135CE-3E6A-AC4A-EBF8-20ACA425AC10}"/>
              </a:ext>
            </a:extLst>
          </p:cNvPr>
          <p:cNvSpPr>
            <a:spLocks noGrp="1"/>
          </p:cNvSpPr>
          <p:nvPr>
            <p:ph type="title"/>
          </p:nvPr>
        </p:nvSpPr>
        <p:spPr>
          <a:xfrm>
            <a:off x="686834" y="1153572"/>
            <a:ext cx="3200400" cy="4461163"/>
          </a:xfrm>
        </p:spPr>
        <p:txBody>
          <a:bodyPr>
            <a:normAutofit/>
          </a:bodyPr>
          <a:lstStyle/>
          <a:p>
            <a:r>
              <a:rPr lang="en-CA">
                <a:solidFill>
                  <a:srgbClr val="FFFFFF"/>
                </a:solidFill>
              </a:rPr>
              <a:t>Next Steps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DE09618-E926-F0DC-1E4E-7EF92D197D36}"/>
              </a:ext>
            </a:extLst>
          </p:cNvPr>
          <p:cNvSpPr>
            <a:spLocks noGrp="1"/>
          </p:cNvSpPr>
          <p:nvPr>
            <p:ph idx="1"/>
          </p:nvPr>
        </p:nvSpPr>
        <p:spPr>
          <a:xfrm>
            <a:off x="4447308" y="591344"/>
            <a:ext cx="6906491" cy="5585619"/>
          </a:xfrm>
        </p:spPr>
        <p:txBody>
          <a:bodyPr anchor="ctr">
            <a:normAutofit lnSpcReduction="10000"/>
          </a:bodyPr>
          <a:lstStyle/>
          <a:p>
            <a:r>
              <a:rPr lang="en-CA" dirty="0"/>
              <a:t>Work on funding</a:t>
            </a:r>
          </a:p>
          <a:p>
            <a:r>
              <a:rPr lang="en-CA" dirty="0"/>
              <a:t>Work on securing Jeff, Nick, Peter</a:t>
            </a:r>
          </a:p>
          <a:p>
            <a:r>
              <a:rPr lang="en-CA" dirty="0"/>
              <a:t>Publish working demo of MVP:</a:t>
            </a:r>
          </a:p>
          <a:p>
            <a:pPr lvl="1"/>
            <a:r>
              <a:rPr lang="en-CA" dirty="0"/>
              <a:t>Planning agent </a:t>
            </a:r>
          </a:p>
          <a:p>
            <a:pPr lvl="1"/>
            <a:r>
              <a:rPr lang="en-CA" dirty="0"/>
              <a:t>Architect agent</a:t>
            </a:r>
          </a:p>
          <a:p>
            <a:pPr lvl="1"/>
            <a:r>
              <a:rPr lang="en-CA" dirty="0"/>
              <a:t>Coding agent</a:t>
            </a:r>
          </a:p>
          <a:p>
            <a:pPr lvl="1"/>
            <a:r>
              <a:rPr lang="en-CA" dirty="0"/>
              <a:t>Deployment agent</a:t>
            </a:r>
          </a:p>
          <a:p>
            <a:r>
              <a:rPr lang="en-CA" dirty="0"/>
              <a:t>Document and diagram workflows that can be used in conjunction with demos to attract delivery consultants and first set of customers</a:t>
            </a:r>
          </a:p>
          <a:p>
            <a:r>
              <a:rPr lang="en-CA" dirty="0"/>
              <a:t>Work on Designer workflow demo (this will be real wow factor)</a:t>
            </a:r>
          </a:p>
          <a:p>
            <a:r>
              <a:rPr lang="en-CA" dirty="0"/>
              <a:t>Work on custom MCP to hide IP</a:t>
            </a:r>
          </a:p>
        </p:txBody>
      </p:sp>
    </p:spTree>
    <p:extLst>
      <p:ext uri="{BB962C8B-B14F-4D97-AF65-F5344CB8AC3E}">
        <p14:creationId xmlns:p14="http://schemas.microsoft.com/office/powerpoint/2010/main" val="1337140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90730-0B4F-0E9A-07C4-157EBE3CE4EA}"/>
              </a:ext>
            </a:extLst>
          </p:cNvPr>
          <p:cNvSpPr>
            <a:spLocks noGrp="1"/>
          </p:cNvSpPr>
          <p:nvPr>
            <p:ph type="title"/>
          </p:nvPr>
        </p:nvSpPr>
        <p:spPr>
          <a:xfrm>
            <a:off x="838200" y="365125"/>
            <a:ext cx="6415785" cy="939973"/>
          </a:xfrm>
        </p:spPr>
        <p:txBody>
          <a:bodyPr/>
          <a:lstStyle/>
          <a:p>
            <a:r>
              <a:rPr lang="en-CA" dirty="0"/>
              <a:t>Nick Van Exan</a:t>
            </a:r>
          </a:p>
        </p:txBody>
      </p:sp>
      <p:sp>
        <p:nvSpPr>
          <p:cNvPr id="3" name="Content Placeholder 2">
            <a:extLst>
              <a:ext uri="{FF2B5EF4-FFF2-40B4-BE49-F238E27FC236}">
                <a16:creationId xmlns:a16="http://schemas.microsoft.com/office/drawing/2014/main" id="{4A8D38D4-0B43-1505-F3B2-DB8928DBAFAC}"/>
              </a:ext>
            </a:extLst>
          </p:cNvPr>
          <p:cNvSpPr>
            <a:spLocks noGrp="1"/>
          </p:cNvSpPr>
          <p:nvPr>
            <p:ph idx="1"/>
          </p:nvPr>
        </p:nvSpPr>
        <p:spPr>
          <a:xfrm>
            <a:off x="755073" y="1464021"/>
            <a:ext cx="6369874" cy="4351338"/>
          </a:xfrm>
        </p:spPr>
        <p:txBody>
          <a:bodyPr>
            <a:normAutofit lnSpcReduction="10000"/>
          </a:bodyPr>
          <a:lstStyle/>
          <a:p>
            <a:r>
              <a:rPr lang="en-CA" sz="2400" dirty="0"/>
              <a:t>He’s interested in joining – sick of his day job at Centrilogic</a:t>
            </a:r>
          </a:p>
          <a:p>
            <a:r>
              <a:rPr lang="en-CA" sz="2400" dirty="0"/>
              <a:t>He’s only signed until Nov 30, but there is an extension looming</a:t>
            </a:r>
          </a:p>
          <a:p>
            <a:r>
              <a:rPr lang="en-CA" sz="2400" dirty="0"/>
              <a:t>He currently makes $125 per hour – 20+K per month.</a:t>
            </a:r>
          </a:p>
          <a:p>
            <a:r>
              <a:rPr lang="en-CA" sz="2400" dirty="0"/>
              <a:t>He is asking for 15K per month for full time work hours and to offset the difference either a bonus or some equity (or both)</a:t>
            </a:r>
          </a:p>
          <a:p>
            <a:r>
              <a:rPr lang="en-CA" sz="2400" dirty="0"/>
              <a:t>My hope is that we can get him at least part time in Jan, then full time starting Feb 1</a:t>
            </a:r>
          </a:p>
          <a:p>
            <a:r>
              <a:rPr lang="en-CA" sz="2400" dirty="0"/>
              <a:t>Budget 175K for the year</a:t>
            </a:r>
          </a:p>
          <a:p>
            <a:endParaRPr lang="en-CA" sz="2400" dirty="0"/>
          </a:p>
          <a:p>
            <a:endParaRPr lang="en-CA" sz="2400" dirty="0"/>
          </a:p>
          <a:p>
            <a:endParaRPr lang="en-CA" sz="2400" dirty="0"/>
          </a:p>
        </p:txBody>
      </p:sp>
      <p:pic>
        <p:nvPicPr>
          <p:cNvPr id="7" name="Picture 6" descr="A screenshot of a chat&#10;&#10;AI-generated content may be incorrect.">
            <a:extLst>
              <a:ext uri="{FF2B5EF4-FFF2-40B4-BE49-F238E27FC236}">
                <a16:creationId xmlns:a16="http://schemas.microsoft.com/office/drawing/2014/main" id="{F2CDD3A4-3D42-C4B1-9C6D-CF12F7AA93F6}"/>
              </a:ext>
            </a:extLst>
          </p:cNvPr>
          <p:cNvPicPr>
            <a:picLocks noChangeAspect="1"/>
          </p:cNvPicPr>
          <p:nvPr/>
        </p:nvPicPr>
        <p:blipFill>
          <a:blip r:embed="rId2"/>
          <a:stretch>
            <a:fillRect/>
          </a:stretch>
        </p:blipFill>
        <p:spPr>
          <a:xfrm>
            <a:off x="7423374" y="0"/>
            <a:ext cx="4736969" cy="6858000"/>
          </a:xfrm>
          <a:prstGeom prst="rect">
            <a:avLst/>
          </a:prstGeom>
        </p:spPr>
      </p:pic>
    </p:spTree>
    <p:extLst>
      <p:ext uri="{BB962C8B-B14F-4D97-AF65-F5344CB8AC3E}">
        <p14:creationId xmlns:p14="http://schemas.microsoft.com/office/powerpoint/2010/main" val="30365349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4D2EF-8DA9-4AC7-7416-91236789F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1D76D-2BFC-06B6-0491-68405CA24943}"/>
              </a:ext>
            </a:extLst>
          </p:cNvPr>
          <p:cNvSpPr>
            <a:spLocks noGrp="1"/>
          </p:cNvSpPr>
          <p:nvPr>
            <p:ph type="title"/>
          </p:nvPr>
        </p:nvSpPr>
        <p:spPr>
          <a:xfrm>
            <a:off x="838200" y="365125"/>
            <a:ext cx="6415785" cy="939973"/>
          </a:xfrm>
        </p:spPr>
        <p:txBody>
          <a:bodyPr/>
          <a:lstStyle/>
          <a:p>
            <a:r>
              <a:rPr lang="en-CA" dirty="0"/>
              <a:t>Jeff Zado</a:t>
            </a:r>
          </a:p>
        </p:txBody>
      </p:sp>
      <p:sp>
        <p:nvSpPr>
          <p:cNvPr id="3" name="Content Placeholder 2">
            <a:extLst>
              <a:ext uri="{FF2B5EF4-FFF2-40B4-BE49-F238E27FC236}">
                <a16:creationId xmlns:a16="http://schemas.microsoft.com/office/drawing/2014/main" id="{68ED176A-1407-11C8-E31D-67438449B6E1}"/>
              </a:ext>
            </a:extLst>
          </p:cNvPr>
          <p:cNvSpPr>
            <a:spLocks noGrp="1"/>
          </p:cNvSpPr>
          <p:nvPr>
            <p:ph idx="1"/>
          </p:nvPr>
        </p:nvSpPr>
        <p:spPr>
          <a:xfrm>
            <a:off x="755072" y="1464021"/>
            <a:ext cx="9802092" cy="4351338"/>
          </a:xfrm>
        </p:spPr>
        <p:txBody>
          <a:bodyPr>
            <a:noAutofit/>
          </a:bodyPr>
          <a:lstStyle/>
          <a:p>
            <a:pPr>
              <a:lnSpc>
                <a:spcPct val="100000"/>
              </a:lnSpc>
              <a:spcBef>
                <a:spcPts val="600"/>
              </a:spcBef>
            </a:pPr>
            <a:r>
              <a:rPr lang="en-CA" sz="2000" dirty="0"/>
              <a:t>He’s very interested – called me as soon as we hung up today, but will only commit part time, which I think works in our favor.</a:t>
            </a:r>
          </a:p>
          <a:p>
            <a:pPr>
              <a:lnSpc>
                <a:spcPct val="100000"/>
              </a:lnSpc>
              <a:spcBef>
                <a:spcPts val="600"/>
              </a:spcBef>
            </a:pPr>
            <a:r>
              <a:rPr lang="en-CA" sz="2000" dirty="0"/>
              <a:t>20-24 hours per week.</a:t>
            </a:r>
          </a:p>
          <a:p>
            <a:pPr>
              <a:lnSpc>
                <a:spcPct val="100000"/>
              </a:lnSpc>
              <a:spcBef>
                <a:spcPts val="600"/>
              </a:spcBef>
            </a:pPr>
            <a:r>
              <a:rPr lang="en-CA" sz="2000" dirty="0"/>
              <a:t>He didn’t request a specific $$$ amount – but I know Centrilogic was paying him 10k a month for 12 days of work. I know we could get him for less assuming there was upside for him.  His day-to-day life expense are covered already.</a:t>
            </a:r>
          </a:p>
          <a:p>
            <a:pPr>
              <a:lnSpc>
                <a:spcPct val="100000"/>
              </a:lnSpc>
              <a:spcBef>
                <a:spcPts val="600"/>
              </a:spcBef>
            </a:pPr>
            <a:r>
              <a:rPr lang="en-CA" sz="2000" dirty="0"/>
              <a:t>He would like any company related expenses covered: IE, lunches / dinners with clients, travel, attending GitHub universe, etc.</a:t>
            </a:r>
          </a:p>
          <a:p>
            <a:pPr>
              <a:lnSpc>
                <a:spcPct val="100000"/>
              </a:lnSpc>
              <a:spcBef>
                <a:spcPts val="600"/>
              </a:spcBef>
            </a:pPr>
            <a:r>
              <a:rPr lang="en-CA" sz="2000" dirty="0"/>
              <a:t>More important to him was “participating” in the company success – whether that is an equity buy in at some point and/or commission percentage. </a:t>
            </a:r>
          </a:p>
          <a:p>
            <a:pPr>
              <a:lnSpc>
                <a:spcPct val="100000"/>
              </a:lnSpc>
              <a:spcBef>
                <a:spcPts val="600"/>
              </a:spcBef>
            </a:pPr>
            <a:r>
              <a:rPr lang="en-CA" sz="2000" dirty="0"/>
              <a:t>I asked his interest in shared commission strategy with Peter so that they could drive this together, which he liked.</a:t>
            </a:r>
          </a:p>
          <a:p>
            <a:pPr>
              <a:lnSpc>
                <a:spcPct val="100000"/>
              </a:lnSpc>
              <a:spcBef>
                <a:spcPts val="600"/>
              </a:spcBef>
            </a:pPr>
            <a:endParaRPr lang="en-CA" sz="2000" dirty="0"/>
          </a:p>
          <a:p>
            <a:pPr>
              <a:lnSpc>
                <a:spcPct val="100000"/>
              </a:lnSpc>
              <a:spcBef>
                <a:spcPts val="600"/>
              </a:spcBef>
            </a:pPr>
            <a:endParaRPr lang="en-CA" sz="2000" dirty="0"/>
          </a:p>
          <a:p>
            <a:pPr>
              <a:lnSpc>
                <a:spcPct val="100000"/>
              </a:lnSpc>
              <a:spcBef>
                <a:spcPts val="600"/>
              </a:spcBef>
            </a:pPr>
            <a:endParaRPr lang="en-CA" sz="2000" dirty="0"/>
          </a:p>
        </p:txBody>
      </p:sp>
    </p:spTree>
    <p:extLst>
      <p:ext uri="{BB962C8B-B14F-4D97-AF65-F5344CB8AC3E}">
        <p14:creationId xmlns:p14="http://schemas.microsoft.com/office/powerpoint/2010/main" val="3917364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75449-DC2C-8B23-8F7D-D0F3518C6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0DA9FA-16BC-565B-E3C2-415E7A8C095B}"/>
              </a:ext>
            </a:extLst>
          </p:cNvPr>
          <p:cNvSpPr>
            <a:spLocks noGrp="1"/>
          </p:cNvSpPr>
          <p:nvPr>
            <p:ph type="title"/>
          </p:nvPr>
        </p:nvSpPr>
        <p:spPr>
          <a:xfrm>
            <a:off x="838200" y="365125"/>
            <a:ext cx="6415785" cy="939973"/>
          </a:xfrm>
        </p:spPr>
        <p:txBody>
          <a:bodyPr/>
          <a:lstStyle/>
          <a:p>
            <a:r>
              <a:rPr lang="en-CA" dirty="0"/>
              <a:t>Peter Vander Zouwe</a:t>
            </a:r>
          </a:p>
        </p:txBody>
      </p:sp>
      <p:sp>
        <p:nvSpPr>
          <p:cNvPr id="3" name="Content Placeholder 2">
            <a:extLst>
              <a:ext uri="{FF2B5EF4-FFF2-40B4-BE49-F238E27FC236}">
                <a16:creationId xmlns:a16="http://schemas.microsoft.com/office/drawing/2014/main" id="{E5F6665B-467F-269A-7898-CE43A3B16187}"/>
              </a:ext>
            </a:extLst>
          </p:cNvPr>
          <p:cNvSpPr>
            <a:spLocks noGrp="1"/>
          </p:cNvSpPr>
          <p:nvPr>
            <p:ph idx="1"/>
          </p:nvPr>
        </p:nvSpPr>
        <p:spPr>
          <a:xfrm>
            <a:off x="755072" y="1464021"/>
            <a:ext cx="8667403" cy="4351338"/>
          </a:xfrm>
        </p:spPr>
        <p:txBody>
          <a:bodyPr>
            <a:normAutofit fontScale="92500" lnSpcReduction="20000"/>
          </a:bodyPr>
          <a:lstStyle/>
          <a:p>
            <a:r>
              <a:rPr lang="en-CA" sz="2400" dirty="0"/>
              <a:t>He’s very interested as well –he called me back with his numbers 2 hours after we hung up (not as fast as Jeff, but he needed to discuss with his wife AND his situation is not as easy as Jeff because he needs to plan an exit at Centrilogic)</a:t>
            </a:r>
          </a:p>
          <a:p>
            <a:r>
              <a:rPr lang="en-CA" sz="2400" dirty="0"/>
              <a:t>He is not happy at Centrilogic and not thrilled with their ability to execute in 2026. </a:t>
            </a:r>
          </a:p>
          <a:p>
            <a:r>
              <a:rPr lang="en-CA" sz="2400" dirty="0"/>
              <a:t>He would be really happy to be able to work with me again (and the Mikes in whatever capacity that is).</a:t>
            </a:r>
          </a:p>
          <a:p>
            <a:r>
              <a:rPr lang="en-CA" sz="2400" dirty="0"/>
              <a:t>Peter makes a </a:t>
            </a:r>
            <a:r>
              <a:rPr lang="en-CA" sz="2200" dirty="0"/>
              <a:t>current</a:t>
            </a:r>
            <a:r>
              <a:rPr lang="en-CA" sz="2400" dirty="0"/>
              <a:t> base of 8K per month ~ 100K per year. He needs to see at least that to cover his monthly expenses.</a:t>
            </a:r>
          </a:p>
          <a:p>
            <a:r>
              <a:rPr lang="en-CA" sz="2400" dirty="0"/>
              <a:t>He would be open to a shared commission model with Jeff and taking less commission if it meant being able to get equity moving forward.  </a:t>
            </a:r>
          </a:p>
          <a:p>
            <a:r>
              <a:rPr lang="en-CA" sz="2400" dirty="0"/>
              <a:t>He also mentioned having a piece or stake in the company success would be greatly appreciated. </a:t>
            </a:r>
          </a:p>
          <a:p>
            <a:endParaRPr lang="en-CA" sz="2400" dirty="0"/>
          </a:p>
          <a:p>
            <a:endParaRPr lang="en-CA" sz="2400" dirty="0"/>
          </a:p>
          <a:p>
            <a:endParaRPr lang="en-CA" sz="2400" dirty="0"/>
          </a:p>
        </p:txBody>
      </p:sp>
    </p:spTree>
    <p:extLst>
      <p:ext uri="{BB962C8B-B14F-4D97-AF65-F5344CB8AC3E}">
        <p14:creationId xmlns:p14="http://schemas.microsoft.com/office/powerpoint/2010/main" val="600268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2E4EA-7D7C-1E49-23CF-A2DADAB14710}"/>
              </a:ext>
            </a:extLst>
          </p:cNvPr>
          <p:cNvSpPr>
            <a:spLocks noGrp="1"/>
          </p:cNvSpPr>
          <p:nvPr>
            <p:ph type="title"/>
          </p:nvPr>
        </p:nvSpPr>
        <p:spPr>
          <a:xfrm>
            <a:off x="98367" y="36772"/>
            <a:ext cx="10515600" cy="590839"/>
          </a:xfrm>
        </p:spPr>
        <p:txBody>
          <a:bodyPr>
            <a:normAutofit fontScale="90000"/>
          </a:bodyPr>
          <a:lstStyle/>
          <a:p>
            <a:r>
              <a:rPr lang="en-CA" dirty="0"/>
              <a:t>Minimize Burn</a:t>
            </a:r>
          </a:p>
        </p:txBody>
      </p:sp>
      <p:sp>
        <p:nvSpPr>
          <p:cNvPr id="3" name="Content Placeholder 2">
            <a:extLst>
              <a:ext uri="{FF2B5EF4-FFF2-40B4-BE49-F238E27FC236}">
                <a16:creationId xmlns:a16="http://schemas.microsoft.com/office/drawing/2014/main" id="{867448E3-DA22-5475-453F-E3B26E9837FB}"/>
              </a:ext>
            </a:extLst>
          </p:cNvPr>
          <p:cNvSpPr>
            <a:spLocks noGrp="1"/>
          </p:cNvSpPr>
          <p:nvPr>
            <p:ph idx="1"/>
          </p:nvPr>
        </p:nvSpPr>
        <p:spPr>
          <a:xfrm>
            <a:off x="220287" y="686781"/>
            <a:ext cx="11600411" cy="6000807"/>
          </a:xfrm>
        </p:spPr>
        <p:txBody>
          <a:bodyPr>
            <a:noAutofit/>
          </a:bodyPr>
          <a:lstStyle/>
          <a:p>
            <a:pPr>
              <a:lnSpc>
                <a:spcPct val="100000"/>
              </a:lnSpc>
              <a:spcBef>
                <a:spcPts val="600"/>
              </a:spcBef>
            </a:pPr>
            <a:r>
              <a:rPr lang="en-CA" sz="1600" dirty="0"/>
              <a:t>I am going to work on this regardless of what happens from now until the Christmas break. All day every day so that we have an MVP ASAP.</a:t>
            </a:r>
          </a:p>
          <a:p>
            <a:pPr>
              <a:lnSpc>
                <a:spcPct val="100000"/>
              </a:lnSpc>
              <a:spcBef>
                <a:spcPts val="600"/>
              </a:spcBef>
            </a:pPr>
            <a:r>
              <a:rPr lang="en-CA" sz="1600" dirty="0"/>
              <a:t>Not everyone can start Jan 1. Likely only Jeff and me. Nick and Peter will need to execute exit strategies at Centrilogic and will likely be part time until this happens.  Nick’s time in the beginning is more important than Peters.</a:t>
            </a:r>
          </a:p>
          <a:p>
            <a:pPr>
              <a:lnSpc>
                <a:spcPct val="100000"/>
              </a:lnSpc>
              <a:spcBef>
                <a:spcPts val="600"/>
              </a:spcBef>
            </a:pPr>
            <a:r>
              <a:rPr lang="en-CA" sz="1600" dirty="0"/>
              <a:t>Jeff and Peter could each work 2.5-3 days per week (so together we have 1 sales rep). I have thought of using one or the other, but them working together is something specials. They help motivate and teach each other. They also have different but key relationships at MS and clients. They are both open to a shared commission model. </a:t>
            </a:r>
            <a:r>
              <a:rPr lang="en-CA" sz="1600" dirty="0">
                <a:highlight>
                  <a:srgbClr val="FFFF00"/>
                </a:highlight>
              </a:rPr>
              <a:t>I was thinking they split 8% but would like your opinion on that.</a:t>
            </a:r>
          </a:p>
          <a:p>
            <a:pPr>
              <a:lnSpc>
                <a:spcPct val="100000"/>
              </a:lnSpc>
              <a:spcBef>
                <a:spcPts val="600"/>
              </a:spcBef>
            </a:pPr>
            <a:r>
              <a:rPr lang="en-CA" sz="1600" dirty="0"/>
              <a:t>Jeff will take much less than 10K per month if there is upside for him. He would likely do this for no money if there was more potential upside, so something to consider. I am thinking 5K for budgeting + 4% commission.</a:t>
            </a:r>
          </a:p>
          <a:p>
            <a:pPr>
              <a:lnSpc>
                <a:spcPct val="100000"/>
              </a:lnSpc>
              <a:spcBef>
                <a:spcPts val="600"/>
              </a:spcBef>
            </a:pPr>
            <a:r>
              <a:rPr lang="en-CA" sz="1600" dirty="0"/>
              <a:t>Peter will need the 8K per month as a base, but once commission kick in, he did say he would lower the base. Not sure if that is a positive or negative, but something to consider.  8K + 4% commission + ability to convert</a:t>
            </a:r>
          </a:p>
          <a:p>
            <a:pPr>
              <a:lnSpc>
                <a:spcPct val="100000"/>
              </a:lnSpc>
              <a:spcBef>
                <a:spcPts val="600"/>
              </a:spcBef>
            </a:pPr>
            <a:r>
              <a:rPr lang="en-CA" sz="1600" dirty="0"/>
              <a:t>Nick will likely need the ~15K month as a base (pro-rated based on how many hours he can contribute in a given month).  </a:t>
            </a:r>
          </a:p>
          <a:p>
            <a:pPr>
              <a:lnSpc>
                <a:spcPct val="100000"/>
              </a:lnSpc>
              <a:spcBef>
                <a:spcPts val="600"/>
              </a:spcBef>
            </a:pPr>
            <a:r>
              <a:rPr lang="en-CA" sz="1600" dirty="0"/>
              <a:t>There are some key operating expenses that we cannot avoid, and we do need to budget for sales expenses and attending key conferences like GitHub Universe.</a:t>
            </a:r>
          </a:p>
          <a:p>
            <a:pPr>
              <a:lnSpc>
                <a:spcPct val="100000"/>
              </a:lnSpc>
              <a:spcBef>
                <a:spcPts val="600"/>
              </a:spcBef>
            </a:pPr>
            <a:r>
              <a:rPr lang="en-CA" sz="1600" dirty="0">
                <a:highlight>
                  <a:srgbClr val="FFFF00"/>
                </a:highlight>
              </a:rPr>
              <a:t>At the end of the day – I do want the 3 of them to have the ability to share in success of the company.  BUT, I agree about the buy in part, just like Shane and I did. So, perhaps the idea could be that instead of paying out commissions to Peter and Jeff, we let them convert that into equity at the end of the first year. And for Nick, instead of paying out a bonus as he asked for to get him closer to 20K per month, he can convert that into equity.  And, my thought on converting commission/bonus to equity would be done at some factor (2:1 or 3:2). TO DISCUSS</a:t>
            </a:r>
            <a:r>
              <a:rPr lang="en-CA" sz="1600" dirty="0"/>
              <a:t>.</a:t>
            </a:r>
          </a:p>
          <a:p>
            <a:pPr>
              <a:lnSpc>
                <a:spcPct val="100000"/>
              </a:lnSpc>
              <a:spcBef>
                <a:spcPts val="600"/>
              </a:spcBef>
            </a:pPr>
            <a:endParaRPr lang="en-CA" sz="1600" dirty="0"/>
          </a:p>
        </p:txBody>
      </p:sp>
    </p:spTree>
    <p:extLst>
      <p:ext uri="{BB962C8B-B14F-4D97-AF65-F5344CB8AC3E}">
        <p14:creationId xmlns:p14="http://schemas.microsoft.com/office/powerpoint/2010/main" val="106194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9898</TotalTime>
  <Words>2549</Words>
  <Application>Microsoft Office PowerPoint</Application>
  <PresentationFormat>Widescreen</PresentationFormat>
  <Paragraphs>191</Paragraphs>
  <Slides>27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Display</vt:lpstr>
      <vt:lpstr>Arial</vt:lpstr>
      <vt:lpstr>Calibri</vt:lpstr>
      <vt:lpstr>Office Theme</vt:lpstr>
      <vt:lpstr>A   D</vt:lpstr>
      <vt:lpstr>A2D is not vibe coding</vt:lpstr>
      <vt:lpstr>A2D is not vibe coding</vt:lpstr>
      <vt:lpstr>Demo Time</vt:lpstr>
      <vt:lpstr>PowerPoint Presentation</vt:lpstr>
      <vt:lpstr>PowerPoint Presentation</vt:lpstr>
      <vt:lpstr>Component Definition</vt:lpstr>
      <vt:lpstr>Hiding the IP</vt:lpstr>
      <vt:lpstr>Proposed Architecture</vt:lpstr>
      <vt:lpstr>Workflows</vt:lpstr>
      <vt:lpstr>Planning Workflow</vt:lpstr>
      <vt:lpstr>Suggestion Workflow</vt:lpstr>
      <vt:lpstr>User Interface Design Workflow (future)</vt:lpstr>
      <vt:lpstr>Solution Design and Analysis Workflow</vt:lpstr>
      <vt:lpstr>Implement Workflow</vt:lpstr>
      <vt:lpstr>Deployment Workflow</vt:lpstr>
      <vt:lpstr>Workflow Status (not all a required for mvp)</vt:lpstr>
      <vt:lpstr>Methodology Definition</vt:lpstr>
      <vt:lpstr>The human role</vt:lpstr>
      <vt:lpstr>Risks</vt:lpstr>
      <vt:lpstr>Phased Approach?</vt:lpstr>
      <vt:lpstr>What to do with the funds?</vt:lpstr>
      <vt:lpstr>Next Steps</vt:lpstr>
      <vt:lpstr>Nick Van Exan</vt:lpstr>
      <vt:lpstr>Jeff Zado</vt:lpstr>
      <vt:lpstr>Peter Vander Zouwe</vt:lpstr>
      <vt:lpstr>Minimize Burn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Judd</dc:creator>
  <cp:lastModifiedBy>David Judd</cp:lastModifiedBy>
  <cp:revision>19</cp:revision>
  <cp:lastPrinted>2025-11-11T22:17:21Z</cp:lastPrinted>
  <dcterms:created xsi:type="dcterms:W3CDTF">2025-11-11T17:03:46Z</dcterms:created>
  <dcterms:modified xsi:type="dcterms:W3CDTF">2025-11-22T16:27:55Z</dcterms:modified>
</cp:coreProperties>
</file>