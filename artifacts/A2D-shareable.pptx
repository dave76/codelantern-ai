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86" r:id="rId3"/>
    <p:sldId id="287" r:id="rId4"/>
    <p:sldId id="280" r:id="rId5"/>
    <p:sldId id="261" r:id="rId6"/>
    <p:sldId id="263" r:id="rId7"/>
    <p:sldId id="278" r:id="rId8"/>
    <p:sldId id="272" r:id="rId9"/>
    <p:sldId id="279" r:id="rId10"/>
    <p:sldId id="281" r:id="rId11"/>
    <p:sldId id="270" r:id="rId12"/>
    <p:sldId id="267" r:id="rId13"/>
    <p:sldId id="269" r:id="rId14"/>
    <p:sldId id="268" r:id="rId15"/>
    <p:sldId id="284" r:id="rId16"/>
    <p:sldId id="277" r:id="rId17"/>
    <p:sldId id="275" r:id="rId18"/>
    <p:sldId id="282" r:id="rId19"/>
    <p:sldId id="285" r:id="rId20"/>
    <p:sldId id="262" r:id="rId21"/>
    <p:sldId id="260" r:id="rId22"/>
  </p:sldIdLst>
  <p:sldSz cx="12192000" cy="68580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6" autoAdjust="0"/>
    <p:restoredTop sz="97101" autoAdjust="0"/>
  </p:normalViewPr>
  <p:slideViewPr>
    <p:cSldViewPr snapToGrid="0">
      <p:cViewPr varScale="1">
        <p:scale>
          <a:sx n="153" d="100"/>
          <a:sy n="153" d="100"/>
        </p:scale>
        <p:origin x="97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360EE-CBAE-4CA6-BD2D-E310DF15206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E84391-5A6A-4461-B3F7-673618121BF7}">
      <dgm:prSet/>
      <dgm:spPr/>
      <dgm:t>
        <a:bodyPr/>
        <a:lstStyle/>
        <a:p>
          <a:r>
            <a:rPr lang="en-CA"/>
            <a:t>This is the real work horse of the system and “pumps” out the code and tests.</a:t>
          </a:r>
          <a:endParaRPr lang="en-US"/>
        </a:p>
      </dgm:t>
    </dgm:pt>
    <dgm:pt modelId="{141A377C-04A5-421C-A718-E0FA9E10FC87}" type="parTrans" cxnId="{A106B822-C923-44F1-A2AB-374CBF7E514E}">
      <dgm:prSet/>
      <dgm:spPr/>
      <dgm:t>
        <a:bodyPr/>
        <a:lstStyle/>
        <a:p>
          <a:endParaRPr lang="en-US"/>
        </a:p>
      </dgm:t>
    </dgm:pt>
    <dgm:pt modelId="{D86F5EC5-94FA-424B-9539-44C2DE833F97}" type="sibTrans" cxnId="{A106B822-C923-44F1-A2AB-374CBF7E514E}">
      <dgm:prSet/>
      <dgm:spPr/>
      <dgm:t>
        <a:bodyPr/>
        <a:lstStyle/>
        <a:p>
          <a:endParaRPr lang="en-US"/>
        </a:p>
      </dgm:t>
    </dgm:pt>
    <dgm:pt modelId="{616C4196-ED0A-46E2-B503-31DE7CB054E7}">
      <dgm:prSet/>
      <dgm:spPr/>
      <dgm:t>
        <a:bodyPr/>
        <a:lstStyle/>
        <a:p>
          <a:r>
            <a:rPr lang="en-CA"/>
            <a:t>The [coder] agent is given instructions to:</a:t>
          </a:r>
          <a:endParaRPr lang="en-US"/>
        </a:p>
      </dgm:t>
    </dgm:pt>
    <dgm:pt modelId="{CE89B87A-4D3F-4380-A6B7-BA25C344E2D9}" type="parTrans" cxnId="{B2B71749-DF3E-406C-BB21-157186772ECA}">
      <dgm:prSet/>
      <dgm:spPr/>
      <dgm:t>
        <a:bodyPr/>
        <a:lstStyle/>
        <a:p>
          <a:endParaRPr lang="en-US"/>
        </a:p>
      </dgm:t>
    </dgm:pt>
    <dgm:pt modelId="{FE6AF077-D5F1-4706-BE4A-693E30699BE9}" type="sibTrans" cxnId="{B2B71749-DF3E-406C-BB21-157186772ECA}">
      <dgm:prSet/>
      <dgm:spPr/>
      <dgm:t>
        <a:bodyPr/>
        <a:lstStyle/>
        <a:p>
          <a:endParaRPr lang="en-US"/>
        </a:p>
      </dgm:t>
    </dgm:pt>
    <dgm:pt modelId="{9430C936-546D-488F-B6F4-E3E8C231E612}">
      <dgm:prSet/>
      <dgm:spPr/>
      <dgm:t>
        <a:bodyPr/>
        <a:lstStyle/>
        <a:p>
          <a:r>
            <a:rPr lang="en-CA"/>
            <a:t>Be concise and efficient with coding changes and to minimize refactoring (unless explicitly instructed to do so).</a:t>
          </a:r>
          <a:endParaRPr lang="en-US"/>
        </a:p>
      </dgm:t>
    </dgm:pt>
    <dgm:pt modelId="{24213860-9391-4D2F-8230-B84DC83EEC45}" type="parTrans" cxnId="{9E98F843-3D88-4A85-A1BE-DB78F8AA148F}">
      <dgm:prSet/>
      <dgm:spPr/>
      <dgm:t>
        <a:bodyPr/>
        <a:lstStyle/>
        <a:p>
          <a:endParaRPr lang="en-US"/>
        </a:p>
      </dgm:t>
    </dgm:pt>
    <dgm:pt modelId="{C2B3E1BE-815C-42D4-B31A-5D781FED9985}" type="sibTrans" cxnId="{9E98F843-3D88-4A85-A1BE-DB78F8AA148F}">
      <dgm:prSet/>
      <dgm:spPr/>
      <dgm:t>
        <a:bodyPr/>
        <a:lstStyle/>
        <a:p>
          <a:endParaRPr lang="en-US"/>
        </a:p>
      </dgm:t>
    </dgm:pt>
    <dgm:pt modelId="{650D12D7-8F29-4A2A-8915-A6253FE09C29}">
      <dgm:prSet/>
      <dgm:spPr/>
      <dgm:t>
        <a:bodyPr/>
        <a:lstStyle/>
        <a:p>
          <a:r>
            <a:rPr lang="en-CA"/>
            <a:t>Read and understand existing design patterns and architecture decisions. </a:t>
          </a:r>
          <a:endParaRPr lang="en-US"/>
        </a:p>
      </dgm:t>
    </dgm:pt>
    <dgm:pt modelId="{A496D8E7-0173-44DD-BF06-F9AC4422E184}" type="parTrans" cxnId="{9AA34111-8CF0-4C3C-A7B9-46C6360C609B}">
      <dgm:prSet/>
      <dgm:spPr/>
      <dgm:t>
        <a:bodyPr/>
        <a:lstStyle/>
        <a:p>
          <a:endParaRPr lang="en-US"/>
        </a:p>
      </dgm:t>
    </dgm:pt>
    <dgm:pt modelId="{3571FB1E-BAA7-45C5-8E83-EB226E9434D5}" type="sibTrans" cxnId="{9AA34111-8CF0-4C3C-A7B9-46C6360C609B}">
      <dgm:prSet/>
      <dgm:spPr/>
      <dgm:t>
        <a:bodyPr/>
        <a:lstStyle/>
        <a:p>
          <a:endParaRPr lang="en-US"/>
        </a:p>
      </dgm:t>
    </dgm:pt>
    <dgm:pt modelId="{5A845887-FE6C-4F9A-A1D6-9F9CD621E16A}">
      <dgm:prSet/>
      <dgm:spPr/>
      <dgm:t>
        <a:bodyPr/>
        <a:lstStyle/>
        <a:p>
          <a:r>
            <a:rPr lang="en-CA"/>
            <a:t>Write appropriate unit tests.</a:t>
          </a:r>
          <a:endParaRPr lang="en-US"/>
        </a:p>
      </dgm:t>
    </dgm:pt>
    <dgm:pt modelId="{DBB77A33-15AE-4073-8C8D-71F1E9D3FF88}" type="parTrans" cxnId="{5E8FF0E9-DBAA-4D20-9588-D30331309BAB}">
      <dgm:prSet/>
      <dgm:spPr/>
      <dgm:t>
        <a:bodyPr/>
        <a:lstStyle/>
        <a:p>
          <a:endParaRPr lang="en-US"/>
        </a:p>
      </dgm:t>
    </dgm:pt>
    <dgm:pt modelId="{07894B09-C46B-4965-BB12-100F246FE9A0}" type="sibTrans" cxnId="{5E8FF0E9-DBAA-4D20-9588-D30331309BAB}">
      <dgm:prSet/>
      <dgm:spPr/>
      <dgm:t>
        <a:bodyPr/>
        <a:lstStyle/>
        <a:p>
          <a:endParaRPr lang="en-US"/>
        </a:p>
      </dgm:t>
    </dgm:pt>
    <dgm:pt modelId="{881CDE3B-B35A-4844-840E-77D8AB4A04D4}">
      <dgm:prSet/>
      <dgm:spPr/>
      <dgm:t>
        <a:bodyPr/>
        <a:lstStyle/>
        <a:p>
          <a:r>
            <a:rPr lang="en-CA"/>
            <a:t>Write well documented pull requests with screenshots where it makes sense.</a:t>
          </a:r>
          <a:endParaRPr lang="en-US"/>
        </a:p>
      </dgm:t>
    </dgm:pt>
    <dgm:pt modelId="{F278C370-C502-4E9D-B2C5-1E677E4DD675}" type="parTrans" cxnId="{6F3BF792-C62F-4AFB-9923-E13F31654D30}">
      <dgm:prSet/>
      <dgm:spPr/>
      <dgm:t>
        <a:bodyPr/>
        <a:lstStyle/>
        <a:p>
          <a:endParaRPr lang="en-US"/>
        </a:p>
      </dgm:t>
    </dgm:pt>
    <dgm:pt modelId="{34AB98C2-7CB9-4C93-B99E-B505C6CA9065}" type="sibTrans" cxnId="{6F3BF792-C62F-4AFB-9923-E13F31654D30}">
      <dgm:prSet/>
      <dgm:spPr/>
      <dgm:t>
        <a:bodyPr/>
        <a:lstStyle/>
        <a:p>
          <a:endParaRPr lang="en-US"/>
        </a:p>
      </dgm:t>
    </dgm:pt>
    <dgm:pt modelId="{C4BCC771-15D6-4FD7-9DF1-1C4A2A439AF3}" type="pres">
      <dgm:prSet presAssocID="{41F360EE-CBAE-4CA6-BD2D-E310DF152066}" presName="linear" presStyleCnt="0">
        <dgm:presLayoutVars>
          <dgm:animLvl val="lvl"/>
          <dgm:resizeHandles val="exact"/>
        </dgm:presLayoutVars>
      </dgm:prSet>
      <dgm:spPr/>
    </dgm:pt>
    <dgm:pt modelId="{6662613F-A14B-4C48-8399-C26E9D0FAD8E}" type="pres">
      <dgm:prSet presAssocID="{8BE84391-5A6A-4461-B3F7-673618121BF7}" presName="parentText" presStyleLbl="node1" presStyleIdx="0" presStyleCnt="2">
        <dgm:presLayoutVars>
          <dgm:chMax val="0"/>
          <dgm:bulletEnabled val="1"/>
        </dgm:presLayoutVars>
      </dgm:prSet>
      <dgm:spPr/>
    </dgm:pt>
    <dgm:pt modelId="{6DD2E207-D499-400B-9F5C-6C27D2DD001C}" type="pres">
      <dgm:prSet presAssocID="{D86F5EC5-94FA-424B-9539-44C2DE833F97}" presName="spacer" presStyleCnt="0"/>
      <dgm:spPr/>
    </dgm:pt>
    <dgm:pt modelId="{B969FE15-8D0A-4758-9820-171A2E4755F7}" type="pres">
      <dgm:prSet presAssocID="{616C4196-ED0A-46E2-B503-31DE7CB054E7}" presName="parentText" presStyleLbl="node1" presStyleIdx="1" presStyleCnt="2">
        <dgm:presLayoutVars>
          <dgm:chMax val="0"/>
          <dgm:bulletEnabled val="1"/>
        </dgm:presLayoutVars>
      </dgm:prSet>
      <dgm:spPr/>
    </dgm:pt>
    <dgm:pt modelId="{8C077975-D15D-48B1-8FBB-686C449DF6CD}" type="pres">
      <dgm:prSet presAssocID="{616C4196-ED0A-46E2-B503-31DE7CB054E7}" presName="childText" presStyleLbl="revTx" presStyleIdx="0" presStyleCnt="1">
        <dgm:presLayoutVars>
          <dgm:bulletEnabled val="1"/>
        </dgm:presLayoutVars>
      </dgm:prSet>
      <dgm:spPr/>
    </dgm:pt>
  </dgm:ptLst>
  <dgm:cxnLst>
    <dgm:cxn modelId="{BA27FB0D-986A-4E08-B939-9DB91BAEC836}" type="presOf" srcId="{8BE84391-5A6A-4461-B3F7-673618121BF7}" destId="{6662613F-A14B-4C48-8399-C26E9D0FAD8E}" srcOrd="0" destOrd="0" presId="urn:microsoft.com/office/officeart/2005/8/layout/vList2"/>
    <dgm:cxn modelId="{9AA34111-8CF0-4C3C-A7B9-46C6360C609B}" srcId="{616C4196-ED0A-46E2-B503-31DE7CB054E7}" destId="{650D12D7-8F29-4A2A-8915-A6253FE09C29}" srcOrd="1" destOrd="0" parTransId="{A496D8E7-0173-44DD-BF06-F9AC4422E184}" sibTransId="{3571FB1E-BAA7-45C5-8E83-EB226E9434D5}"/>
    <dgm:cxn modelId="{A106B822-C923-44F1-A2AB-374CBF7E514E}" srcId="{41F360EE-CBAE-4CA6-BD2D-E310DF152066}" destId="{8BE84391-5A6A-4461-B3F7-673618121BF7}" srcOrd="0" destOrd="0" parTransId="{141A377C-04A5-421C-A718-E0FA9E10FC87}" sibTransId="{D86F5EC5-94FA-424B-9539-44C2DE833F97}"/>
    <dgm:cxn modelId="{E4744723-A94B-461F-AA72-DE7A997FCAD7}" type="presOf" srcId="{41F360EE-CBAE-4CA6-BD2D-E310DF152066}" destId="{C4BCC771-15D6-4FD7-9DF1-1C4A2A439AF3}" srcOrd="0" destOrd="0" presId="urn:microsoft.com/office/officeart/2005/8/layout/vList2"/>
    <dgm:cxn modelId="{A7C5D03E-FCB4-4432-B068-5A3B8024166E}" type="presOf" srcId="{881CDE3B-B35A-4844-840E-77D8AB4A04D4}" destId="{8C077975-D15D-48B1-8FBB-686C449DF6CD}" srcOrd="0" destOrd="3" presId="urn:microsoft.com/office/officeart/2005/8/layout/vList2"/>
    <dgm:cxn modelId="{9E98F843-3D88-4A85-A1BE-DB78F8AA148F}" srcId="{616C4196-ED0A-46E2-B503-31DE7CB054E7}" destId="{9430C936-546D-488F-B6F4-E3E8C231E612}" srcOrd="0" destOrd="0" parTransId="{24213860-9391-4D2F-8230-B84DC83EEC45}" sibTransId="{C2B3E1BE-815C-42D4-B31A-5D781FED9985}"/>
    <dgm:cxn modelId="{B2B71749-DF3E-406C-BB21-157186772ECA}" srcId="{41F360EE-CBAE-4CA6-BD2D-E310DF152066}" destId="{616C4196-ED0A-46E2-B503-31DE7CB054E7}" srcOrd="1" destOrd="0" parTransId="{CE89B87A-4D3F-4380-A6B7-BA25C344E2D9}" sibTransId="{FE6AF077-D5F1-4706-BE4A-693E30699BE9}"/>
    <dgm:cxn modelId="{8F4A7982-A853-46C1-AA2B-FE7DEBC285CF}" type="presOf" srcId="{5A845887-FE6C-4F9A-A1D6-9F9CD621E16A}" destId="{8C077975-D15D-48B1-8FBB-686C449DF6CD}" srcOrd="0" destOrd="2" presId="urn:microsoft.com/office/officeart/2005/8/layout/vList2"/>
    <dgm:cxn modelId="{A96A8C85-7C4F-486C-A3A9-C0ADB354C9FB}" type="presOf" srcId="{616C4196-ED0A-46E2-B503-31DE7CB054E7}" destId="{B969FE15-8D0A-4758-9820-171A2E4755F7}" srcOrd="0" destOrd="0" presId="urn:microsoft.com/office/officeart/2005/8/layout/vList2"/>
    <dgm:cxn modelId="{6F3BF792-C62F-4AFB-9923-E13F31654D30}" srcId="{616C4196-ED0A-46E2-B503-31DE7CB054E7}" destId="{881CDE3B-B35A-4844-840E-77D8AB4A04D4}" srcOrd="3" destOrd="0" parTransId="{F278C370-C502-4E9D-B2C5-1E677E4DD675}" sibTransId="{34AB98C2-7CB9-4C93-B99E-B505C6CA9065}"/>
    <dgm:cxn modelId="{D547AAC8-7BCD-4CF3-9B39-55B08DCB75A0}" type="presOf" srcId="{9430C936-546D-488F-B6F4-E3E8C231E612}" destId="{8C077975-D15D-48B1-8FBB-686C449DF6CD}" srcOrd="0" destOrd="0" presId="urn:microsoft.com/office/officeart/2005/8/layout/vList2"/>
    <dgm:cxn modelId="{5401ABCF-E346-4C1C-A916-134D5BB42B47}" type="presOf" srcId="{650D12D7-8F29-4A2A-8915-A6253FE09C29}" destId="{8C077975-D15D-48B1-8FBB-686C449DF6CD}" srcOrd="0" destOrd="1" presId="urn:microsoft.com/office/officeart/2005/8/layout/vList2"/>
    <dgm:cxn modelId="{5E8FF0E9-DBAA-4D20-9588-D30331309BAB}" srcId="{616C4196-ED0A-46E2-B503-31DE7CB054E7}" destId="{5A845887-FE6C-4F9A-A1D6-9F9CD621E16A}" srcOrd="2" destOrd="0" parTransId="{DBB77A33-15AE-4073-8C8D-71F1E9D3FF88}" sibTransId="{07894B09-C46B-4965-BB12-100F246FE9A0}"/>
    <dgm:cxn modelId="{5773DDE6-D4A1-4F85-8191-115D00E22D04}" type="presParOf" srcId="{C4BCC771-15D6-4FD7-9DF1-1C4A2A439AF3}" destId="{6662613F-A14B-4C48-8399-C26E9D0FAD8E}" srcOrd="0" destOrd="0" presId="urn:microsoft.com/office/officeart/2005/8/layout/vList2"/>
    <dgm:cxn modelId="{40FC0B19-0D01-4222-BEA9-D48D63458A7F}" type="presParOf" srcId="{C4BCC771-15D6-4FD7-9DF1-1C4A2A439AF3}" destId="{6DD2E207-D499-400B-9F5C-6C27D2DD001C}" srcOrd="1" destOrd="0" presId="urn:microsoft.com/office/officeart/2005/8/layout/vList2"/>
    <dgm:cxn modelId="{27FE0B2A-46EB-4F2D-AF9F-DCB1F044A782}" type="presParOf" srcId="{C4BCC771-15D6-4FD7-9DF1-1C4A2A439AF3}" destId="{B969FE15-8D0A-4758-9820-171A2E4755F7}" srcOrd="2" destOrd="0" presId="urn:microsoft.com/office/officeart/2005/8/layout/vList2"/>
    <dgm:cxn modelId="{28103978-3323-44F0-88B4-A9D373D233FA}" type="presParOf" srcId="{C4BCC771-15D6-4FD7-9DF1-1C4A2A439AF3}" destId="{8C077975-D15D-48B1-8FBB-686C449DF6C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3E2A09-6797-4169-9669-360C939B17C4}"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CA"/>
        </a:p>
      </dgm:t>
    </dgm:pt>
    <dgm:pt modelId="{0E75C103-FFB3-4947-BEE6-1A9B399E85DA}">
      <dgm:prSet phldrT="[Text]" phldr="0"/>
      <dgm:spPr/>
      <dgm:t>
        <a:bodyPr/>
        <a:lstStyle/>
        <a:p>
          <a:r>
            <a:rPr lang="en-CA" dirty="0"/>
            <a:t>Design</a:t>
          </a:r>
        </a:p>
      </dgm:t>
    </dgm:pt>
    <dgm:pt modelId="{E7B3B012-23A4-42BA-8434-F8C9F95DE211}" type="parTrans" cxnId="{10E08149-637B-4306-B89B-CC7A79543020}">
      <dgm:prSet/>
      <dgm:spPr/>
      <dgm:t>
        <a:bodyPr/>
        <a:lstStyle/>
        <a:p>
          <a:endParaRPr lang="en-CA"/>
        </a:p>
      </dgm:t>
    </dgm:pt>
    <dgm:pt modelId="{C4E5519B-71C4-4613-A50C-6DF45F552D1A}" type="sibTrans" cxnId="{10E08149-637B-4306-B89B-CC7A79543020}">
      <dgm:prSet/>
      <dgm:spPr/>
      <dgm:t>
        <a:bodyPr/>
        <a:lstStyle/>
        <a:p>
          <a:endParaRPr lang="en-CA"/>
        </a:p>
      </dgm:t>
    </dgm:pt>
    <dgm:pt modelId="{E3AE2A73-03A7-4394-8C0B-146D38CBF291}">
      <dgm:prSet phldrT="[Text]" phldr="0"/>
      <dgm:spPr/>
      <dgm:t>
        <a:bodyPr/>
        <a:lstStyle/>
        <a:p>
          <a:r>
            <a:rPr lang="en-CA" dirty="0"/>
            <a:t>Implement</a:t>
          </a:r>
        </a:p>
      </dgm:t>
    </dgm:pt>
    <dgm:pt modelId="{002E8402-7644-4C2E-8858-DB1230BF39E9}" type="parTrans" cxnId="{F532A814-49F5-4EEB-AFB2-B09353BFF57C}">
      <dgm:prSet/>
      <dgm:spPr/>
      <dgm:t>
        <a:bodyPr/>
        <a:lstStyle/>
        <a:p>
          <a:endParaRPr lang="en-CA"/>
        </a:p>
      </dgm:t>
    </dgm:pt>
    <dgm:pt modelId="{23C04D07-A122-4226-B498-BF7E214148B1}" type="sibTrans" cxnId="{F532A814-49F5-4EEB-AFB2-B09353BFF57C}">
      <dgm:prSet/>
      <dgm:spPr/>
      <dgm:t>
        <a:bodyPr/>
        <a:lstStyle/>
        <a:p>
          <a:endParaRPr lang="en-CA"/>
        </a:p>
      </dgm:t>
    </dgm:pt>
    <dgm:pt modelId="{C185C1DD-9F02-4F84-A59F-80D94E9591FF}">
      <dgm:prSet phldrT="[Text]" phldr="0"/>
      <dgm:spPr/>
      <dgm:t>
        <a:bodyPr/>
        <a:lstStyle/>
        <a:p>
          <a:r>
            <a:rPr lang="en-CA"/>
            <a:t>Plan</a:t>
          </a:r>
        </a:p>
      </dgm:t>
    </dgm:pt>
    <dgm:pt modelId="{E08846DE-C08D-4821-B67C-46393070D57F}" type="parTrans" cxnId="{63A08B12-34BB-4A86-B851-9EFD4276F8BF}">
      <dgm:prSet/>
      <dgm:spPr/>
      <dgm:t>
        <a:bodyPr/>
        <a:lstStyle/>
        <a:p>
          <a:endParaRPr lang="en-CA"/>
        </a:p>
      </dgm:t>
    </dgm:pt>
    <dgm:pt modelId="{BA3A34FB-D718-4444-85AE-0C5A42883D9A}" type="sibTrans" cxnId="{63A08B12-34BB-4A86-B851-9EFD4276F8BF}">
      <dgm:prSet/>
      <dgm:spPr/>
      <dgm:t>
        <a:bodyPr/>
        <a:lstStyle/>
        <a:p>
          <a:endParaRPr lang="en-CA"/>
        </a:p>
      </dgm:t>
    </dgm:pt>
    <dgm:pt modelId="{14FEFFB0-97F8-4C9E-B214-0D5D91DCDC75}">
      <dgm:prSet phldrT="[Text]" phldr="0"/>
      <dgm:spPr/>
      <dgm:t>
        <a:bodyPr/>
        <a:lstStyle/>
        <a:p>
          <a:r>
            <a:rPr lang="en-CA" dirty="0"/>
            <a:t>Review</a:t>
          </a:r>
        </a:p>
      </dgm:t>
    </dgm:pt>
    <dgm:pt modelId="{956FDE3F-2AD0-429F-BFCE-B175EBCCAA6F}" type="parTrans" cxnId="{40D02DD6-F50C-46AE-B082-39E6F8101BF8}">
      <dgm:prSet/>
      <dgm:spPr/>
      <dgm:t>
        <a:bodyPr/>
        <a:lstStyle/>
        <a:p>
          <a:endParaRPr lang="en-CA"/>
        </a:p>
      </dgm:t>
    </dgm:pt>
    <dgm:pt modelId="{FF72513B-527B-4595-8FFC-F71900B7F74B}" type="sibTrans" cxnId="{40D02DD6-F50C-46AE-B082-39E6F8101BF8}">
      <dgm:prSet/>
      <dgm:spPr/>
      <dgm:t>
        <a:bodyPr/>
        <a:lstStyle/>
        <a:p>
          <a:endParaRPr lang="en-CA"/>
        </a:p>
      </dgm:t>
    </dgm:pt>
    <dgm:pt modelId="{C62C2AAD-4FA0-4CE0-A8A9-83BA98AF3331}">
      <dgm:prSet phldrT="[Text]" phldr="0"/>
      <dgm:spPr/>
      <dgm:t>
        <a:bodyPr/>
        <a:lstStyle/>
        <a:p>
          <a:r>
            <a:rPr lang="en-CA" dirty="0"/>
            <a:t>Deploy</a:t>
          </a:r>
        </a:p>
      </dgm:t>
    </dgm:pt>
    <dgm:pt modelId="{09CA2327-52B3-40C7-AA07-507F03556077}" type="parTrans" cxnId="{946F93BF-8D1B-4171-A201-883778AEBB31}">
      <dgm:prSet/>
      <dgm:spPr/>
      <dgm:t>
        <a:bodyPr/>
        <a:lstStyle/>
        <a:p>
          <a:endParaRPr lang="en-CA"/>
        </a:p>
      </dgm:t>
    </dgm:pt>
    <dgm:pt modelId="{DDCE95DF-AA9C-431C-A5C5-BA315B1E9CDE}" type="sibTrans" cxnId="{946F93BF-8D1B-4171-A201-883778AEBB31}">
      <dgm:prSet/>
      <dgm:spPr/>
      <dgm:t>
        <a:bodyPr/>
        <a:lstStyle/>
        <a:p>
          <a:endParaRPr lang="en-CA"/>
        </a:p>
      </dgm:t>
    </dgm:pt>
    <dgm:pt modelId="{231E97ED-4151-4AE7-B3F0-2DC6F1F411CD}">
      <dgm:prSet phldrT="[Text]" phldr="0"/>
      <dgm:spPr/>
      <dgm:t>
        <a:bodyPr/>
        <a:lstStyle/>
        <a:p>
          <a:r>
            <a:rPr lang="en-CA"/>
            <a:t>Verify</a:t>
          </a:r>
          <a:endParaRPr lang="en-CA" dirty="0"/>
        </a:p>
      </dgm:t>
    </dgm:pt>
    <dgm:pt modelId="{75E08662-5393-4E1D-A450-46AE10B5BF08}" type="parTrans" cxnId="{50FB52D7-9604-43D6-B7DC-B247D2F34F87}">
      <dgm:prSet/>
      <dgm:spPr/>
      <dgm:t>
        <a:bodyPr/>
        <a:lstStyle/>
        <a:p>
          <a:endParaRPr lang="en-CA"/>
        </a:p>
      </dgm:t>
    </dgm:pt>
    <dgm:pt modelId="{81C694DF-AFAD-418E-87F9-DC4CFD9B4A0C}" type="sibTrans" cxnId="{50FB52D7-9604-43D6-B7DC-B247D2F34F87}">
      <dgm:prSet/>
      <dgm:spPr/>
      <dgm:t>
        <a:bodyPr/>
        <a:lstStyle/>
        <a:p>
          <a:endParaRPr lang="en-CA"/>
        </a:p>
      </dgm:t>
    </dgm:pt>
    <dgm:pt modelId="{DE427AA7-AE93-430B-BA74-23359D70BC3C}" type="pres">
      <dgm:prSet presAssocID="{E93E2A09-6797-4169-9669-360C939B17C4}" presName="Name0" presStyleCnt="0">
        <dgm:presLayoutVars>
          <dgm:dir/>
          <dgm:resizeHandles val="exact"/>
        </dgm:presLayoutVars>
      </dgm:prSet>
      <dgm:spPr/>
    </dgm:pt>
    <dgm:pt modelId="{DAE19A0C-B858-4BE8-8781-E233402027A6}" type="pres">
      <dgm:prSet presAssocID="{C185C1DD-9F02-4F84-A59F-80D94E9591FF}" presName="parTxOnly" presStyleLbl="node1" presStyleIdx="0" presStyleCnt="6">
        <dgm:presLayoutVars>
          <dgm:bulletEnabled val="1"/>
        </dgm:presLayoutVars>
      </dgm:prSet>
      <dgm:spPr/>
    </dgm:pt>
    <dgm:pt modelId="{D17E6B59-DF85-4977-83C9-6FDA744165E2}" type="pres">
      <dgm:prSet presAssocID="{BA3A34FB-D718-4444-85AE-0C5A42883D9A}" presName="parSpace" presStyleCnt="0"/>
      <dgm:spPr/>
    </dgm:pt>
    <dgm:pt modelId="{0B1E767E-37A3-4CC1-B84D-C3645DF7B139}" type="pres">
      <dgm:prSet presAssocID="{0E75C103-FFB3-4947-BEE6-1A9B399E85DA}" presName="parTxOnly" presStyleLbl="node1" presStyleIdx="1" presStyleCnt="6">
        <dgm:presLayoutVars>
          <dgm:bulletEnabled val="1"/>
        </dgm:presLayoutVars>
      </dgm:prSet>
      <dgm:spPr/>
    </dgm:pt>
    <dgm:pt modelId="{F634797B-1C29-4903-906F-00B1E8D0862C}" type="pres">
      <dgm:prSet presAssocID="{C4E5519B-71C4-4613-A50C-6DF45F552D1A}" presName="parSpace" presStyleCnt="0"/>
      <dgm:spPr/>
    </dgm:pt>
    <dgm:pt modelId="{90E19628-AAC4-47A5-9BE5-C20911138BCF}" type="pres">
      <dgm:prSet presAssocID="{E3AE2A73-03A7-4394-8C0B-146D38CBF291}" presName="parTxOnly" presStyleLbl="node1" presStyleIdx="2" presStyleCnt="6">
        <dgm:presLayoutVars>
          <dgm:bulletEnabled val="1"/>
        </dgm:presLayoutVars>
      </dgm:prSet>
      <dgm:spPr/>
    </dgm:pt>
    <dgm:pt modelId="{377ECA11-B8F9-4D2F-9115-1F6540D3F7CB}" type="pres">
      <dgm:prSet presAssocID="{23C04D07-A122-4226-B498-BF7E214148B1}" presName="parSpace" presStyleCnt="0"/>
      <dgm:spPr/>
    </dgm:pt>
    <dgm:pt modelId="{8CA84BAF-9B13-41BF-855F-F424D1ECFCF2}" type="pres">
      <dgm:prSet presAssocID="{14FEFFB0-97F8-4C9E-B214-0D5D91DCDC75}" presName="parTxOnly" presStyleLbl="node1" presStyleIdx="3" presStyleCnt="6" custLinFactNeighborX="1475" custLinFactNeighborY="-104">
        <dgm:presLayoutVars>
          <dgm:bulletEnabled val="1"/>
        </dgm:presLayoutVars>
      </dgm:prSet>
      <dgm:spPr/>
    </dgm:pt>
    <dgm:pt modelId="{CC55300A-8387-4AC6-8999-2948CAEBF707}" type="pres">
      <dgm:prSet presAssocID="{FF72513B-527B-4595-8FFC-F71900B7F74B}" presName="parSpace" presStyleCnt="0"/>
      <dgm:spPr/>
    </dgm:pt>
    <dgm:pt modelId="{84A1143A-78CC-41F7-A42C-1BD47A9CE203}" type="pres">
      <dgm:prSet presAssocID="{C62C2AAD-4FA0-4CE0-A8A9-83BA98AF3331}" presName="parTxOnly" presStyleLbl="node1" presStyleIdx="4" presStyleCnt="6">
        <dgm:presLayoutVars>
          <dgm:bulletEnabled val="1"/>
        </dgm:presLayoutVars>
      </dgm:prSet>
      <dgm:spPr/>
    </dgm:pt>
    <dgm:pt modelId="{454F38D9-7DC7-4187-B5E8-3DAEED83A593}" type="pres">
      <dgm:prSet presAssocID="{DDCE95DF-AA9C-431C-A5C5-BA315B1E9CDE}" presName="parSpace" presStyleCnt="0"/>
      <dgm:spPr/>
    </dgm:pt>
    <dgm:pt modelId="{FCFC7365-5697-464E-B230-8053E5F4A0CD}" type="pres">
      <dgm:prSet presAssocID="{231E97ED-4151-4AE7-B3F0-2DC6F1F411CD}" presName="parTxOnly" presStyleLbl="node1" presStyleIdx="5" presStyleCnt="6">
        <dgm:presLayoutVars>
          <dgm:bulletEnabled val="1"/>
        </dgm:presLayoutVars>
      </dgm:prSet>
      <dgm:spPr/>
    </dgm:pt>
  </dgm:ptLst>
  <dgm:cxnLst>
    <dgm:cxn modelId="{0E366501-97C1-4724-B123-CC29300E04D3}" type="presOf" srcId="{C62C2AAD-4FA0-4CE0-A8A9-83BA98AF3331}" destId="{84A1143A-78CC-41F7-A42C-1BD47A9CE203}" srcOrd="0" destOrd="0" presId="urn:microsoft.com/office/officeart/2005/8/layout/hChevron3"/>
    <dgm:cxn modelId="{63A08B12-34BB-4A86-B851-9EFD4276F8BF}" srcId="{E93E2A09-6797-4169-9669-360C939B17C4}" destId="{C185C1DD-9F02-4F84-A59F-80D94E9591FF}" srcOrd="0" destOrd="0" parTransId="{E08846DE-C08D-4821-B67C-46393070D57F}" sibTransId="{BA3A34FB-D718-4444-85AE-0C5A42883D9A}"/>
    <dgm:cxn modelId="{F532A814-49F5-4EEB-AFB2-B09353BFF57C}" srcId="{E93E2A09-6797-4169-9669-360C939B17C4}" destId="{E3AE2A73-03A7-4394-8C0B-146D38CBF291}" srcOrd="2" destOrd="0" parTransId="{002E8402-7644-4C2E-8858-DB1230BF39E9}" sibTransId="{23C04D07-A122-4226-B498-BF7E214148B1}"/>
    <dgm:cxn modelId="{0E34AA15-C092-496B-A403-C24E129289BC}" type="presOf" srcId="{C185C1DD-9F02-4F84-A59F-80D94E9591FF}" destId="{DAE19A0C-B858-4BE8-8781-E233402027A6}" srcOrd="0" destOrd="0" presId="urn:microsoft.com/office/officeart/2005/8/layout/hChevron3"/>
    <dgm:cxn modelId="{DC429D38-236F-4F6E-9829-EBC6BFDA18B1}" type="presOf" srcId="{231E97ED-4151-4AE7-B3F0-2DC6F1F411CD}" destId="{FCFC7365-5697-464E-B230-8053E5F4A0CD}" srcOrd="0" destOrd="0" presId="urn:microsoft.com/office/officeart/2005/8/layout/hChevron3"/>
    <dgm:cxn modelId="{10E08149-637B-4306-B89B-CC7A79543020}" srcId="{E93E2A09-6797-4169-9669-360C939B17C4}" destId="{0E75C103-FFB3-4947-BEE6-1A9B399E85DA}" srcOrd="1" destOrd="0" parTransId="{E7B3B012-23A4-42BA-8434-F8C9F95DE211}" sibTransId="{C4E5519B-71C4-4613-A50C-6DF45F552D1A}"/>
    <dgm:cxn modelId="{60D0CB70-349D-4833-B38D-0D72621DC497}" type="presOf" srcId="{E3AE2A73-03A7-4394-8C0B-146D38CBF291}" destId="{90E19628-AAC4-47A5-9BE5-C20911138BCF}" srcOrd="0" destOrd="0" presId="urn:microsoft.com/office/officeart/2005/8/layout/hChevron3"/>
    <dgm:cxn modelId="{BB256AB9-057F-4478-BC80-D5B9FB3B2CE5}" type="presOf" srcId="{E93E2A09-6797-4169-9669-360C939B17C4}" destId="{DE427AA7-AE93-430B-BA74-23359D70BC3C}" srcOrd="0" destOrd="0" presId="urn:microsoft.com/office/officeart/2005/8/layout/hChevron3"/>
    <dgm:cxn modelId="{946F93BF-8D1B-4171-A201-883778AEBB31}" srcId="{E93E2A09-6797-4169-9669-360C939B17C4}" destId="{C62C2AAD-4FA0-4CE0-A8A9-83BA98AF3331}" srcOrd="4" destOrd="0" parTransId="{09CA2327-52B3-40C7-AA07-507F03556077}" sibTransId="{DDCE95DF-AA9C-431C-A5C5-BA315B1E9CDE}"/>
    <dgm:cxn modelId="{8201A0C9-D90B-48D9-9B0A-705855E133FA}" type="presOf" srcId="{14FEFFB0-97F8-4C9E-B214-0D5D91DCDC75}" destId="{8CA84BAF-9B13-41BF-855F-F424D1ECFCF2}" srcOrd="0" destOrd="0" presId="urn:microsoft.com/office/officeart/2005/8/layout/hChevron3"/>
    <dgm:cxn modelId="{40D02DD6-F50C-46AE-B082-39E6F8101BF8}" srcId="{E93E2A09-6797-4169-9669-360C939B17C4}" destId="{14FEFFB0-97F8-4C9E-B214-0D5D91DCDC75}" srcOrd="3" destOrd="0" parTransId="{956FDE3F-2AD0-429F-BFCE-B175EBCCAA6F}" sibTransId="{FF72513B-527B-4595-8FFC-F71900B7F74B}"/>
    <dgm:cxn modelId="{50FB52D7-9604-43D6-B7DC-B247D2F34F87}" srcId="{E93E2A09-6797-4169-9669-360C939B17C4}" destId="{231E97ED-4151-4AE7-B3F0-2DC6F1F411CD}" srcOrd="5" destOrd="0" parTransId="{75E08662-5393-4E1D-A450-46AE10B5BF08}" sibTransId="{81C694DF-AFAD-418E-87F9-DC4CFD9B4A0C}"/>
    <dgm:cxn modelId="{31F58EE2-1968-4898-B4B6-57E4BA6C67DC}" type="presOf" srcId="{0E75C103-FFB3-4947-BEE6-1A9B399E85DA}" destId="{0B1E767E-37A3-4CC1-B84D-C3645DF7B139}" srcOrd="0" destOrd="0" presId="urn:microsoft.com/office/officeart/2005/8/layout/hChevron3"/>
    <dgm:cxn modelId="{152C966C-BD73-429F-8261-18D6FF89B7F7}" type="presParOf" srcId="{DE427AA7-AE93-430B-BA74-23359D70BC3C}" destId="{DAE19A0C-B858-4BE8-8781-E233402027A6}" srcOrd="0" destOrd="0" presId="urn:microsoft.com/office/officeart/2005/8/layout/hChevron3"/>
    <dgm:cxn modelId="{B4EE0D5A-70A2-4393-AD5D-2E714A9059B1}" type="presParOf" srcId="{DE427AA7-AE93-430B-BA74-23359D70BC3C}" destId="{D17E6B59-DF85-4977-83C9-6FDA744165E2}" srcOrd="1" destOrd="0" presId="urn:microsoft.com/office/officeart/2005/8/layout/hChevron3"/>
    <dgm:cxn modelId="{4B4CFFB1-C4BB-48E6-9C4D-701A57876CEA}" type="presParOf" srcId="{DE427AA7-AE93-430B-BA74-23359D70BC3C}" destId="{0B1E767E-37A3-4CC1-B84D-C3645DF7B139}" srcOrd="2" destOrd="0" presId="urn:microsoft.com/office/officeart/2005/8/layout/hChevron3"/>
    <dgm:cxn modelId="{1C1CB555-1150-45FA-824C-75E5817A6807}" type="presParOf" srcId="{DE427AA7-AE93-430B-BA74-23359D70BC3C}" destId="{F634797B-1C29-4903-906F-00B1E8D0862C}" srcOrd="3" destOrd="0" presId="urn:microsoft.com/office/officeart/2005/8/layout/hChevron3"/>
    <dgm:cxn modelId="{77356B5F-653E-40F2-A6D5-F4EC00D5ABA7}" type="presParOf" srcId="{DE427AA7-AE93-430B-BA74-23359D70BC3C}" destId="{90E19628-AAC4-47A5-9BE5-C20911138BCF}" srcOrd="4" destOrd="0" presId="urn:microsoft.com/office/officeart/2005/8/layout/hChevron3"/>
    <dgm:cxn modelId="{FF4D4E27-9C69-4566-A41B-008F39209D5B}" type="presParOf" srcId="{DE427AA7-AE93-430B-BA74-23359D70BC3C}" destId="{377ECA11-B8F9-4D2F-9115-1F6540D3F7CB}" srcOrd="5" destOrd="0" presId="urn:microsoft.com/office/officeart/2005/8/layout/hChevron3"/>
    <dgm:cxn modelId="{1B554C65-6058-4138-BE0B-2872B7660CCA}" type="presParOf" srcId="{DE427AA7-AE93-430B-BA74-23359D70BC3C}" destId="{8CA84BAF-9B13-41BF-855F-F424D1ECFCF2}" srcOrd="6" destOrd="0" presId="urn:microsoft.com/office/officeart/2005/8/layout/hChevron3"/>
    <dgm:cxn modelId="{79214040-1DD4-4823-A9EC-E94FD6737B6D}" type="presParOf" srcId="{DE427AA7-AE93-430B-BA74-23359D70BC3C}" destId="{CC55300A-8387-4AC6-8999-2948CAEBF707}" srcOrd="7" destOrd="0" presId="urn:microsoft.com/office/officeart/2005/8/layout/hChevron3"/>
    <dgm:cxn modelId="{10F91533-0A93-46CB-A2CB-5E61CA7579D0}" type="presParOf" srcId="{DE427AA7-AE93-430B-BA74-23359D70BC3C}" destId="{84A1143A-78CC-41F7-A42C-1BD47A9CE203}" srcOrd="8" destOrd="0" presId="urn:microsoft.com/office/officeart/2005/8/layout/hChevron3"/>
    <dgm:cxn modelId="{DEDA09F4-291B-4796-B7FB-00AE6A9ADD64}" type="presParOf" srcId="{DE427AA7-AE93-430B-BA74-23359D70BC3C}" destId="{454F38D9-7DC7-4187-B5E8-3DAEED83A593}" srcOrd="9" destOrd="0" presId="urn:microsoft.com/office/officeart/2005/8/layout/hChevron3"/>
    <dgm:cxn modelId="{B9B742BB-691D-4807-9D40-753650A8489C}" type="presParOf" srcId="{DE427AA7-AE93-430B-BA74-23359D70BC3C}" destId="{FCFC7365-5697-464E-B230-8053E5F4A0CD}"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2613F-A14B-4C48-8399-C26E9D0FAD8E}">
      <dsp:nvSpPr>
        <dsp:cNvPr id="0" name=""/>
        <dsp:cNvSpPr/>
      </dsp:nvSpPr>
      <dsp:spPr>
        <a:xfrm>
          <a:off x="0" y="108773"/>
          <a:ext cx="5721484" cy="914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This is the real work horse of the system and “pumps” out the code and tests.</a:t>
          </a:r>
          <a:endParaRPr lang="en-US" sz="2300" kern="1200"/>
        </a:p>
      </dsp:txBody>
      <dsp:txXfrm>
        <a:off x="44664" y="153437"/>
        <a:ext cx="5632156" cy="825612"/>
      </dsp:txXfrm>
    </dsp:sp>
    <dsp:sp modelId="{B969FE15-8D0A-4758-9820-171A2E4755F7}">
      <dsp:nvSpPr>
        <dsp:cNvPr id="0" name=""/>
        <dsp:cNvSpPr/>
      </dsp:nvSpPr>
      <dsp:spPr>
        <a:xfrm>
          <a:off x="0" y="1089954"/>
          <a:ext cx="5721484" cy="9149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The [coder] agent is given instructions to:</a:t>
          </a:r>
          <a:endParaRPr lang="en-US" sz="2300" kern="1200"/>
        </a:p>
      </dsp:txBody>
      <dsp:txXfrm>
        <a:off x="44664" y="1134618"/>
        <a:ext cx="5632156" cy="825612"/>
      </dsp:txXfrm>
    </dsp:sp>
    <dsp:sp modelId="{8C077975-D15D-48B1-8FBB-686C449DF6CD}">
      <dsp:nvSpPr>
        <dsp:cNvPr id="0" name=""/>
        <dsp:cNvSpPr/>
      </dsp:nvSpPr>
      <dsp:spPr>
        <a:xfrm>
          <a:off x="0" y="2004894"/>
          <a:ext cx="5721484" cy="2237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65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CA" sz="1800" kern="1200"/>
            <a:t>Be concise and efficient with coding changes and to minimize refactoring (unless explicitly instructed to do so).</a:t>
          </a:r>
          <a:endParaRPr lang="en-US" sz="1800" kern="1200"/>
        </a:p>
        <a:p>
          <a:pPr marL="171450" lvl="1" indent="-171450" algn="l" defTabSz="800100">
            <a:lnSpc>
              <a:spcPct val="90000"/>
            </a:lnSpc>
            <a:spcBef>
              <a:spcPct val="0"/>
            </a:spcBef>
            <a:spcAft>
              <a:spcPct val="20000"/>
            </a:spcAft>
            <a:buChar char="•"/>
          </a:pPr>
          <a:r>
            <a:rPr lang="en-CA" sz="1800" kern="1200"/>
            <a:t>Read and understand existing design patterns and architecture decisions. </a:t>
          </a:r>
          <a:endParaRPr lang="en-US" sz="1800" kern="1200"/>
        </a:p>
        <a:p>
          <a:pPr marL="171450" lvl="1" indent="-171450" algn="l" defTabSz="800100">
            <a:lnSpc>
              <a:spcPct val="90000"/>
            </a:lnSpc>
            <a:spcBef>
              <a:spcPct val="0"/>
            </a:spcBef>
            <a:spcAft>
              <a:spcPct val="20000"/>
            </a:spcAft>
            <a:buChar char="•"/>
          </a:pPr>
          <a:r>
            <a:rPr lang="en-CA" sz="1800" kern="1200"/>
            <a:t>Write appropriate unit tests.</a:t>
          </a:r>
          <a:endParaRPr lang="en-US" sz="1800" kern="1200"/>
        </a:p>
        <a:p>
          <a:pPr marL="171450" lvl="1" indent="-171450" algn="l" defTabSz="800100">
            <a:lnSpc>
              <a:spcPct val="90000"/>
            </a:lnSpc>
            <a:spcBef>
              <a:spcPct val="0"/>
            </a:spcBef>
            <a:spcAft>
              <a:spcPct val="20000"/>
            </a:spcAft>
            <a:buChar char="•"/>
          </a:pPr>
          <a:r>
            <a:rPr lang="en-CA" sz="1800" kern="1200"/>
            <a:t>Write well documented pull requests with screenshots where it makes sense.</a:t>
          </a:r>
          <a:endParaRPr lang="en-US" sz="1800" kern="1200"/>
        </a:p>
      </dsp:txBody>
      <dsp:txXfrm>
        <a:off x="0" y="2004894"/>
        <a:ext cx="5721484" cy="223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19A0C-B858-4BE8-8781-E233402027A6}">
      <dsp:nvSpPr>
        <dsp:cNvPr id="0" name=""/>
        <dsp:cNvSpPr/>
      </dsp:nvSpPr>
      <dsp:spPr>
        <a:xfrm>
          <a:off x="1093" y="278908"/>
          <a:ext cx="1790638" cy="71625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Plan</a:t>
          </a:r>
        </a:p>
      </dsp:txBody>
      <dsp:txXfrm>
        <a:off x="1093" y="278908"/>
        <a:ext cx="1611574" cy="716255"/>
      </dsp:txXfrm>
    </dsp:sp>
    <dsp:sp modelId="{0B1E767E-37A3-4CC1-B84D-C3645DF7B139}">
      <dsp:nvSpPr>
        <dsp:cNvPr id="0" name=""/>
        <dsp:cNvSpPr/>
      </dsp:nvSpPr>
      <dsp:spPr>
        <a:xfrm>
          <a:off x="1433604"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Design</a:t>
          </a:r>
        </a:p>
      </dsp:txBody>
      <dsp:txXfrm>
        <a:off x="1791732" y="278908"/>
        <a:ext cx="1074383" cy="716255"/>
      </dsp:txXfrm>
    </dsp:sp>
    <dsp:sp modelId="{90E19628-AAC4-47A5-9BE5-C20911138BCF}">
      <dsp:nvSpPr>
        <dsp:cNvPr id="0" name=""/>
        <dsp:cNvSpPr/>
      </dsp:nvSpPr>
      <dsp:spPr>
        <a:xfrm>
          <a:off x="2866115"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Implement</a:t>
          </a:r>
        </a:p>
      </dsp:txBody>
      <dsp:txXfrm>
        <a:off x="3224243" y="278908"/>
        <a:ext cx="1074383" cy="716255"/>
      </dsp:txXfrm>
    </dsp:sp>
    <dsp:sp modelId="{8CA84BAF-9B13-41BF-855F-F424D1ECFCF2}">
      <dsp:nvSpPr>
        <dsp:cNvPr id="0" name=""/>
        <dsp:cNvSpPr/>
      </dsp:nvSpPr>
      <dsp:spPr>
        <a:xfrm>
          <a:off x="4303908" y="278163"/>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Review</a:t>
          </a:r>
        </a:p>
      </dsp:txBody>
      <dsp:txXfrm>
        <a:off x="4662036" y="278163"/>
        <a:ext cx="1074383" cy="716255"/>
      </dsp:txXfrm>
    </dsp:sp>
    <dsp:sp modelId="{84A1143A-78CC-41F7-A42C-1BD47A9CE203}">
      <dsp:nvSpPr>
        <dsp:cNvPr id="0" name=""/>
        <dsp:cNvSpPr/>
      </dsp:nvSpPr>
      <dsp:spPr>
        <a:xfrm>
          <a:off x="5731137"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Deploy</a:t>
          </a:r>
        </a:p>
      </dsp:txBody>
      <dsp:txXfrm>
        <a:off x="6089265" y="278908"/>
        <a:ext cx="1074383" cy="716255"/>
      </dsp:txXfrm>
    </dsp:sp>
    <dsp:sp modelId="{FCFC7365-5697-464E-B230-8053E5F4A0CD}">
      <dsp:nvSpPr>
        <dsp:cNvPr id="0" name=""/>
        <dsp:cNvSpPr/>
      </dsp:nvSpPr>
      <dsp:spPr>
        <a:xfrm>
          <a:off x="7163648"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Verify</a:t>
          </a:r>
          <a:endParaRPr lang="en-CA" sz="1600" kern="1200" dirty="0"/>
        </a:p>
      </dsp:txBody>
      <dsp:txXfrm>
        <a:off x="7521776" y="278908"/>
        <a:ext cx="1074383" cy="71625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726AE30B-1C7C-4541-8B93-3B3E43E55C90}" type="datetimeFigureOut">
              <a:rPr lang="en-CA" smtClean="0"/>
              <a:t>2025-11-18</a:t>
            </a:fld>
            <a:endParaRPr lang="en-CA"/>
          </a:p>
        </p:txBody>
      </p:sp>
      <p:sp>
        <p:nvSpPr>
          <p:cNvPr id="4" name="Slide Image Placeholder 3"/>
          <p:cNvSpPr>
            <a:spLocks noGrp="1" noRot="1" noChangeAspect="1"/>
          </p:cNvSpPr>
          <p:nvPr>
            <p:ph type="sldImg" idx="2"/>
          </p:nvPr>
        </p:nvSpPr>
        <p:spPr>
          <a:xfrm>
            <a:off x="714375" y="1162050"/>
            <a:ext cx="5575300" cy="313531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A3144D42-F41E-4F01-8130-09084F64DC75}" type="slidenum">
              <a:rPr lang="en-CA" smtClean="0"/>
              <a:t>‹#›</a:t>
            </a:fld>
            <a:endParaRPr lang="en-CA"/>
          </a:p>
        </p:txBody>
      </p:sp>
    </p:spTree>
    <p:extLst>
      <p:ext uri="{BB962C8B-B14F-4D97-AF65-F5344CB8AC3E}">
        <p14:creationId xmlns:p14="http://schemas.microsoft.com/office/powerpoint/2010/main" val="89484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4</a:t>
            </a:fld>
            <a:endParaRPr lang="en-CA"/>
          </a:p>
        </p:txBody>
      </p:sp>
    </p:spTree>
    <p:extLst>
      <p:ext uri="{BB962C8B-B14F-4D97-AF65-F5344CB8AC3E}">
        <p14:creationId xmlns:p14="http://schemas.microsoft.com/office/powerpoint/2010/main" val="1820854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Defines the actual work to be completed, who participates (AI and Human), with a clear concise goal or outcome.</a:t>
            </a:r>
          </a:p>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7</a:t>
            </a:fld>
            <a:endParaRPr lang="en-CA"/>
          </a:p>
        </p:txBody>
      </p:sp>
    </p:spTree>
    <p:extLst>
      <p:ext uri="{BB962C8B-B14F-4D97-AF65-F5344CB8AC3E}">
        <p14:creationId xmlns:p14="http://schemas.microsoft.com/office/powerpoint/2010/main" val="185495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10</a:t>
            </a:fld>
            <a:endParaRPr lang="en-CA"/>
          </a:p>
        </p:txBody>
      </p:sp>
    </p:spTree>
    <p:extLst>
      <p:ext uri="{BB962C8B-B14F-4D97-AF65-F5344CB8AC3E}">
        <p14:creationId xmlns:p14="http://schemas.microsoft.com/office/powerpoint/2010/main" val="675465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Might want a dedicated testing agent and workflow as well.</a:t>
            </a:r>
          </a:p>
        </p:txBody>
      </p:sp>
      <p:sp>
        <p:nvSpPr>
          <p:cNvPr id="4" name="Slide Number Placeholder 3"/>
          <p:cNvSpPr>
            <a:spLocks noGrp="1"/>
          </p:cNvSpPr>
          <p:nvPr>
            <p:ph type="sldNum" sz="quarter" idx="5"/>
          </p:nvPr>
        </p:nvSpPr>
        <p:spPr/>
        <p:txBody>
          <a:bodyPr/>
          <a:lstStyle/>
          <a:p>
            <a:fld id="{A3144D42-F41E-4F01-8130-09084F64DC75}" type="slidenum">
              <a:rPr lang="en-CA" smtClean="0"/>
              <a:t>17</a:t>
            </a:fld>
            <a:endParaRPr lang="en-CA"/>
          </a:p>
        </p:txBody>
      </p:sp>
    </p:spTree>
    <p:extLst>
      <p:ext uri="{BB962C8B-B14F-4D97-AF65-F5344CB8AC3E}">
        <p14:creationId xmlns:p14="http://schemas.microsoft.com/office/powerpoint/2010/main" val="562623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5EE4-54D4-69D1-0170-181416E37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655EEEE-07EC-690C-EF8F-CA531008FD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29E6574-4CFE-B423-D374-8765D9A6458A}"/>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D60F660A-4E37-187F-3C5D-CCBEB19E58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9DB40E-C822-8824-0803-7DF57F92F9D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5474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757A-72D1-20D5-3777-FAFDB22FD2F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A33B839-8E94-9829-852F-0EB324A267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41D53CC-D543-5EA9-D90E-6C960646B926}"/>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87B8F269-1397-455F-C371-7D2AE4F41F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225497-743F-4C1C-7137-959CA6ECB074}"/>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30549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7B68D-C0BF-AAE3-130E-F87132DDA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10B29F-4EA3-8CE2-4975-9241F2009F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067860-6A6E-AAF4-F9CD-CACB6988DC30}"/>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58A44F11-F48A-D218-4E36-BA89790F24F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F5FA2-C800-3747-FA9B-E04642AEAD69}"/>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82189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D5A8-FA21-3145-A108-DF1D853665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B094D39-690A-27BC-662E-C00E53A8DC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339E306-4527-C643-F53E-0AED76434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E8256F1-3151-4468-B110-C1A257CDE44C}"/>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6" name="Footer Placeholder 5">
            <a:extLst>
              <a:ext uri="{FF2B5EF4-FFF2-40B4-BE49-F238E27FC236}">
                <a16:creationId xmlns:a16="http://schemas.microsoft.com/office/drawing/2014/main" id="{CF4885AD-6B04-225B-57FA-37511175799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95102A-D4DD-0EDE-FE80-204EA143BA1A}"/>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8756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0031-ADCA-AB5D-61D5-E039F5ACF9D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DB9FB9A-44C6-40BC-7C47-D51BB1A8D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3F447-09AA-A92E-5AC6-8F4C7A4FD3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6B27CC8-1473-1C71-E4FC-8BCF381F8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378EF-090E-67E8-C734-659A9FF49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BD4EA21-9166-C412-E6AA-0055098EFA43}"/>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8" name="Footer Placeholder 7">
            <a:extLst>
              <a:ext uri="{FF2B5EF4-FFF2-40B4-BE49-F238E27FC236}">
                <a16:creationId xmlns:a16="http://schemas.microsoft.com/office/drawing/2014/main" id="{43015680-FC25-FDF8-0283-1CB032A4D12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D97C088-B983-2945-2C4D-0F08F3CE12D3}"/>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62826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66D6-A133-40E9-96C8-D0658A7736F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AF3AD6C-2F4A-ADCA-964E-C7B85DD86814}"/>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4" name="Footer Placeholder 3">
            <a:extLst>
              <a:ext uri="{FF2B5EF4-FFF2-40B4-BE49-F238E27FC236}">
                <a16:creationId xmlns:a16="http://schemas.microsoft.com/office/drawing/2014/main" id="{031A4683-922A-18EF-840A-D025147A6B3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B731F35-DB6B-1B8D-9CBF-496CE114E6B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90498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A1F41-521C-581B-7809-642238922D6F}"/>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3" name="Footer Placeholder 2">
            <a:extLst>
              <a:ext uri="{FF2B5EF4-FFF2-40B4-BE49-F238E27FC236}">
                <a16:creationId xmlns:a16="http://schemas.microsoft.com/office/drawing/2014/main" id="{39FE8D4B-36C5-1585-DDB6-96FB270F2E4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3115E84-3CCE-06DF-5E47-45F69C3DB7E6}"/>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91168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23AD-8C50-0D17-6DFE-20E2AD35F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7A96967-AF51-CA22-E8D7-917E783B5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9541707-53F5-BF86-3F16-F3861B3D3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2B8E8-A055-927C-FB38-53B095974410}"/>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6" name="Footer Placeholder 5">
            <a:extLst>
              <a:ext uri="{FF2B5EF4-FFF2-40B4-BE49-F238E27FC236}">
                <a16:creationId xmlns:a16="http://schemas.microsoft.com/office/drawing/2014/main" id="{E1459972-F457-B35D-D012-5435A356473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8E60A1F-EE02-5F0D-7BF4-4D9C554440C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15081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BE5F-CA85-507D-4804-69744DB44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90ACCEF-7B14-7C2E-42A0-A3323FD9C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20AAA63-4787-E516-D7A4-7FBAF65B3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36B41-A6CF-D950-E584-8A122335C9A1}"/>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6" name="Footer Placeholder 5">
            <a:extLst>
              <a:ext uri="{FF2B5EF4-FFF2-40B4-BE49-F238E27FC236}">
                <a16:creationId xmlns:a16="http://schemas.microsoft.com/office/drawing/2014/main" id="{39B1F2BB-3D8B-6394-5D9F-7AFD3745B10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C22C28D-7F91-5B81-C7BD-94CD42F3914B}"/>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7817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B10B-4E8A-A045-33E9-1A2DF909FE3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B5426DE-D77A-D0CA-C399-A2D65198B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D2FC31-A0C9-41D2-AC46-EB5D40F87297}"/>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47EC2BBC-533D-0CC3-C51C-A91C1C94DC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534A76C-69DD-606B-4EFA-BC320432395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103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68DD5-5E32-7CE3-988F-F2345BB3D6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08F256-6ED7-2615-E8C2-605A0B67F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EC0ED0-8A32-D507-1B9B-BF7FF79E0524}"/>
              </a:ext>
            </a:extLst>
          </p:cNvPr>
          <p:cNvSpPr>
            <a:spLocks noGrp="1"/>
          </p:cNvSpPr>
          <p:nvPr>
            <p:ph type="dt" sz="half" idx="10"/>
          </p:nvPr>
        </p:nvSpPr>
        <p:spPr/>
        <p:txBody>
          <a:body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A8F50E48-18CB-FDA4-F236-0CF859F9203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54229F-7663-C852-666E-5585853AC0EF}"/>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56049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9E788-1FFD-BFAB-8507-F3F9A902C6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78FC2DF-5B45-D662-192E-BEF307120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F0430FD-AB7E-A8F4-BE84-68B9690CE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2842A0-BC8A-4D15-9ACA-9710C32CF85F}" type="datetimeFigureOut">
              <a:rPr lang="en-CA" smtClean="0"/>
              <a:t>2025-11-18</a:t>
            </a:fld>
            <a:endParaRPr lang="en-CA"/>
          </a:p>
        </p:txBody>
      </p:sp>
      <p:sp>
        <p:nvSpPr>
          <p:cNvPr id="5" name="Footer Placeholder 4">
            <a:extLst>
              <a:ext uri="{FF2B5EF4-FFF2-40B4-BE49-F238E27FC236}">
                <a16:creationId xmlns:a16="http://schemas.microsoft.com/office/drawing/2014/main" id="{EE46924C-EEB8-C2AA-3B25-DC8481E0D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30755AD6-3987-6050-92FD-DCDBDF72F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72C30-ABF4-493D-B0C8-A68D5B867860}" type="slidenum">
              <a:rPr lang="en-CA" smtClean="0"/>
              <a:t>‹#›</a:t>
            </a:fld>
            <a:endParaRPr lang="en-CA"/>
          </a:p>
        </p:txBody>
      </p:sp>
    </p:spTree>
    <p:extLst>
      <p:ext uri="{BB962C8B-B14F-4D97-AF65-F5344CB8AC3E}">
        <p14:creationId xmlns:p14="http://schemas.microsoft.com/office/powerpoint/2010/main" val="1183640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67DB-3C19-DD1B-0E72-EE64B2854079}"/>
              </a:ext>
            </a:extLst>
          </p:cNvPr>
          <p:cNvSpPr>
            <a:spLocks noGrp="1"/>
          </p:cNvSpPr>
          <p:nvPr>
            <p:ph type="ctrTitle"/>
          </p:nvPr>
        </p:nvSpPr>
        <p:spPr/>
        <p:txBody>
          <a:bodyPr/>
          <a:lstStyle/>
          <a:p>
            <a:r>
              <a:rPr lang="en-CA" dirty="0"/>
              <a:t>A2D</a:t>
            </a:r>
          </a:p>
        </p:txBody>
      </p:sp>
      <p:sp>
        <p:nvSpPr>
          <p:cNvPr id="5" name="Subtitle 4">
            <a:extLst>
              <a:ext uri="{FF2B5EF4-FFF2-40B4-BE49-F238E27FC236}">
                <a16:creationId xmlns:a16="http://schemas.microsoft.com/office/drawing/2014/main" id="{732FDC51-1B50-E11F-94FE-9E77E5DE6133}"/>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418825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7C02B8-E412-3924-4ACE-F3E8C4479275}"/>
              </a:ext>
            </a:extLst>
          </p:cNvPr>
          <p:cNvSpPr>
            <a:spLocks noGrp="1"/>
          </p:cNvSpPr>
          <p:nvPr>
            <p:ph type="title"/>
          </p:nvPr>
        </p:nvSpPr>
        <p:spPr>
          <a:xfrm>
            <a:off x="0" y="1"/>
            <a:ext cx="12192000" cy="963706"/>
          </a:xfrm>
          <a:solidFill>
            <a:schemeClr val="tx1"/>
          </a:solidFill>
        </p:spPr>
        <p:txBody>
          <a:bodyPr/>
          <a:lstStyle/>
          <a:p>
            <a:r>
              <a:rPr lang="en-CA" dirty="0">
                <a:solidFill>
                  <a:schemeClr val="bg1"/>
                </a:solidFill>
              </a:rPr>
              <a:t>A2D is not vibe coding</a:t>
            </a:r>
          </a:p>
        </p:txBody>
      </p:sp>
      <p:pic>
        <p:nvPicPr>
          <p:cNvPr id="6" name="Picture 5">
            <a:extLst>
              <a:ext uri="{FF2B5EF4-FFF2-40B4-BE49-F238E27FC236}">
                <a16:creationId xmlns:a16="http://schemas.microsoft.com/office/drawing/2014/main" id="{83FF632B-ED2B-3D90-C32D-954A52B053FA}"/>
              </a:ext>
            </a:extLst>
          </p:cNvPr>
          <p:cNvPicPr>
            <a:picLocks noChangeAspect="1"/>
          </p:cNvPicPr>
          <p:nvPr/>
        </p:nvPicPr>
        <p:blipFill>
          <a:blip r:embed="rId2"/>
          <a:srcRect t="10512"/>
          <a:stretch>
            <a:fillRect/>
          </a:stretch>
        </p:blipFill>
        <p:spPr>
          <a:xfrm>
            <a:off x="0" y="1098045"/>
            <a:ext cx="5765421" cy="5235800"/>
          </a:xfrm>
          <a:prstGeom prst="rect">
            <a:avLst/>
          </a:prstGeom>
        </p:spPr>
      </p:pic>
      <p:pic>
        <p:nvPicPr>
          <p:cNvPr id="8" name="Picture 7">
            <a:extLst>
              <a:ext uri="{FF2B5EF4-FFF2-40B4-BE49-F238E27FC236}">
                <a16:creationId xmlns:a16="http://schemas.microsoft.com/office/drawing/2014/main" id="{1939117A-CB27-2AD8-E5F0-21C0FDF3BA0B}"/>
              </a:ext>
            </a:extLst>
          </p:cNvPr>
          <p:cNvPicPr>
            <a:picLocks noChangeAspect="1"/>
          </p:cNvPicPr>
          <p:nvPr/>
        </p:nvPicPr>
        <p:blipFill>
          <a:blip r:embed="rId3"/>
          <a:stretch>
            <a:fillRect/>
          </a:stretch>
        </p:blipFill>
        <p:spPr>
          <a:xfrm>
            <a:off x="6426581" y="963707"/>
            <a:ext cx="5106231" cy="3231792"/>
          </a:xfrm>
          <a:prstGeom prst="rect">
            <a:avLst/>
          </a:prstGeom>
        </p:spPr>
      </p:pic>
      <p:pic>
        <p:nvPicPr>
          <p:cNvPr id="10" name="Picture 9">
            <a:extLst>
              <a:ext uri="{FF2B5EF4-FFF2-40B4-BE49-F238E27FC236}">
                <a16:creationId xmlns:a16="http://schemas.microsoft.com/office/drawing/2014/main" id="{5A5A8A53-9727-2B71-1E7D-3C821A10F976}"/>
              </a:ext>
            </a:extLst>
          </p:cNvPr>
          <p:cNvPicPr>
            <a:picLocks noChangeAspect="1"/>
          </p:cNvPicPr>
          <p:nvPr/>
        </p:nvPicPr>
        <p:blipFill>
          <a:blip r:embed="rId4"/>
          <a:stretch>
            <a:fillRect/>
          </a:stretch>
        </p:blipFill>
        <p:spPr>
          <a:xfrm>
            <a:off x="6281923" y="4449418"/>
            <a:ext cx="5517588" cy="2008094"/>
          </a:xfrm>
          <a:prstGeom prst="rect">
            <a:avLst/>
          </a:prstGeom>
        </p:spPr>
      </p:pic>
    </p:spTree>
    <p:extLst>
      <p:ext uri="{BB962C8B-B14F-4D97-AF65-F5344CB8AC3E}">
        <p14:creationId xmlns:p14="http://schemas.microsoft.com/office/powerpoint/2010/main" val="389581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3D8D-F803-BFD0-390A-4C7A48B102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C3F3A5-27C1-1A04-DFB1-EFCB904C6E0E}"/>
              </a:ext>
            </a:extLst>
          </p:cNvPr>
          <p:cNvSpPr>
            <a:spLocks noGrp="1"/>
          </p:cNvSpPr>
          <p:nvPr>
            <p:ph type="title"/>
          </p:nvPr>
        </p:nvSpPr>
        <p:spPr>
          <a:xfrm>
            <a:off x="0" y="1"/>
            <a:ext cx="2111188" cy="6904034"/>
          </a:xfrm>
          <a:solidFill>
            <a:schemeClr val="tx1"/>
          </a:solidFill>
        </p:spPr>
        <p:txBody>
          <a:bodyPr>
            <a:normAutofit/>
          </a:bodyPr>
          <a:lstStyle/>
          <a:p>
            <a:r>
              <a:rPr lang="en-CA">
                <a:solidFill>
                  <a:schemeClr val="bg1"/>
                </a:solidFill>
              </a:rPr>
              <a:t>A2D is not vibe coding</a:t>
            </a:r>
            <a:endParaRPr lang="en-CA" dirty="0">
              <a:solidFill>
                <a:schemeClr val="bg1"/>
              </a:solidFill>
            </a:endParaRPr>
          </a:p>
        </p:txBody>
      </p:sp>
      <p:pic>
        <p:nvPicPr>
          <p:cNvPr id="3" name="Picture 2">
            <a:extLst>
              <a:ext uri="{FF2B5EF4-FFF2-40B4-BE49-F238E27FC236}">
                <a16:creationId xmlns:a16="http://schemas.microsoft.com/office/drawing/2014/main" id="{FC8BF87C-58E3-6DF9-E101-5686FD660772}"/>
              </a:ext>
            </a:extLst>
          </p:cNvPr>
          <p:cNvPicPr>
            <a:picLocks noChangeAspect="1"/>
          </p:cNvPicPr>
          <p:nvPr/>
        </p:nvPicPr>
        <p:blipFill>
          <a:blip r:embed="rId2"/>
          <a:stretch>
            <a:fillRect/>
          </a:stretch>
        </p:blipFill>
        <p:spPr>
          <a:xfrm>
            <a:off x="2049670" y="-6054"/>
            <a:ext cx="10142330" cy="6910090"/>
          </a:xfrm>
          <a:prstGeom prst="rect">
            <a:avLst/>
          </a:prstGeom>
        </p:spPr>
      </p:pic>
    </p:spTree>
    <p:extLst>
      <p:ext uri="{BB962C8B-B14F-4D97-AF65-F5344CB8AC3E}">
        <p14:creationId xmlns:p14="http://schemas.microsoft.com/office/powerpoint/2010/main" val="3443487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lose-up of hopscotch on a sidewalk">
            <a:extLst>
              <a:ext uri="{FF2B5EF4-FFF2-40B4-BE49-F238E27FC236}">
                <a16:creationId xmlns:a16="http://schemas.microsoft.com/office/drawing/2014/main" id="{01E65753-3203-8B20-DC6C-4781C0A3E2D7}"/>
              </a:ext>
            </a:extLst>
          </p:cNvPr>
          <p:cNvPicPr>
            <a:picLocks noChangeAspect="1"/>
          </p:cNvPicPr>
          <p:nvPr/>
        </p:nvPicPr>
        <p:blipFill>
          <a:blip r:embed="rId3"/>
          <a:srcRect t="8311" b="7419"/>
          <a:stretch>
            <a:fillRect/>
          </a:stretch>
        </p:blipFill>
        <p:spPr>
          <a:xfrm>
            <a:off x="20" y="-22"/>
            <a:ext cx="12191977" cy="6858022"/>
          </a:xfrm>
          <a:prstGeom prst="rect">
            <a:avLst/>
          </a:prstGeom>
        </p:spPr>
      </p:pic>
      <p:sp>
        <p:nvSpPr>
          <p:cNvPr id="24" name="Rectangle 23">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94D7086-FAF5-D409-CC46-E64533FFB40B}"/>
              </a:ext>
            </a:extLst>
          </p:cNvPr>
          <p:cNvSpPr>
            <a:spLocks noGrp="1"/>
          </p:cNvSpPr>
          <p:nvPr>
            <p:ph type="title"/>
          </p:nvPr>
        </p:nvSpPr>
        <p:spPr>
          <a:xfrm>
            <a:off x="643466" y="643467"/>
            <a:ext cx="5452529" cy="3569242"/>
          </a:xfrm>
        </p:spPr>
        <p:txBody>
          <a:bodyPr vert="horz" lIns="91440" tIns="45720" rIns="91440" bIns="45720" rtlCol="0" anchor="t">
            <a:normAutofit/>
          </a:bodyPr>
          <a:lstStyle/>
          <a:p>
            <a:r>
              <a:rPr lang="en-US" sz="5200">
                <a:solidFill>
                  <a:srgbClr val="FFFFFF"/>
                </a:solidFill>
              </a:rPr>
              <a:t>Demo Time</a:t>
            </a:r>
            <a:endParaRPr lang="en-US" sz="5200" dirty="0">
              <a:solidFill>
                <a:srgbClr val="FFFFFF"/>
              </a:solidFill>
            </a:endParaRPr>
          </a:p>
        </p:txBody>
      </p:sp>
      <p:sp>
        <p:nvSpPr>
          <p:cNvPr id="5" name="Text Placeholder 4">
            <a:extLst>
              <a:ext uri="{FF2B5EF4-FFF2-40B4-BE49-F238E27FC236}">
                <a16:creationId xmlns:a16="http://schemas.microsoft.com/office/drawing/2014/main" id="{83DBCB44-8C5B-A1DE-8955-47FDC2768884}"/>
              </a:ext>
            </a:extLst>
          </p:cNvPr>
          <p:cNvSpPr>
            <a:spLocks noGrp="1"/>
          </p:cNvSpPr>
          <p:nvPr>
            <p:ph type="body" idx="1"/>
          </p:nvPr>
        </p:nvSpPr>
        <p:spPr>
          <a:xfrm>
            <a:off x="643466" y="4551037"/>
            <a:ext cx="5449479" cy="1578054"/>
          </a:xfrm>
        </p:spPr>
        <p:txBody>
          <a:bodyPr vert="horz" lIns="91440" tIns="45720" rIns="91440" bIns="45720" rtlCol="0" anchor="b">
            <a:normAutofit/>
          </a:bodyPr>
          <a:lstStyle/>
          <a:p>
            <a:endParaRPr lang="en-US">
              <a:solidFill>
                <a:srgbClr val="FFFFFF"/>
              </a:solidFill>
            </a:endParaRPr>
          </a:p>
        </p:txBody>
      </p:sp>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2EAD7CC-697A-17D2-891D-C1D913C1B534}"/>
              </a:ext>
            </a:extLst>
          </p:cNvPr>
          <p:cNvPicPr>
            <a:picLocks noChangeAspect="1"/>
          </p:cNvPicPr>
          <p:nvPr/>
        </p:nvPicPr>
        <p:blipFill>
          <a:blip r:embed="rId4"/>
          <a:stretch>
            <a:fillRect/>
          </a:stretch>
        </p:blipFill>
        <p:spPr>
          <a:xfrm>
            <a:off x="2061832" y="1778792"/>
            <a:ext cx="7763947" cy="4867836"/>
          </a:xfrm>
          <a:prstGeom prst="rect">
            <a:avLst/>
          </a:prstGeom>
        </p:spPr>
      </p:pic>
    </p:spTree>
    <p:extLst>
      <p:ext uri="{BB962C8B-B14F-4D97-AF65-F5344CB8AC3E}">
        <p14:creationId xmlns:p14="http://schemas.microsoft.com/office/powerpoint/2010/main" val="311688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0252-16B2-1A83-1E72-12F8342C7F5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DA4D2B1-45D6-3A18-07B2-6C986C063479}"/>
              </a:ext>
            </a:extLst>
          </p:cNvPr>
          <p:cNvPicPr>
            <a:picLocks noChangeAspect="1"/>
          </p:cNvPicPr>
          <p:nvPr/>
        </p:nvPicPr>
        <p:blipFill>
          <a:blip r:embed="rId2"/>
          <a:stretch>
            <a:fillRect/>
          </a:stretch>
        </p:blipFill>
        <p:spPr>
          <a:xfrm>
            <a:off x="3840734" y="0"/>
            <a:ext cx="4510531" cy="6858000"/>
          </a:xfrm>
          <a:prstGeom prst="rect">
            <a:avLst/>
          </a:prstGeom>
        </p:spPr>
      </p:pic>
    </p:spTree>
    <p:extLst>
      <p:ext uri="{BB962C8B-B14F-4D97-AF65-F5344CB8AC3E}">
        <p14:creationId xmlns:p14="http://schemas.microsoft.com/office/powerpoint/2010/main" val="273609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5E24104-D82A-26A2-1164-BEF82BFFC10B}"/>
              </a:ext>
            </a:extLst>
          </p:cNvPr>
          <p:cNvPicPr>
            <a:picLocks noChangeAspect="1"/>
          </p:cNvPicPr>
          <p:nvPr/>
        </p:nvPicPr>
        <p:blipFill>
          <a:blip r:embed="rId2"/>
          <a:stretch>
            <a:fillRect/>
          </a:stretch>
        </p:blipFill>
        <p:spPr>
          <a:xfrm>
            <a:off x="789578" y="0"/>
            <a:ext cx="10612843" cy="6858000"/>
          </a:xfrm>
          <a:prstGeom prst="rect">
            <a:avLst/>
          </a:prstGeom>
        </p:spPr>
      </p:pic>
    </p:spTree>
    <p:extLst>
      <p:ext uri="{BB962C8B-B14F-4D97-AF65-F5344CB8AC3E}">
        <p14:creationId xmlns:p14="http://schemas.microsoft.com/office/powerpoint/2010/main" val="78622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8DC26-45C6-0EF8-907B-BF240F3B51F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3F4120F-B5BB-7445-3EDE-515EC6AD9723}"/>
              </a:ext>
            </a:extLst>
          </p:cNvPr>
          <p:cNvSpPr>
            <a:spLocks noGrp="1"/>
          </p:cNvSpPr>
          <p:nvPr>
            <p:ph type="title"/>
          </p:nvPr>
        </p:nvSpPr>
        <p:spPr>
          <a:xfrm>
            <a:off x="838200" y="365125"/>
            <a:ext cx="10515600" cy="930275"/>
          </a:xfrm>
        </p:spPr>
        <p:txBody>
          <a:bodyPr>
            <a:normAutofit/>
          </a:bodyPr>
          <a:lstStyle/>
          <a:p>
            <a:r>
              <a:rPr lang="en-CA" dirty="0"/>
              <a:t>Component Definition</a:t>
            </a:r>
          </a:p>
        </p:txBody>
      </p:sp>
      <p:graphicFrame>
        <p:nvGraphicFramePr>
          <p:cNvPr id="4" name="Content Placeholder 3">
            <a:extLst>
              <a:ext uri="{FF2B5EF4-FFF2-40B4-BE49-F238E27FC236}">
                <a16:creationId xmlns:a16="http://schemas.microsoft.com/office/drawing/2014/main" id="{43CDDF9C-6CE1-179C-E2F6-D8E89D272C70}"/>
              </a:ext>
            </a:extLst>
          </p:cNvPr>
          <p:cNvGraphicFramePr>
            <a:graphicFrameLocks noGrp="1"/>
          </p:cNvGraphicFramePr>
          <p:nvPr>
            <p:ph idx="1"/>
            <p:extLst>
              <p:ext uri="{D42A27DB-BD31-4B8C-83A1-F6EECF244321}">
                <p14:modId xmlns:p14="http://schemas.microsoft.com/office/powerpoint/2010/main" val="3925503419"/>
              </p:ext>
            </p:extLst>
          </p:nvPr>
        </p:nvGraphicFramePr>
        <p:xfrm>
          <a:off x="836675" y="1660525"/>
          <a:ext cx="10515601" cy="4874785"/>
        </p:xfrm>
        <a:graphic>
          <a:graphicData uri="http://schemas.openxmlformats.org/drawingml/2006/table">
            <a:tbl>
              <a:tblPr firstRow="1" bandRow="1">
                <a:tableStyleId>{3B4B98B0-60AC-42C2-AFA5-B58CD77FA1E5}</a:tableStyleId>
              </a:tblPr>
              <a:tblGrid>
                <a:gridCol w="2258391">
                  <a:extLst>
                    <a:ext uri="{9D8B030D-6E8A-4147-A177-3AD203B41FA5}">
                      <a16:colId xmlns:a16="http://schemas.microsoft.com/office/drawing/2014/main" val="2567470663"/>
                    </a:ext>
                  </a:extLst>
                </a:gridCol>
                <a:gridCol w="8257210">
                  <a:extLst>
                    <a:ext uri="{9D8B030D-6E8A-4147-A177-3AD203B41FA5}">
                      <a16:colId xmlns:a16="http://schemas.microsoft.com/office/drawing/2014/main" val="2198357558"/>
                    </a:ext>
                  </a:extLst>
                </a:gridCol>
              </a:tblGrid>
              <a:tr h="425268">
                <a:tc>
                  <a:txBody>
                    <a:bodyPr/>
                    <a:lstStyle/>
                    <a:p>
                      <a:r>
                        <a:rPr lang="en-CA" sz="2000" dirty="0"/>
                        <a:t>Artifact</a:t>
                      </a:r>
                    </a:p>
                  </a:txBody>
                  <a:tcPr marL="127333" marR="127333" marT="63667" marB="63667"/>
                </a:tc>
                <a:tc>
                  <a:txBody>
                    <a:bodyPr/>
                    <a:lstStyle/>
                    <a:p>
                      <a:r>
                        <a:rPr lang="en-CA" sz="2000"/>
                        <a:t>Description</a:t>
                      </a:r>
                    </a:p>
                  </a:txBody>
                  <a:tcPr marL="127333" marR="127333" marT="63667" marB="63667"/>
                </a:tc>
                <a:extLst>
                  <a:ext uri="{0D108BD9-81ED-4DB2-BD59-A6C34878D82A}">
                    <a16:rowId xmlns:a16="http://schemas.microsoft.com/office/drawing/2014/main" val="3342386489"/>
                  </a:ext>
                </a:extLst>
              </a:tr>
              <a:tr h="1197376">
                <a:tc>
                  <a:txBody>
                    <a:bodyPr/>
                    <a:lstStyle/>
                    <a:p>
                      <a:r>
                        <a:rPr lang="en-CA" sz="2000" b="1" dirty="0"/>
                        <a:t>Work Item Templates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Issues, Sub-Issues, Pull requests all must structured in a consistent form. Agent definitions will reference these templates for both read/write operations. </a:t>
                      </a:r>
                    </a:p>
                  </a:txBody>
                  <a:tcPr marL="127333" marR="127333" marT="63667" marB="63667"/>
                </a:tc>
                <a:extLst>
                  <a:ext uri="{0D108BD9-81ED-4DB2-BD59-A6C34878D82A}">
                    <a16:rowId xmlns:a16="http://schemas.microsoft.com/office/drawing/2014/main" val="3794928914"/>
                  </a:ext>
                </a:extLst>
              </a:tr>
              <a:tr h="1197376">
                <a:tc>
                  <a:txBody>
                    <a:bodyPr/>
                    <a:lstStyle/>
                    <a:p>
                      <a:r>
                        <a:rPr lang="en-CA" sz="2000" b="1"/>
                        <a:t>Agent Definitions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Describes agent role and purpose. Configures access to “tools” and to enable “workflows”. Reinforce use of archetypes and expectations of output.</a:t>
                      </a:r>
                    </a:p>
                  </a:txBody>
                  <a:tcPr marL="127333" marR="127333" marT="63667" marB="63667"/>
                </a:tc>
                <a:extLst>
                  <a:ext uri="{0D108BD9-81ED-4DB2-BD59-A6C34878D82A}">
                    <a16:rowId xmlns:a16="http://schemas.microsoft.com/office/drawing/2014/main" val="1372189588"/>
                  </a:ext>
                </a:extLst>
              </a:tr>
              <a:tr h="1006165">
                <a:tc>
                  <a:txBody>
                    <a:bodyPr/>
                    <a:lstStyle/>
                    <a:p>
                      <a:r>
                        <a:rPr lang="en-CA" sz="2000" b="1" dirty="0"/>
                        <a:t>Archetypes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Detailed and structured documentation about the frameworks and patterns the agents should use. Curated by experts with AI assistance.</a:t>
                      </a:r>
                    </a:p>
                    <a:p>
                      <a:endParaRPr lang="en-CA" sz="2000" dirty="0"/>
                    </a:p>
                  </a:txBody>
                  <a:tcPr marL="127333" marR="127333" marT="63667" marB="63667"/>
                </a:tc>
                <a:extLst>
                  <a:ext uri="{0D108BD9-81ED-4DB2-BD59-A6C34878D82A}">
                    <a16:rowId xmlns:a16="http://schemas.microsoft.com/office/drawing/2014/main" val="465817454"/>
                  </a:ext>
                </a:extLst>
              </a:tr>
              <a:tr h="1006165">
                <a:tc>
                  <a:txBody>
                    <a:bodyPr/>
                    <a:lstStyle/>
                    <a:p>
                      <a:r>
                        <a:rPr lang="en-CA" sz="2000" b="1" dirty="0"/>
                        <a:t>Workflows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Defines the actual work to be completed, who participates, role (AI and Human), with a clear concise goal or outcome.</a:t>
                      </a:r>
                    </a:p>
                  </a:txBody>
                  <a:tcPr marL="127333" marR="127333" marT="63667" marB="63667"/>
                </a:tc>
                <a:extLst>
                  <a:ext uri="{0D108BD9-81ED-4DB2-BD59-A6C34878D82A}">
                    <a16:rowId xmlns:a16="http://schemas.microsoft.com/office/drawing/2014/main" val="1668758639"/>
                  </a:ext>
                </a:extLst>
              </a:tr>
            </a:tbl>
          </a:graphicData>
        </a:graphic>
      </p:graphicFrame>
    </p:spTree>
    <p:extLst>
      <p:ext uri="{BB962C8B-B14F-4D97-AF65-F5344CB8AC3E}">
        <p14:creationId xmlns:p14="http://schemas.microsoft.com/office/powerpoint/2010/main" val="135834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CE8FA-6F0B-0D7E-0DBF-DE049D1AD1D9}"/>
              </a:ext>
            </a:extLst>
          </p:cNvPr>
          <p:cNvSpPr>
            <a:spLocks noGrp="1"/>
          </p:cNvSpPr>
          <p:nvPr>
            <p:ph type="title"/>
          </p:nvPr>
        </p:nvSpPr>
        <p:spPr>
          <a:xfrm>
            <a:off x="6513788" y="1"/>
            <a:ext cx="4840010" cy="1246094"/>
          </a:xfrm>
        </p:spPr>
        <p:txBody>
          <a:bodyPr>
            <a:normAutofit/>
          </a:bodyPr>
          <a:lstStyle/>
          <a:p>
            <a:r>
              <a:rPr lang="en-CA" dirty="0"/>
              <a:t>Hiding the IP</a:t>
            </a:r>
          </a:p>
        </p:txBody>
      </p:sp>
      <p:pic>
        <p:nvPicPr>
          <p:cNvPr id="5" name="Picture 4" descr="Cubes connected with a red line">
            <a:extLst>
              <a:ext uri="{FF2B5EF4-FFF2-40B4-BE49-F238E27FC236}">
                <a16:creationId xmlns:a16="http://schemas.microsoft.com/office/drawing/2014/main" id="{4E184B4A-C789-311A-F3C1-BAA9F97D8EB7}"/>
              </a:ext>
            </a:extLst>
          </p:cNvPr>
          <p:cNvPicPr>
            <a:picLocks noChangeAspect="1"/>
          </p:cNvPicPr>
          <p:nvPr/>
        </p:nvPicPr>
        <p:blipFill>
          <a:blip r:embed="rId2"/>
          <a:srcRect l="17641" r="1368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DE79E6C-9B34-E93D-AB86-4231A1BD4B9D}"/>
              </a:ext>
            </a:extLst>
          </p:cNvPr>
          <p:cNvSpPr>
            <a:spLocks noGrp="1"/>
          </p:cNvSpPr>
          <p:nvPr>
            <p:ph idx="1"/>
          </p:nvPr>
        </p:nvSpPr>
        <p:spPr>
          <a:xfrm>
            <a:off x="5373413" y="1122017"/>
            <a:ext cx="6540291" cy="5509396"/>
          </a:xfrm>
        </p:spPr>
        <p:txBody>
          <a:bodyPr>
            <a:noAutofit/>
          </a:bodyPr>
          <a:lstStyle/>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Since agents rely on definitions, archetypes, and workflows, these components are produced in markdown format to ensure they remain easily readable.</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This format presents challenges in concealing, updating, and managing the artifacts as proprietary, as well as maintaining synchronization with a central repository.</a:t>
            </a:r>
          </a:p>
          <a:p>
            <a:pPr marL="457200" indent="0" algn="l" rtl="0" eaLnBrk="1" latinLnBrk="0" hangingPunct="1">
              <a:lnSpc>
                <a:spcPct val="90000"/>
              </a:lnSpc>
              <a:spcBef>
                <a:spcPts val="500"/>
              </a:spcBef>
              <a:buNone/>
            </a:pPr>
            <a:r>
              <a:rPr lang="en-US" sz="2000" b="1" dirty="0">
                <a:solidFill>
                  <a:srgbClr val="000000"/>
                </a:solidFill>
                <a:effectLst/>
                <a:latin typeface="Aptos" panose="020B0004020202020204" pitchFamily="34" charset="0"/>
              </a:rPr>
              <a:t>Conceptual Proposed Solution*</a:t>
            </a:r>
            <a:r>
              <a:rPr lang="en-US" sz="2000" dirty="0">
                <a:solidFill>
                  <a:srgbClr val="000000"/>
                </a:solidFill>
                <a:effectLst/>
                <a:latin typeface="Aptos" panose="020B0004020202020204" pitchFamily="34" charset="0"/>
              </a:rPr>
              <a:t>:</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Safeguard intellectual property through a dedicated MCP server.</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Deploy the MCP server via the GitHub registry.</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Issue access tokens to paying customers and subscribers for MCP server access.</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Implement support for multiple versions to maintain backward compatibility and accommodate potential changes in the MCP environment.</a:t>
            </a:r>
            <a:endParaRPr lang="en-CA" sz="2000" dirty="0"/>
          </a:p>
        </p:txBody>
      </p:sp>
      <p:sp>
        <p:nvSpPr>
          <p:cNvPr id="6" name="TextBox 5">
            <a:extLst>
              <a:ext uri="{FF2B5EF4-FFF2-40B4-BE49-F238E27FC236}">
                <a16:creationId xmlns:a16="http://schemas.microsoft.com/office/drawing/2014/main" id="{0EF783EC-7164-C597-BC7D-CE425BED1FBD}"/>
              </a:ext>
            </a:extLst>
          </p:cNvPr>
          <p:cNvSpPr txBox="1"/>
          <p:nvPr/>
        </p:nvSpPr>
        <p:spPr>
          <a:xfrm>
            <a:off x="50800" y="6446747"/>
            <a:ext cx="6118086" cy="369332"/>
          </a:xfrm>
          <a:prstGeom prst="rect">
            <a:avLst/>
          </a:prstGeom>
          <a:noFill/>
        </p:spPr>
        <p:txBody>
          <a:bodyPr wrap="square">
            <a:spAutoFit/>
          </a:bodyPr>
          <a:lstStyle/>
          <a:p>
            <a:r>
              <a:rPr lang="en-US" sz="1800" i="1" dirty="0">
                <a:solidFill>
                  <a:srgbClr val="000000"/>
                </a:solidFill>
                <a:effectLst/>
                <a:latin typeface="Aptos" panose="020B0004020202020204" pitchFamily="34" charset="0"/>
              </a:rPr>
              <a:t>*Currently theoretical and unconfirmed</a:t>
            </a:r>
            <a:endParaRPr lang="en-CA" i="1" dirty="0"/>
          </a:p>
        </p:txBody>
      </p:sp>
    </p:spTree>
    <p:extLst>
      <p:ext uri="{BB962C8B-B14F-4D97-AF65-F5344CB8AC3E}">
        <p14:creationId xmlns:p14="http://schemas.microsoft.com/office/powerpoint/2010/main" val="167831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6326-F5D6-CB23-223B-2B15AA309A6B}"/>
              </a:ext>
            </a:extLst>
          </p:cNvPr>
          <p:cNvSpPr>
            <a:spLocks noGrp="1"/>
          </p:cNvSpPr>
          <p:nvPr>
            <p:ph type="title"/>
          </p:nvPr>
        </p:nvSpPr>
        <p:spPr>
          <a:xfrm>
            <a:off x="0" y="0"/>
            <a:ext cx="10515600" cy="932329"/>
          </a:xfrm>
        </p:spPr>
        <p:txBody>
          <a:bodyPr/>
          <a:lstStyle/>
          <a:p>
            <a:r>
              <a:rPr lang="en-CA" dirty="0"/>
              <a:t>Proposed Architecture</a:t>
            </a:r>
          </a:p>
        </p:txBody>
      </p:sp>
      <p:pic>
        <p:nvPicPr>
          <p:cNvPr id="9" name="Picture 8">
            <a:extLst>
              <a:ext uri="{FF2B5EF4-FFF2-40B4-BE49-F238E27FC236}">
                <a16:creationId xmlns:a16="http://schemas.microsoft.com/office/drawing/2014/main" id="{F1AFF4C8-533C-F23F-4B3B-8A6F9888FD2C}"/>
              </a:ext>
            </a:extLst>
          </p:cNvPr>
          <p:cNvPicPr>
            <a:picLocks noChangeAspect="1"/>
          </p:cNvPicPr>
          <p:nvPr/>
        </p:nvPicPr>
        <p:blipFill>
          <a:blip r:embed="rId2"/>
          <a:stretch>
            <a:fillRect/>
          </a:stretch>
        </p:blipFill>
        <p:spPr>
          <a:xfrm>
            <a:off x="1207048" y="329244"/>
            <a:ext cx="10027009" cy="6528756"/>
          </a:xfrm>
          <a:prstGeom prst="rect">
            <a:avLst/>
          </a:prstGeom>
        </p:spPr>
      </p:pic>
    </p:spTree>
    <p:extLst>
      <p:ext uri="{BB962C8B-B14F-4D97-AF65-F5344CB8AC3E}">
        <p14:creationId xmlns:p14="http://schemas.microsoft.com/office/powerpoint/2010/main" val="1087288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B6C04BF-2357-AFB3-302E-D9BA61E53DD0}"/>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Workflows</a:t>
            </a:r>
          </a:p>
        </p:txBody>
      </p:sp>
      <p:sp>
        <p:nvSpPr>
          <p:cNvPr id="5" name="Text Placeholder 4">
            <a:extLst>
              <a:ext uri="{FF2B5EF4-FFF2-40B4-BE49-F238E27FC236}">
                <a16:creationId xmlns:a16="http://schemas.microsoft.com/office/drawing/2014/main" id="{0622F39C-ED1A-1946-423B-42C533C7EB6B}"/>
              </a:ext>
            </a:extLst>
          </p:cNvPr>
          <p:cNvSpPr>
            <a:spLocks noGrp="1"/>
          </p:cNvSpPr>
          <p:nvPr>
            <p:ph type="body" idx="1"/>
          </p:nvPr>
        </p:nvSpPr>
        <p:spPr>
          <a:xfrm>
            <a:off x="5354955" y="4067032"/>
            <a:ext cx="5998840" cy="2067068"/>
          </a:xfrm>
          <a:noFill/>
        </p:spPr>
        <p:txBody>
          <a:bodyPr vert="horz" lIns="91440" tIns="45720" rIns="91440" bIns="45720" rtlCol="0">
            <a:normAutofit/>
          </a:bodyPr>
          <a:lstStyle/>
          <a:p>
            <a:endParaRPr lang="en-US">
              <a:solidFill>
                <a:schemeClr val="tx1"/>
              </a:solidFill>
            </a:endParaRPr>
          </a:p>
        </p:txBody>
      </p:sp>
      <p:pic>
        <p:nvPicPr>
          <p:cNvPr id="20" name="Picture 19" descr="Different colored organizers">
            <a:extLst>
              <a:ext uri="{FF2B5EF4-FFF2-40B4-BE49-F238E27FC236}">
                <a16:creationId xmlns:a16="http://schemas.microsoft.com/office/drawing/2014/main" id="{51818EA9-8AAD-81D4-15EA-0ACA0B00B8AE}"/>
              </a:ext>
            </a:extLst>
          </p:cNvPr>
          <p:cNvPicPr>
            <a:picLocks noChangeAspect="1"/>
          </p:cNvPicPr>
          <p:nvPr/>
        </p:nvPicPr>
        <p:blipFill>
          <a:blip r:embed="rId3"/>
          <a:srcRect l="28030" r="27923" b="1"/>
          <a:stretch>
            <a:fillRect/>
          </a:stretch>
        </p:blipFill>
        <p:spPr>
          <a:xfrm>
            <a:off x="20" y="10"/>
            <a:ext cx="4992985" cy="6857990"/>
          </a:xfrm>
          <a:prstGeom prst="rect">
            <a:avLst/>
          </a:prstGeom>
        </p:spPr>
      </p:pic>
    </p:spTree>
    <p:extLst>
      <p:ext uri="{BB962C8B-B14F-4D97-AF65-F5344CB8AC3E}">
        <p14:creationId xmlns:p14="http://schemas.microsoft.com/office/powerpoint/2010/main" val="398600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4C52B-E03F-87E9-E766-774F3F7916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998D9-2631-8552-7089-101DFC27EAF6}"/>
              </a:ext>
            </a:extLst>
          </p:cNvPr>
          <p:cNvSpPr>
            <a:spLocks noGrp="1"/>
          </p:cNvSpPr>
          <p:nvPr>
            <p:ph type="title"/>
          </p:nvPr>
        </p:nvSpPr>
        <p:spPr>
          <a:xfrm>
            <a:off x="6513788" y="365125"/>
            <a:ext cx="4840010" cy="1807305"/>
          </a:xfrm>
        </p:spPr>
        <p:txBody>
          <a:bodyPr>
            <a:normAutofit/>
          </a:bodyPr>
          <a:lstStyle/>
          <a:p>
            <a:r>
              <a:rPr lang="en-CA" dirty="0"/>
              <a:t>Planning Workflow</a:t>
            </a:r>
          </a:p>
        </p:txBody>
      </p:sp>
      <p:pic>
        <p:nvPicPr>
          <p:cNvPr id="5" name="Picture 4" descr="A person reaching for a paper on a table full of paper and sticky notes">
            <a:extLst>
              <a:ext uri="{FF2B5EF4-FFF2-40B4-BE49-F238E27FC236}">
                <a16:creationId xmlns:a16="http://schemas.microsoft.com/office/drawing/2014/main" id="{F6578DA4-E9BD-1DAB-8F43-82FD1A61775D}"/>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202436A-A0EA-7563-93CB-FB1641CF018F}"/>
              </a:ext>
            </a:extLst>
          </p:cNvPr>
          <p:cNvSpPr>
            <a:spLocks noGrp="1"/>
          </p:cNvSpPr>
          <p:nvPr>
            <p:ph idx="1"/>
          </p:nvPr>
        </p:nvSpPr>
        <p:spPr>
          <a:xfrm>
            <a:off x="6513788" y="1813496"/>
            <a:ext cx="4840010" cy="4363467"/>
          </a:xfrm>
        </p:spPr>
        <p:txBody>
          <a:bodyPr>
            <a:noAutofit/>
          </a:bodyPr>
          <a:lstStyle/>
          <a:p>
            <a:pPr>
              <a:lnSpc>
                <a:spcPct val="100000"/>
              </a:lnSpc>
              <a:spcBef>
                <a:spcPts val="600"/>
              </a:spcBef>
            </a:pPr>
            <a:r>
              <a:rPr lang="en-CA" sz="1800" dirty="0"/>
              <a:t>The planning workflow uses the [planning-agent] to ensure work is well defined and has acceptance criteria.</a:t>
            </a:r>
          </a:p>
          <a:p>
            <a:pPr>
              <a:lnSpc>
                <a:spcPct val="100000"/>
              </a:lnSpc>
              <a:spcBef>
                <a:spcPts val="600"/>
              </a:spcBef>
            </a:pPr>
            <a:r>
              <a:rPr lang="en-CA" sz="1800" dirty="0"/>
              <a:t>The [planning-agent] can ask questions, update work items, and split large items into multiple sub-items and tasks.</a:t>
            </a:r>
          </a:p>
          <a:p>
            <a:pPr>
              <a:lnSpc>
                <a:spcPct val="100000"/>
              </a:lnSpc>
              <a:spcBef>
                <a:spcPts val="600"/>
              </a:spcBef>
            </a:pPr>
            <a:r>
              <a:rPr lang="en-CA" sz="1800" dirty="0"/>
              <a:t>It can recommend next steps by analyzing what needs to be completed. IE: understanding the task is to create a user interface and recommending the [UI Design Workflow]</a:t>
            </a:r>
          </a:p>
          <a:p>
            <a:pPr>
              <a:lnSpc>
                <a:spcPct val="100000"/>
              </a:lnSpc>
              <a:spcBef>
                <a:spcPts val="600"/>
              </a:spcBef>
            </a:pPr>
            <a:r>
              <a:rPr lang="en-CA" sz="1800" dirty="0"/>
              <a:t>A planning conversation is a quick way to build up the backlog.</a:t>
            </a:r>
          </a:p>
        </p:txBody>
      </p:sp>
    </p:spTree>
    <p:extLst>
      <p:ext uri="{BB962C8B-B14F-4D97-AF65-F5344CB8AC3E}">
        <p14:creationId xmlns:p14="http://schemas.microsoft.com/office/powerpoint/2010/main" val="34869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AB32F3-6121-461A-A58F-39197D1CB13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D97F-062C-504C-AEEF-B4381F1354FC}"/>
              </a:ext>
            </a:extLst>
          </p:cNvPr>
          <p:cNvSpPr>
            <a:spLocks noGrp="1"/>
          </p:cNvSpPr>
          <p:nvPr>
            <p:ph type="title"/>
          </p:nvPr>
        </p:nvSpPr>
        <p:spPr>
          <a:xfrm>
            <a:off x="6513788" y="365125"/>
            <a:ext cx="4840010" cy="1807305"/>
          </a:xfrm>
        </p:spPr>
        <p:txBody>
          <a:bodyPr>
            <a:normAutofit/>
          </a:bodyPr>
          <a:lstStyle/>
          <a:p>
            <a:r>
              <a:rPr lang="en-CA" dirty="0"/>
              <a:t>Suggestion Workflow</a:t>
            </a:r>
          </a:p>
        </p:txBody>
      </p:sp>
      <p:pic>
        <p:nvPicPr>
          <p:cNvPr id="27" name="Picture 26" descr="A person reaching for a paper on a table full of paper and sticky notes">
            <a:extLst>
              <a:ext uri="{FF2B5EF4-FFF2-40B4-BE49-F238E27FC236}">
                <a16:creationId xmlns:a16="http://schemas.microsoft.com/office/drawing/2014/main" id="{0C868E36-0E5E-B6BF-432C-CC91D0CB7E6E}"/>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461ECF50-5B5E-AA74-3424-8607211EB40B}"/>
              </a:ext>
            </a:extLst>
          </p:cNvPr>
          <p:cNvSpPr>
            <a:spLocks noGrp="1"/>
          </p:cNvSpPr>
          <p:nvPr>
            <p:ph idx="1"/>
          </p:nvPr>
        </p:nvSpPr>
        <p:spPr>
          <a:xfrm>
            <a:off x="6513788" y="2333297"/>
            <a:ext cx="4840010" cy="3843666"/>
          </a:xfrm>
        </p:spPr>
        <p:txBody>
          <a:bodyPr>
            <a:normAutofit/>
          </a:bodyPr>
          <a:lstStyle/>
          <a:p>
            <a:r>
              <a:rPr lang="en-CA" sz="2000" dirty="0"/>
              <a:t>Scan the current set of issues, code comments, and markdown checklists to recommend what should be done next.</a:t>
            </a:r>
          </a:p>
          <a:p>
            <a:r>
              <a:rPr lang="en-CA" sz="2000" dirty="0"/>
              <a:t>Used by product owner and architect</a:t>
            </a:r>
          </a:p>
          <a:p>
            <a:r>
              <a:rPr lang="en-CA" sz="2000" dirty="0"/>
              <a:t>Uses [planning-agent]</a:t>
            </a:r>
          </a:p>
        </p:txBody>
      </p:sp>
    </p:spTree>
    <p:extLst>
      <p:ext uri="{BB962C8B-B14F-4D97-AF65-F5344CB8AC3E}">
        <p14:creationId xmlns:p14="http://schemas.microsoft.com/office/powerpoint/2010/main" val="18606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373968-C949-980D-397A-605806324F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D299C-2F3F-CD52-A5FC-C6099719A3D1}"/>
              </a:ext>
            </a:extLst>
          </p:cNvPr>
          <p:cNvSpPr>
            <a:spLocks noGrp="1"/>
          </p:cNvSpPr>
          <p:nvPr>
            <p:ph type="title"/>
          </p:nvPr>
        </p:nvSpPr>
        <p:spPr>
          <a:xfrm>
            <a:off x="6513788" y="365125"/>
            <a:ext cx="4840010" cy="1807305"/>
          </a:xfrm>
        </p:spPr>
        <p:txBody>
          <a:bodyPr>
            <a:normAutofit/>
          </a:bodyPr>
          <a:lstStyle/>
          <a:p>
            <a:r>
              <a:rPr lang="en-CA" sz="4100"/>
              <a:t>User Interface Design Workflow (future)</a:t>
            </a:r>
          </a:p>
        </p:txBody>
      </p:sp>
      <p:pic>
        <p:nvPicPr>
          <p:cNvPr id="5" name="Picture 4" descr="Person watching empty phone">
            <a:extLst>
              <a:ext uri="{FF2B5EF4-FFF2-40B4-BE49-F238E27FC236}">
                <a16:creationId xmlns:a16="http://schemas.microsoft.com/office/drawing/2014/main" id="{55E58B48-A448-B08E-0C01-7D6A20F7676E}"/>
              </a:ext>
            </a:extLst>
          </p:cNvPr>
          <p:cNvPicPr>
            <a:picLocks noChangeAspect="1"/>
          </p:cNvPicPr>
          <p:nvPr/>
        </p:nvPicPr>
        <p:blipFill>
          <a:blip r:embed="rId2"/>
          <a:srcRect l="35813" r="465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6D24490-AABA-377C-DC78-C01B074389F0}"/>
              </a:ext>
            </a:extLst>
          </p:cNvPr>
          <p:cNvSpPr>
            <a:spLocks noGrp="1"/>
          </p:cNvSpPr>
          <p:nvPr>
            <p:ph idx="1"/>
          </p:nvPr>
        </p:nvSpPr>
        <p:spPr>
          <a:xfrm>
            <a:off x="6513788" y="2333297"/>
            <a:ext cx="4840010" cy="3843666"/>
          </a:xfrm>
        </p:spPr>
        <p:txBody>
          <a:bodyPr>
            <a:normAutofit/>
          </a:bodyPr>
          <a:lstStyle/>
          <a:p>
            <a:r>
              <a:rPr lang="en-CA" sz="2000" dirty="0"/>
              <a:t>Describe the interface that needs to be built and specific visual requirements.</a:t>
            </a:r>
          </a:p>
          <a:p>
            <a:r>
              <a:rPr lang="en-CA" sz="2000" dirty="0"/>
              <a:t>Generate potential UI options using archetypes defined for the current project (Material Design, </a:t>
            </a:r>
            <a:r>
              <a:rPr lang="en-CA" sz="2000" dirty="0" err="1"/>
              <a:t>MudBlazor</a:t>
            </a:r>
            <a:r>
              <a:rPr lang="en-CA" sz="2000" dirty="0"/>
              <a:t>, Tailwind)</a:t>
            </a:r>
          </a:p>
          <a:p>
            <a:r>
              <a:rPr lang="en-CA" sz="2000" dirty="0"/>
              <a:t>Present and Refine</a:t>
            </a:r>
          </a:p>
          <a:p>
            <a:r>
              <a:rPr lang="en-CA" sz="2000" dirty="0"/>
              <a:t>Attach to new work item for implementation</a:t>
            </a:r>
          </a:p>
          <a:p>
            <a:r>
              <a:rPr lang="en-CA" sz="2000" dirty="0"/>
              <a:t>Gives the [coding-agent] a visual guide to follow</a:t>
            </a:r>
          </a:p>
        </p:txBody>
      </p:sp>
    </p:spTree>
    <p:extLst>
      <p:ext uri="{BB962C8B-B14F-4D97-AF65-F5344CB8AC3E}">
        <p14:creationId xmlns:p14="http://schemas.microsoft.com/office/powerpoint/2010/main" val="1161687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84ACD-E54D-A8E4-CF10-2766C5E01A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8BF96-B23C-A643-4463-8879C3BE8894}"/>
              </a:ext>
            </a:extLst>
          </p:cNvPr>
          <p:cNvSpPr>
            <a:spLocks noGrp="1"/>
          </p:cNvSpPr>
          <p:nvPr>
            <p:ph type="title"/>
          </p:nvPr>
        </p:nvSpPr>
        <p:spPr>
          <a:xfrm>
            <a:off x="6513788" y="365125"/>
            <a:ext cx="4840010" cy="1807305"/>
          </a:xfrm>
        </p:spPr>
        <p:txBody>
          <a:bodyPr>
            <a:normAutofit/>
          </a:bodyPr>
          <a:lstStyle/>
          <a:p>
            <a:r>
              <a:rPr lang="en-CA" dirty="0"/>
              <a:t>Solution Design and Analysis Workflow</a:t>
            </a:r>
          </a:p>
        </p:txBody>
      </p:sp>
      <p:pic>
        <p:nvPicPr>
          <p:cNvPr id="5" name="Picture 4" descr="Magnifying glass showing decling performance">
            <a:extLst>
              <a:ext uri="{FF2B5EF4-FFF2-40B4-BE49-F238E27FC236}">
                <a16:creationId xmlns:a16="http://schemas.microsoft.com/office/drawing/2014/main" id="{604B843F-F009-C9C7-5B71-CCF39F78CDF1}"/>
              </a:ext>
            </a:extLst>
          </p:cNvPr>
          <p:cNvPicPr>
            <a:picLocks noChangeAspect="1"/>
          </p:cNvPicPr>
          <p:nvPr/>
        </p:nvPicPr>
        <p:blipFill>
          <a:blip r:embed="rId2"/>
          <a:srcRect l="13673" r="2679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DA0A936B-71F2-0D84-834C-7027E361EED6}"/>
              </a:ext>
            </a:extLst>
          </p:cNvPr>
          <p:cNvSpPr>
            <a:spLocks noGrp="1"/>
          </p:cNvSpPr>
          <p:nvPr>
            <p:ph idx="1"/>
          </p:nvPr>
        </p:nvSpPr>
        <p:spPr>
          <a:xfrm>
            <a:off x="6513788" y="2333297"/>
            <a:ext cx="4840010" cy="3843666"/>
          </a:xfrm>
        </p:spPr>
        <p:txBody>
          <a:bodyPr>
            <a:normAutofit lnSpcReduction="10000"/>
          </a:bodyPr>
          <a:lstStyle/>
          <a:p>
            <a:r>
              <a:rPr lang="en-CA" sz="1600" dirty="0"/>
              <a:t>Deep analysis looking through archetypes, current repository, and similar problem statements</a:t>
            </a:r>
          </a:p>
          <a:p>
            <a:r>
              <a:rPr lang="en-CA" sz="1600" dirty="0"/>
              <a:t>Presents back 2-3 options with detailed approach, code samples, and documentation in markdown format</a:t>
            </a:r>
          </a:p>
          <a:p>
            <a:r>
              <a:rPr lang="en-CA" sz="1600" dirty="0"/>
              <a:t>Score the options and make a recommendation</a:t>
            </a:r>
          </a:p>
          <a:p>
            <a:r>
              <a:rPr lang="en-CA" sz="1600" dirty="0"/>
              <a:t>Also provide insight as to whether this should be done now or can wait until later</a:t>
            </a:r>
          </a:p>
          <a:p>
            <a:r>
              <a:rPr lang="en-CA" sz="1600" dirty="0"/>
              <a:t>Examples: </a:t>
            </a:r>
          </a:p>
          <a:p>
            <a:pPr lvl="1"/>
            <a:r>
              <a:rPr lang="en-CA" sz="1600" dirty="0"/>
              <a:t>Should we refactor the app to use a shared caching model?</a:t>
            </a:r>
          </a:p>
          <a:p>
            <a:pPr lvl="1"/>
            <a:r>
              <a:rPr lang="en-CA" sz="1600" dirty="0"/>
              <a:t>Should we implement the </a:t>
            </a:r>
            <a:r>
              <a:rPr lang="en-CA" sz="1600" dirty="0" err="1"/>
              <a:t>bUnit</a:t>
            </a:r>
            <a:r>
              <a:rPr lang="en-CA" sz="1600" dirty="0"/>
              <a:t> testing framework?</a:t>
            </a:r>
          </a:p>
          <a:p>
            <a:pPr lvl="1"/>
            <a:r>
              <a:rPr lang="en-CA" sz="1600" dirty="0"/>
              <a:t>Should we refactor the frontend to use React instead of Blazor?</a:t>
            </a:r>
          </a:p>
          <a:p>
            <a:pPr lvl="1"/>
            <a:endParaRPr lang="en-CA" sz="1600" dirty="0"/>
          </a:p>
        </p:txBody>
      </p:sp>
    </p:spTree>
    <p:extLst>
      <p:ext uri="{BB962C8B-B14F-4D97-AF65-F5344CB8AC3E}">
        <p14:creationId xmlns:p14="http://schemas.microsoft.com/office/powerpoint/2010/main" val="257914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A57BB8-13D6-EBF8-4512-0D2B22C746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C45903E-E5F1-AA40-FADE-92974D79A00F}"/>
              </a:ext>
            </a:extLst>
          </p:cNvPr>
          <p:cNvPicPr>
            <a:picLocks noChangeAspect="1"/>
          </p:cNvPicPr>
          <p:nvPr/>
        </p:nvPicPr>
        <p:blipFill>
          <a:blip r:embed="rId2"/>
          <a:srcRect l="36552" r="15126" b="1"/>
          <a:stretch>
            <a:fillRect/>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FE9FCF-B6F7-30E3-C61E-43A5E31EDC63}"/>
              </a:ext>
            </a:extLst>
          </p:cNvPr>
          <p:cNvSpPr>
            <a:spLocks noGrp="1"/>
          </p:cNvSpPr>
          <p:nvPr>
            <p:ph type="title"/>
          </p:nvPr>
        </p:nvSpPr>
        <p:spPr>
          <a:xfrm>
            <a:off x="5827048" y="407987"/>
            <a:ext cx="5721484" cy="1325563"/>
          </a:xfrm>
        </p:spPr>
        <p:txBody>
          <a:bodyPr>
            <a:normAutofit/>
          </a:bodyPr>
          <a:lstStyle/>
          <a:p>
            <a:r>
              <a:rPr lang="en-CA" dirty="0"/>
              <a:t>Implement Workflow</a:t>
            </a:r>
          </a:p>
        </p:txBody>
      </p:sp>
      <p:graphicFrame>
        <p:nvGraphicFramePr>
          <p:cNvPr id="5" name="Content Placeholder 2">
            <a:extLst>
              <a:ext uri="{FF2B5EF4-FFF2-40B4-BE49-F238E27FC236}">
                <a16:creationId xmlns:a16="http://schemas.microsoft.com/office/drawing/2014/main" id="{397C3290-FDBC-82B6-17A3-DBFC4E64B513}"/>
              </a:ext>
            </a:extLst>
          </p:cNvPr>
          <p:cNvGraphicFramePr>
            <a:graphicFrameLocks noGrp="1"/>
          </p:cNvGraphicFramePr>
          <p:nvPr>
            <p:ph idx="1"/>
            <p:extLst>
              <p:ext uri="{D42A27DB-BD31-4B8C-83A1-F6EECF244321}">
                <p14:modId xmlns:p14="http://schemas.microsoft.com/office/powerpoint/2010/main" val="732634652"/>
              </p:ext>
            </p:extLst>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941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DE46A-0B18-866C-3A8F-4B24BC984E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6" name="Freeform: Shape 2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EE4CA6A-10B4-4CC3-C0D5-CADA5DEFBDBD}"/>
              </a:ext>
            </a:extLst>
          </p:cNvPr>
          <p:cNvSpPr>
            <a:spLocks noGrp="1"/>
          </p:cNvSpPr>
          <p:nvPr>
            <p:ph type="title"/>
          </p:nvPr>
        </p:nvSpPr>
        <p:spPr>
          <a:xfrm>
            <a:off x="640080" y="1243013"/>
            <a:ext cx="3855720" cy="4371974"/>
          </a:xfrm>
        </p:spPr>
        <p:txBody>
          <a:bodyPr>
            <a:normAutofit/>
          </a:bodyPr>
          <a:lstStyle/>
          <a:p>
            <a:r>
              <a:rPr lang="en-CA" sz="3600">
                <a:solidFill>
                  <a:schemeClr val="tx2"/>
                </a:solidFill>
              </a:rPr>
              <a:t>Deployment Workflow</a:t>
            </a:r>
          </a:p>
        </p:txBody>
      </p:sp>
      <p:sp>
        <p:nvSpPr>
          <p:cNvPr id="3" name="Content Placeholder 2">
            <a:extLst>
              <a:ext uri="{FF2B5EF4-FFF2-40B4-BE49-F238E27FC236}">
                <a16:creationId xmlns:a16="http://schemas.microsoft.com/office/drawing/2014/main" id="{2CE629F2-CF58-13EC-1A52-26F7206BADB8}"/>
              </a:ext>
            </a:extLst>
          </p:cNvPr>
          <p:cNvSpPr>
            <a:spLocks noGrp="1"/>
          </p:cNvSpPr>
          <p:nvPr>
            <p:ph idx="1"/>
          </p:nvPr>
        </p:nvSpPr>
        <p:spPr>
          <a:xfrm>
            <a:off x="6172200" y="804672"/>
            <a:ext cx="5221224" cy="5230368"/>
          </a:xfrm>
        </p:spPr>
        <p:txBody>
          <a:bodyPr anchor="ctr">
            <a:normAutofit/>
          </a:bodyPr>
          <a:lstStyle/>
          <a:p>
            <a:r>
              <a:rPr lang="en-CA" sz="2400" dirty="0">
                <a:solidFill>
                  <a:schemeClr val="tx2"/>
                </a:solidFill>
              </a:rPr>
              <a:t>Uses [deployment] agent who will have expertise and knowledge of Terraform, Azure CLI, YAML, GitHub actions.</a:t>
            </a:r>
          </a:p>
          <a:p>
            <a:r>
              <a:rPr lang="en-CA" sz="2400" dirty="0">
                <a:solidFill>
                  <a:schemeClr val="tx2"/>
                </a:solidFill>
              </a:rPr>
              <a:t>Inspect solution to ensure components support automated deployment</a:t>
            </a:r>
          </a:p>
          <a:p>
            <a:r>
              <a:rPr lang="en-CA" sz="2400" dirty="0">
                <a:solidFill>
                  <a:schemeClr val="tx2"/>
                </a:solidFill>
              </a:rPr>
              <a:t>Create terraform and scripts for deployment</a:t>
            </a:r>
          </a:p>
          <a:p>
            <a:r>
              <a:rPr lang="en-CA" sz="2400" dirty="0">
                <a:solidFill>
                  <a:schemeClr val="tx2"/>
                </a:solidFill>
              </a:rPr>
              <a:t>Ensure environment consistency</a:t>
            </a:r>
          </a:p>
          <a:p>
            <a:r>
              <a:rPr lang="en-CA" sz="2400" dirty="0">
                <a:solidFill>
                  <a:schemeClr val="tx2"/>
                </a:solidFill>
              </a:rPr>
              <a:t>Ensure secrets remain secret</a:t>
            </a:r>
          </a:p>
          <a:p>
            <a:r>
              <a:rPr lang="en-CA" sz="2400" dirty="0">
                <a:solidFill>
                  <a:schemeClr val="tx2"/>
                </a:solidFill>
              </a:rPr>
              <a:t>Ensure code can be deployed to an environment</a:t>
            </a:r>
          </a:p>
        </p:txBody>
      </p:sp>
    </p:spTree>
    <p:extLst>
      <p:ext uri="{BB962C8B-B14F-4D97-AF65-F5344CB8AC3E}">
        <p14:creationId xmlns:p14="http://schemas.microsoft.com/office/powerpoint/2010/main" val="243176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9DF8BA3-17F5-3719-DE69-9D80805A20CB}"/>
              </a:ext>
            </a:extLst>
          </p:cNvPr>
          <p:cNvSpPr>
            <a:spLocks noGrp="1"/>
          </p:cNvSpPr>
          <p:nvPr>
            <p:ph type="title"/>
          </p:nvPr>
        </p:nvSpPr>
        <p:spPr>
          <a:xfrm>
            <a:off x="838200" y="365125"/>
            <a:ext cx="10515600" cy="930275"/>
          </a:xfrm>
        </p:spPr>
        <p:txBody>
          <a:bodyPr>
            <a:normAutofit/>
          </a:bodyPr>
          <a:lstStyle/>
          <a:p>
            <a:r>
              <a:rPr lang="en-CA"/>
              <a:t>Workflow Status</a:t>
            </a:r>
            <a:endParaRPr lang="en-CA" dirty="0"/>
          </a:p>
        </p:txBody>
      </p:sp>
      <p:graphicFrame>
        <p:nvGraphicFramePr>
          <p:cNvPr id="4" name="Content Placeholder 3">
            <a:extLst>
              <a:ext uri="{FF2B5EF4-FFF2-40B4-BE49-F238E27FC236}">
                <a16:creationId xmlns:a16="http://schemas.microsoft.com/office/drawing/2014/main" id="{FF9FA3D5-3154-B59B-CCE2-E1BF25FBDBBB}"/>
              </a:ext>
            </a:extLst>
          </p:cNvPr>
          <p:cNvGraphicFramePr>
            <a:graphicFrameLocks noGrp="1"/>
          </p:cNvGraphicFramePr>
          <p:nvPr>
            <p:ph idx="1"/>
            <p:extLst>
              <p:ext uri="{D42A27DB-BD31-4B8C-83A1-F6EECF244321}">
                <p14:modId xmlns:p14="http://schemas.microsoft.com/office/powerpoint/2010/main" val="9557121"/>
              </p:ext>
            </p:extLst>
          </p:nvPr>
        </p:nvGraphicFramePr>
        <p:xfrm>
          <a:off x="838200" y="1563758"/>
          <a:ext cx="10515602" cy="4993584"/>
        </p:xfrm>
        <a:graphic>
          <a:graphicData uri="http://schemas.openxmlformats.org/drawingml/2006/table">
            <a:tbl>
              <a:tblPr firstRow="1" bandRow="1">
                <a:tableStyleId>{3B4B98B0-60AC-42C2-AFA5-B58CD77FA1E5}</a:tableStyleId>
              </a:tblPr>
              <a:tblGrid>
                <a:gridCol w="2334181">
                  <a:extLst>
                    <a:ext uri="{9D8B030D-6E8A-4147-A177-3AD203B41FA5}">
                      <a16:colId xmlns:a16="http://schemas.microsoft.com/office/drawing/2014/main" val="1536847148"/>
                    </a:ext>
                  </a:extLst>
                </a:gridCol>
                <a:gridCol w="1555723">
                  <a:extLst>
                    <a:ext uri="{9D8B030D-6E8A-4147-A177-3AD203B41FA5}">
                      <a16:colId xmlns:a16="http://schemas.microsoft.com/office/drawing/2014/main" val="3997938768"/>
                    </a:ext>
                  </a:extLst>
                </a:gridCol>
                <a:gridCol w="6625698">
                  <a:extLst>
                    <a:ext uri="{9D8B030D-6E8A-4147-A177-3AD203B41FA5}">
                      <a16:colId xmlns:a16="http://schemas.microsoft.com/office/drawing/2014/main" val="2840136248"/>
                    </a:ext>
                  </a:extLst>
                </a:gridCol>
              </a:tblGrid>
              <a:tr h="386863">
                <a:tc>
                  <a:txBody>
                    <a:bodyPr/>
                    <a:lstStyle/>
                    <a:p>
                      <a:r>
                        <a:rPr lang="en-CA" sz="1400" dirty="0"/>
                        <a:t>Workflow</a:t>
                      </a:r>
                    </a:p>
                  </a:txBody>
                  <a:tcPr marL="62385" marR="62385" marT="31193" marB="31193"/>
                </a:tc>
                <a:tc>
                  <a:txBody>
                    <a:bodyPr/>
                    <a:lstStyle/>
                    <a:p>
                      <a:r>
                        <a:rPr lang="en-CA" sz="1400"/>
                        <a:t>Status</a:t>
                      </a:r>
                    </a:p>
                  </a:txBody>
                  <a:tcPr marL="62385" marR="62385" marT="31193" marB="31193"/>
                </a:tc>
                <a:tc>
                  <a:txBody>
                    <a:bodyPr/>
                    <a:lstStyle/>
                    <a:p>
                      <a:r>
                        <a:rPr lang="en-CA" sz="1400" dirty="0"/>
                        <a:t>Notes</a:t>
                      </a:r>
                    </a:p>
                  </a:txBody>
                  <a:tcPr marL="62385" marR="62385" marT="31193" marB="31193"/>
                </a:tc>
                <a:extLst>
                  <a:ext uri="{0D108BD9-81ED-4DB2-BD59-A6C34878D82A}">
                    <a16:rowId xmlns:a16="http://schemas.microsoft.com/office/drawing/2014/main" val="2567668133"/>
                  </a:ext>
                </a:extLst>
              </a:tr>
              <a:tr h="650631">
                <a:tc>
                  <a:txBody>
                    <a:bodyPr/>
                    <a:lstStyle/>
                    <a:p>
                      <a:r>
                        <a:rPr lang="en-CA" sz="1400" dirty="0"/>
                        <a:t>Planning</a:t>
                      </a:r>
                    </a:p>
                  </a:txBody>
                  <a:tcPr marL="62385" marR="62385" marT="31193" marB="31193"/>
                </a:tc>
                <a:tc>
                  <a:txBody>
                    <a:bodyPr/>
                    <a:lstStyle/>
                    <a:p>
                      <a:r>
                        <a:rPr lang="en-CA" sz="1400"/>
                        <a:t>In Progress</a:t>
                      </a:r>
                    </a:p>
                  </a:txBody>
                  <a:tcPr marL="62385" marR="62385" marT="31193" marB="31193"/>
                </a:tc>
                <a:tc>
                  <a:txBody>
                    <a:bodyPr/>
                    <a:lstStyle/>
                    <a:p>
                      <a:r>
                        <a:rPr lang="en-CA" sz="1400" dirty="0"/>
                        <a:t>Working prototype that can inspect a work-item and enhance description, acceptance criteria and splitting work-item into sub issues. [planning-agent]</a:t>
                      </a:r>
                    </a:p>
                  </a:txBody>
                  <a:tcPr marL="62385" marR="62385" marT="31193" marB="31193"/>
                </a:tc>
                <a:extLst>
                  <a:ext uri="{0D108BD9-81ED-4DB2-BD59-A6C34878D82A}">
                    <a16:rowId xmlns:a16="http://schemas.microsoft.com/office/drawing/2014/main" val="3924250922"/>
                  </a:ext>
                </a:extLst>
              </a:tr>
              <a:tr h="947491">
                <a:tc>
                  <a:txBody>
                    <a:bodyPr/>
                    <a:lstStyle/>
                    <a:p>
                      <a:r>
                        <a:rPr lang="en-CA" sz="1400"/>
                        <a:t>Solution Design</a:t>
                      </a:r>
                    </a:p>
                  </a:txBody>
                  <a:tcPr marL="62385" marR="62385" marT="31193" marB="31193"/>
                </a:tc>
                <a:tc>
                  <a:txBody>
                    <a:bodyPr/>
                    <a:lstStyle/>
                    <a:p>
                      <a:r>
                        <a:rPr lang="en-CA" sz="1400" dirty="0"/>
                        <a:t>In Progress</a:t>
                      </a:r>
                    </a:p>
                  </a:txBody>
                  <a:tcPr marL="62385" marR="62385" marT="31193" marB="31193"/>
                </a:tc>
                <a:tc>
                  <a:txBody>
                    <a:bodyPr/>
                    <a:lstStyle/>
                    <a:p>
                      <a:r>
                        <a:rPr lang="en-CA" sz="1400" dirty="0"/>
                        <a:t>Working prototype that can inspect a work-item, analyze the repository and archetypes, suggest then compare/contrast multiple options, and make a final recommendation. Creates detailed pull requests with markdown documents. [architect-agent]</a:t>
                      </a:r>
                    </a:p>
                  </a:txBody>
                  <a:tcPr marL="62385" marR="62385" marT="31193" marB="31193"/>
                </a:tc>
                <a:extLst>
                  <a:ext uri="{0D108BD9-81ED-4DB2-BD59-A6C34878D82A}">
                    <a16:rowId xmlns:a16="http://schemas.microsoft.com/office/drawing/2014/main" val="3593427751"/>
                  </a:ext>
                </a:extLst>
              </a:tr>
              <a:tr h="947491">
                <a:tc>
                  <a:txBody>
                    <a:bodyPr/>
                    <a:lstStyle/>
                    <a:p>
                      <a:r>
                        <a:rPr lang="en-CA" sz="1400"/>
                        <a:t>Suggestion</a:t>
                      </a:r>
                    </a:p>
                  </a:txBody>
                  <a:tcPr marL="62385" marR="62385" marT="31193" marB="31193"/>
                </a:tc>
                <a:tc>
                  <a:txBody>
                    <a:bodyPr/>
                    <a:lstStyle/>
                    <a:p>
                      <a:r>
                        <a:rPr lang="en-CA" sz="1400"/>
                        <a:t>In Progress</a:t>
                      </a:r>
                    </a:p>
                  </a:txBody>
                  <a:tcPr marL="62385" marR="62385" marT="31193" marB="31193"/>
                </a:tc>
                <a:tc>
                  <a:txBody>
                    <a:bodyPr/>
                    <a:lstStyle/>
                    <a:p>
                      <a:r>
                        <a:rPr lang="en-CA" sz="1400" dirty="0"/>
                        <a:t>Working prototype – however, it seems to make the same suggestion multiple times (need to figure out a way to not repeat it-self). Not sure how valuable this is, but I find it useful when there isn’t any defined work to complete and my agents are idle. [planning-agent]</a:t>
                      </a:r>
                    </a:p>
                  </a:txBody>
                  <a:tcPr marL="62385" marR="62385" marT="31193" marB="31193"/>
                </a:tc>
                <a:extLst>
                  <a:ext uri="{0D108BD9-81ED-4DB2-BD59-A6C34878D82A}">
                    <a16:rowId xmlns:a16="http://schemas.microsoft.com/office/drawing/2014/main" val="21745836"/>
                  </a:ext>
                </a:extLst>
              </a:tr>
              <a:tr h="726754">
                <a:tc>
                  <a:txBody>
                    <a:bodyPr/>
                    <a:lstStyle/>
                    <a:p>
                      <a:r>
                        <a:rPr lang="en-CA" sz="1400"/>
                        <a:t>User Interface Design</a:t>
                      </a:r>
                    </a:p>
                  </a:txBody>
                  <a:tcPr marL="62385" marR="62385" marT="31193" marB="31193"/>
                </a:tc>
                <a:tc>
                  <a:txBody>
                    <a:bodyPr/>
                    <a:lstStyle/>
                    <a:p>
                      <a:r>
                        <a:rPr lang="en-CA" sz="1400"/>
                        <a:t>Planning</a:t>
                      </a:r>
                    </a:p>
                  </a:txBody>
                  <a:tcPr marL="62385" marR="62385" marT="31193" marB="31193"/>
                </a:tc>
                <a:tc>
                  <a:txBody>
                    <a:bodyPr/>
                    <a:lstStyle/>
                    <a:p>
                      <a:r>
                        <a:rPr lang="en-CA" sz="1400" dirty="0"/>
                        <a:t>Started prototyping with Figma MCP, UX Pilot, and identifying a likely path forward. Right now, I need to use these tools outside of GitHub, and paste the results into a work item. </a:t>
                      </a:r>
                    </a:p>
                  </a:txBody>
                  <a:tcPr marL="62385" marR="62385" marT="31193" marB="31193"/>
                </a:tc>
                <a:extLst>
                  <a:ext uri="{0D108BD9-81ED-4DB2-BD59-A6C34878D82A}">
                    <a16:rowId xmlns:a16="http://schemas.microsoft.com/office/drawing/2014/main" val="1086462822"/>
                  </a:ext>
                </a:extLst>
              </a:tr>
              <a:tr h="947491">
                <a:tc>
                  <a:txBody>
                    <a:bodyPr/>
                    <a:lstStyle/>
                    <a:p>
                      <a:r>
                        <a:rPr lang="en-CA" sz="1400"/>
                        <a:t>Implementation</a:t>
                      </a:r>
                    </a:p>
                  </a:txBody>
                  <a:tcPr marL="62385" marR="62385" marT="31193" marB="31193"/>
                </a:tc>
                <a:tc>
                  <a:txBody>
                    <a:bodyPr/>
                    <a:lstStyle/>
                    <a:p>
                      <a:r>
                        <a:rPr lang="en-CA" sz="1400"/>
                        <a:t>In Progress</a:t>
                      </a:r>
                    </a:p>
                  </a:txBody>
                  <a:tcPr marL="62385" marR="62385" marT="31193" marB="31193"/>
                </a:tc>
                <a:tc>
                  <a:txBody>
                    <a:bodyPr/>
                    <a:lstStyle/>
                    <a:p>
                      <a:r>
                        <a:rPr lang="en-CA" sz="1400" dirty="0"/>
                        <a:t>This is the most well developed and testing. It does not require much customization and with proper instructions and archetypes it can use the stock sonnet 4.5 agent to produce concise, clean, and tested code. Pull requests are excellent. Documentation is excellent.</a:t>
                      </a:r>
                    </a:p>
                  </a:txBody>
                  <a:tcPr marL="62385" marR="62385" marT="31193" marB="31193"/>
                </a:tc>
                <a:extLst>
                  <a:ext uri="{0D108BD9-81ED-4DB2-BD59-A6C34878D82A}">
                    <a16:rowId xmlns:a16="http://schemas.microsoft.com/office/drawing/2014/main" val="1881748441"/>
                  </a:ext>
                </a:extLst>
              </a:tr>
              <a:tr h="386863">
                <a:tc>
                  <a:txBody>
                    <a:bodyPr/>
                    <a:lstStyle/>
                    <a:p>
                      <a:r>
                        <a:rPr lang="en-CA" sz="1400"/>
                        <a:t>Deployment</a:t>
                      </a:r>
                    </a:p>
                  </a:txBody>
                  <a:tcPr marL="62385" marR="62385" marT="31193" marB="31193"/>
                </a:tc>
                <a:tc>
                  <a:txBody>
                    <a:bodyPr/>
                    <a:lstStyle/>
                    <a:p>
                      <a:r>
                        <a:rPr lang="en-CA" sz="1400" dirty="0"/>
                        <a:t>Not started</a:t>
                      </a:r>
                    </a:p>
                  </a:txBody>
                  <a:tcPr marL="62385" marR="62385" marT="31193" marB="31193"/>
                </a:tc>
                <a:tc>
                  <a:txBody>
                    <a:bodyPr/>
                    <a:lstStyle/>
                    <a:p>
                      <a:endParaRPr lang="en-CA" sz="1400" dirty="0"/>
                    </a:p>
                  </a:txBody>
                  <a:tcPr marL="62385" marR="62385" marT="31193" marB="31193"/>
                </a:tc>
                <a:extLst>
                  <a:ext uri="{0D108BD9-81ED-4DB2-BD59-A6C34878D82A}">
                    <a16:rowId xmlns:a16="http://schemas.microsoft.com/office/drawing/2014/main" val="2534624296"/>
                  </a:ext>
                </a:extLst>
              </a:tr>
            </a:tbl>
          </a:graphicData>
        </a:graphic>
      </p:graphicFrame>
    </p:spTree>
    <p:extLst>
      <p:ext uri="{BB962C8B-B14F-4D97-AF65-F5344CB8AC3E}">
        <p14:creationId xmlns:p14="http://schemas.microsoft.com/office/powerpoint/2010/main" val="3640549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F0FC-2B4B-BB9E-335D-E637F80BD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B4A72-C43B-76F5-C5AD-C27DA44857C1}"/>
              </a:ext>
            </a:extLst>
          </p:cNvPr>
          <p:cNvSpPr>
            <a:spLocks noGrp="1"/>
          </p:cNvSpPr>
          <p:nvPr>
            <p:ph type="title"/>
          </p:nvPr>
        </p:nvSpPr>
        <p:spPr/>
        <p:txBody>
          <a:bodyPr/>
          <a:lstStyle/>
          <a:p>
            <a:r>
              <a:rPr lang="en-CA" dirty="0"/>
              <a:t>Methodology Definition</a:t>
            </a:r>
          </a:p>
        </p:txBody>
      </p:sp>
      <p:sp>
        <p:nvSpPr>
          <p:cNvPr id="3" name="Content Placeholder 2">
            <a:extLst>
              <a:ext uri="{FF2B5EF4-FFF2-40B4-BE49-F238E27FC236}">
                <a16:creationId xmlns:a16="http://schemas.microsoft.com/office/drawing/2014/main" id="{3F166063-0747-7538-9990-6E7206FD6CA9}"/>
              </a:ext>
            </a:extLst>
          </p:cNvPr>
          <p:cNvSpPr>
            <a:spLocks noGrp="1"/>
          </p:cNvSpPr>
          <p:nvPr>
            <p:ph idx="1"/>
          </p:nvPr>
        </p:nvSpPr>
        <p:spPr>
          <a:xfrm>
            <a:off x="838200" y="1825624"/>
            <a:ext cx="10515600" cy="3914313"/>
          </a:xfrm>
        </p:spPr>
        <p:txBody>
          <a:bodyPr>
            <a:noAutofit/>
          </a:bodyPr>
          <a:lstStyle/>
          <a:p>
            <a:r>
              <a:rPr lang="en-CA" sz="2400" dirty="0"/>
              <a:t>Work in progress, and perhaps more related to the service side of things, but the process is likely as important as the underlying technology – like the ceremonies in agile.</a:t>
            </a:r>
          </a:p>
          <a:p>
            <a:r>
              <a:rPr lang="en-CA" sz="2400" dirty="0"/>
              <a:t>A2D is going to require ceremonies, but with quicker iteration</a:t>
            </a:r>
          </a:p>
          <a:p>
            <a:r>
              <a:rPr lang="en-CA" sz="2400" dirty="0"/>
              <a:t>More suited to a kanban style of working because of the velocity of work completed.</a:t>
            </a:r>
          </a:p>
          <a:p>
            <a:r>
              <a:rPr lang="en-CA" sz="2400" i="1" dirty="0"/>
              <a:t>The methodology I have been following is daily planning in the morning, followed by review before lunch, resolving comments and iteration, deployment and testing in the afternoon. Repeat</a:t>
            </a:r>
            <a:r>
              <a:rPr lang="en-CA" sz="2400" dirty="0"/>
              <a:t>. </a:t>
            </a:r>
          </a:p>
        </p:txBody>
      </p:sp>
      <p:graphicFrame>
        <p:nvGraphicFramePr>
          <p:cNvPr id="4" name="Diagram 3">
            <a:extLst>
              <a:ext uri="{FF2B5EF4-FFF2-40B4-BE49-F238E27FC236}">
                <a16:creationId xmlns:a16="http://schemas.microsoft.com/office/drawing/2014/main" id="{FA211505-0472-6406-0825-B267378A4F6F}"/>
              </a:ext>
            </a:extLst>
          </p:cNvPr>
          <p:cNvGraphicFramePr/>
          <p:nvPr>
            <p:extLst>
              <p:ext uri="{D42A27DB-BD31-4B8C-83A1-F6EECF244321}">
                <p14:modId xmlns:p14="http://schemas.microsoft.com/office/powerpoint/2010/main" val="1798264426"/>
              </p:ext>
            </p:extLst>
          </p:nvPr>
        </p:nvGraphicFramePr>
        <p:xfrm>
          <a:off x="1508760" y="5102900"/>
          <a:ext cx="8955380" cy="127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Arrow: Curved Up 8">
            <a:extLst>
              <a:ext uri="{FF2B5EF4-FFF2-40B4-BE49-F238E27FC236}">
                <a16:creationId xmlns:a16="http://schemas.microsoft.com/office/drawing/2014/main" id="{C360232F-61E6-FA7E-11C9-A6FCC7A02947}"/>
              </a:ext>
            </a:extLst>
          </p:cNvPr>
          <p:cNvSpPr/>
          <p:nvPr/>
        </p:nvSpPr>
        <p:spPr>
          <a:xfrm flipH="1">
            <a:off x="4971011" y="6120391"/>
            <a:ext cx="1828800" cy="51316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Iterate</a:t>
            </a:r>
          </a:p>
        </p:txBody>
      </p:sp>
    </p:spTree>
    <p:extLst>
      <p:ext uri="{BB962C8B-B14F-4D97-AF65-F5344CB8AC3E}">
        <p14:creationId xmlns:p14="http://schemas.microsoft.com/office/powerpoint/2010/main" val="3791560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81210-540D-140E-E60E-9A847FDAE3AC}"/>
              </a:ext>
            </a:extLst>
          </p:cNvPr>
          <p:cNvSpPr>
            <a:spLocks noGrp="1"/>
          </p:cNvSpPr>
          <p:nvPr>
            <p:ph type="title"/>
          </p:nvPr>
        </p:nvSpPr>
        <p:spPr>
          <a:xfrm>
            <a:off x="1171074" y="1396686"/>
            <a:ext cx="3240506" cy="4064628"/>
          </a:xfrm>
        </p:spPr>
        <p:txBody>
          <a:bodyPr>
            <a:normAutofit/>
          </a:bodyPr>
          <a:lstStyle/>
          <a:p>
            <a:r>
              <a:rPr lang="en-CA" dirty="0">
                <a:solidFill>
                  <a:srgbClr val="FFFFFF"/>
                </a:solidFill>
              </a:rPr>
              <a:t>The human</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A1947F-E110-9FF8-4CB0-9E2530D660F6}"/>
              </a:ext>
            </a:extLst>
          </p:cNvPr>
          <p:cNvSpPr>
            <a:spLocks noGrp="1"/>
          </p:cNvSpPr>
          <p:nvPr>
            <p:ph idx="1"/>
          </p:nvPr>
        </p:nvSpPr>
        <p:spPr>
          <a:xfrm>
            <a:off x="5370153" y="1526033"/>
            <a:ext cx="5536397" cy="3935281"/>
          </a:xfrm>
        </p:spPr>
        <p:txBody>
          <a:bodyPr>
            <a:normAutofit/>
          </a:bodyPr>
          <a:lstStyle/>
          <a:p>
            <a:r>
              <a:rPr lang="en-CA" dirty="0"/>
              <a:t>Provide context to the agents</a:t>
            </a:r>
          </a:p>
          <a:p>
            <a:r>
              <a:rPr lang="en-CA" dirty="0"/>
              <a:t>Provide positive and negative feedback to completed work</a:t>
            </a:r>
          </a:p>
          <a:p>
            <a:r>
              <a:rPr lang="en-CA" dirty="0"/>
              <a:t>Review and approve all changes</a:t>
            </a:r>
          </a:p>
          <a:p>
            <a:r>
              <a:rPr lang="en-CA" dirty="0"/>
              <a:t>Set direction and priorities</a:t>
            </a:r>
          </a:p>
          <a:p>
            <a:r>
              <a:rPr lang="en-CA" dirty="0"/>
              <a:t>Refine templates and archetypes to meet company culture and standards</a:t>
            </a:r>
          </a:p>
        </p:txBody>
      </p:sp>
    </p:spTree>
    <p:extLst>
      <p:ext uri="{BB962C8B-B14F-4D97-AF65-F5344CB8AC3E}">
        <p14:creationId xmlns:p14="http://schemas.microsoft.com/office/powerpoint/2010/main" val="3240704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A7646D-5745-AC42-7FED-53173C4883F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D2D0A-4528-D7F4-0635-F57CDB9841B4}"/>
              </a:ext>
            </a:extLst>
          </p:cNvPr>
          <p:cNvSpPr>
            <a:spLocks noGrp="1"/>
          </p:cNvSpPr>
          <p:nvPr>
            <p:ph type="title"/>
          </p:nvPr>
        </p:nvSpPr>
        <p:spPr>
          <a:xfrm>
            <a:off x="686834" y="1153572"/>
            <a:ext cx="3200400" cy="4461163"/>
          </a:xfrm>
        </p:spPr>
        <p:txBody>
          <a:bodyPr>
            <a:normAutofit/>
          </a:bodyPr>
          <a:lstStyle/>
          <a:p>
            <a:r>
              <a:rPr lang="en-CA">
                <a:solidFill>
                  <a:srgbClr val="FFFFFF"/>
                </a:solidFill>
              </a:rPr>
              <a:t>Risks</a:t>
            </a:r>
            <a:endParaRPr lang="en-CA" dirty="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ADC9AB9-B53A-C55C-6575-CD0C47FAD97A}"/>
              </a:ext>
            </a:extLst>
          </p:cNvPr>
          <p:cNvSpPr>
            <a:spLocks noGrp="1"/>
          </p:cNvSpPr>
          <p:nvPr>
            <p:ph idx="1"/>
          </p:nvPr>
        </p:nvSpPr>
        <p:spPr>
          <a:xfrm>
            <a:off x="4447308" y="215153"/>
            <a:ext cx="7457821" cy="6323759"/>
          </a:xfrm>
        </p:spPr>
        <p:txBody>
          <a:bodyPr anchor="ctr">
            <a:normAutofit/>
          </a:bodyPr>
          <a:lstStyle/>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is advancing quickly, with numerous features still in preview and no assurance they will be officially released soon.</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MCP registry is currently unstable. I am working with multiple MCP servers from this registry, and agents often report bugs, which means </a:t>
            </a:r>
            <a:r>
              <a:rPr lang="en-US" sz="1800" dirty="0" err="1">
                <a:effectLst/>
                <a:latin typeface="Aptos" panose="020B0004020202020204" pitchFamily="34" charset="0"/>
              </a:rPr>
              <a:t>CodeLantern</a:t>
            </a:r>
            <a:r>
              <a:rPr lang="en-US" sz="1800" dirty="0">
                <a:effectLst/>
                <a:latin typeface="Aptos" panose="020B0004020202020204" pitchFamily="34" charset="0"/>
              </a:rPr>
              <a:t> is being developed in a constantly evolving environment.</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maintains complete control; for example, it limits coding agents to work exclusively with Anthropic Sonnet, including any custom agents you develop.</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cost of GitHub Copilot licenses ranges between $15 and $30 USD per user each month, covering the main features. It’s important to consider how much extra users might be willing to pay for </a:t>
            </a:r>
            <a:r>
              <a:rPr lang="en-US" sz="1800" dirty="0" err="1">
                <a:effectLst/>
                <a:latin typeface="Aptos" panose="020B0004020202020204" pitchFamily="34" charset="0"/>
              </a:rPr>
              <a:t>CodeLantern</a:t>
            </a:r>
            <a:r>
              <a:rPr lang="en-US" sz="1800" dirty="0">
                <a:effectLst/>
                <a:latin typeface="Aptos" panose="020B0004020202020204" pitchFamily="34" charset="0"/>
              </a:rPr>
              <a:t> beyond this.</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Building, maintaining, and supporting a product involves considerable challenges.</a:t>
            </a:r>
          </a:p>
          <a:p>
            <a:pPr marL="228600" indent="-228600" rtl="0" eaLnBrk="1" latinLnBrk="0" hangingPunct="1">
              <a:spcBef>
                <a:spcPts val="1200"/>
              </a:spcBef>
              <a:buFont typeface="Arial" panose="020B0604020202020204" pitchFamily="34" charset="0"/>
              <a:buChar char="•"/>
            </a:pPr>
            <a:r>
              <a:rPr lang="en-US" sz="1800" dirty="0">
                <a:latin typeface="Aptos" panose="020B0004020202020204" pitchFamily="34" charset="0"/>
              </a:rPr>
              <a:t>Will a product make the result less flexible for end clients. IE: With consulting, you can use a base set of artifacts and just adapt on a per client basis?</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This space is changing at an incredible pace (likely due to the use of AI augmented development). GitHub just release Agent HQ, and Sparks v2, Figma has a tool, Cursor, Claude Code.</a:t>
            </a:r>
          </a:p>
        </p:txBody>
      </p:sp>
    </p:spTree>
    <p:extLst>
      <p:ext uri="{BB962C8B-B14F-4D97-AF65-F5344CB8AC3E}">
        <p14:creationId xmlns:p14="http://schemas.microsoft.com/office/powerpoint/2010/main" val="3129339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DADFEC-A2C0-8695-0D8D-6F78BBDCF82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DFC4D-88DF-3340-ED2C-DF2E0D7FE436}"/>
              </a:ext>
            </a:extLst>
          </p:cNvPr>
          <p:cNvSpPr>
            <a:spLocks noGrp="1"/>
          </p:cNvSpPr>
          <p:nvPr>
            <p:ph type="title"/>
          </p:nvPr>
        </p:nvSpPr>
        <p:spPr>
          <a:xfrm>
            <a:off x="956826" y="1112969"/>
            <a:ext cx="3937298" cy="4166010"/>
          </a:xfrm>
        </p:spPr>
        <p:txBody>
          <a:bodyPr>
            <a:normAutofit/>
          </a:bodyPr>
          <a:lstStyle/>
          <a:p>
            <a:r>
              <a:rPr lang="en-CA" dirty="0">
                <a:solidFill>
                  <a:srgbClr val="FFFFFF"/>
                </a:solidFill>
              </a:rPr>
              <a:t>Phased Approach?</a:t>
            </a:r>
          </a:p>
        </p:txBody>
      </p:sp>
      <p:sp>
        <p:nvSpPr>
          <p:cNvPr id="26" name="Freeform: Shape 2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84FCCDE-3018-78B8-49A8-3DA565C36FCC}"/>
              </a:ext>
            </a:extLst>
          </p:cNvPr>
          <p:cNvSpPr>
            <a:spLocks noGrp="1"/>
          </p:cNvSpPr>
          <p:nvPr>
            <p:ph idx="1"/>
          </p:nvPr>
        </p:nvSpPr>
        <p:spPr>
          <a:xfrm>
            <a:off x="6096000" y="820879"/>
            <a:ext cx="5257799" cy="5708767"/>
          </a:xfrm>
        </p:spPr>
        <p:txBody>
          <a:bodyPr anchor="t">
            <a:normAutofit lnSpcReduction="10000"/>
          </a:bodyPr>
          <a:lstStyle/>
          <a:p>
            <a:r>
              <a:rPr lang="en-CA" sz="2000" dirty="0"/>
              <a:t>Start as a service company until enough artifacts are battle tested that they can be packaged as subscription service</a:t>
            </a:r>
          </a:p>
          <a:p>
            <a:r>
              <a:rPr lang="en-CA" sz="2000" dirty="0"/>
              <a:t>This will also allow MCP servers to “settle” with increased reliability</a:t>
            </a:r>
          </a:p>
          <a:p>
            <a:r>
              <a:rPr lang="en-CA" sz="2000" dirty="0"/>
              <a:t>It will take time (and experts) to construct archetypes</a:t>
            </a:r>
          </a:p>
          <a:p>
            <a:r>
              <a:rPr lang="en-CA" sz="2000" dirty="0"/>
              <a:t>Ability to generate revenue while building/testing artifacts and the MCP server </a:t>
            </a:r>
          </a:p>
          <a:p>
            <a:r>
              <a:rPr lang="en-CA" sz="2000" dirty="0"/>
              <a:t>Beta/reference clients - Beta clients will get a life-time subscription once ready to go?</a:t>
            </a:r>
          </a:p>
          <a:p>
            <a:r>
              <a:rPr lang="en-CA" sz="2000" dirty="0"/>
              <a:t>Is it better to get the process right, then just use it as Adam suggested and go after the business of building solutions?  For example, arm a team of consultants with the technology and know-how and just have them focusing on modernizing existing apps?</a:t>
            </a:r>
          </a:p>
          <a:p>
            <a:endParaRPr lang="en-CA" sz="2000" dirty="0"/>
          </a:p>
        </p:txBody>
      </p:sp>
      <p:sp>
        <p:nvSpPr>
          <p:cNvPr id="32" name="Freeform: Shape 31">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293233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9222</TotalTime>
  <Words>1380</Words>
  <Application>Microsoft Office PowerPoint</Application>
  <PresentationFormat>Widescreen</PresentationFormat>
  <Paragraphs>124</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A2D</vt:lpstr>
      <vt:lpstr>A2D is not vibe coding</vt:lpstr>
      <vt:lpstr>A2D is not vibe coding</vt:lpstr>
      <vt:lpstr>Demo Time</vt:lpstr>
      <vt:lpstr>PowerPoint Presentation</vt:lpstr>
      <vt:lpstr>PowerPoint Presentation</vt:lpstr>
      <vt:lpstr>Component Definition</vt:lpstr>
      <vt:lpstr>Hiding the IP</vt:lpstr>
      <vt:lpstr>Proposed Architecture</vt:lpstr>
      <vt:lpstr>Workflows</vt:lpstr>
      <vt:lpstr>Planning Workflow</vt:lpstr>
      <vt:lpstr>Suggestion Workflow</vt:lpstr>
      <vt:lpstr>User Interface Design Workflow (future)</vt:lpstr>
      <vt:lpstr>Solution Design and Analysis Workflow</vt:lpstr>
      <vt:lpstr>Implement Workflow</vt:lpstr>
      <vt:lpstr>Deployment Workflow</vt:lpstr>
      <vt:lpstr>Workflow Status</vt:lpstr>
      <vt:lpstr>Methodology Definition</vt:lpstr>
      <vt:lpstr>The human</vt:lpstr>
      <vt:lpstr>Risks</vt:lpstr>
      <vt:lpstr>Phased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Judd</dc:creator>
  <cp:lastModifiedBy>David Judd</cp:lastModifiedBy>
  <cp:revision>19</cp:revision>
  <cp:lastPrinted>2025-11-11T22:17:21Z</cp:lastPrinted>
  <dcterms:created xsi:type="dcterms:W3CDTF">2025-11-11T17:03:46Z</dcterms:created>
  <dcterms:modified xsi:type="dcterms:W3CDTF">2025-11-19T05:05:51Z</dcterms:modified>
</cp:coreProperties>
</file>